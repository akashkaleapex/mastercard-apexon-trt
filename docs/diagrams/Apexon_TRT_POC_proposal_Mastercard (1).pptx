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29"/>
  </p:notesMasterIdLst>
  <p:sldIdLst>
    <p:sldId id="300" r:id="rId6"/>
    <p:sldId id="316" r:id="rId7"/>
    <p:sldId id="315" r:id="rId8"/>
    <p:sldId id="311" r:id="rId9"/>
    <p:sldId id="313" r:id="rId10"/>
    <p:sldId id="307" r:id="rId11"/>
    <p:sldId id="308" r:id="rId12"/>
    <p:sldId id="309" r:id="rId13"/>
    <p:sldId id="317" r:id="rId14"/>
    <p:sldId id="318" r:id="rId15"/>
    <p:sldId id="319" r:id="rId16"/>
    <p:sldId id="320" r:id="rId17"/>
    <p:sldId id="261" r:id="rId18"/>
    <p:sldId id="314" r:id="rId19"/>
    <p:sldId id="323" r:id="rId20"/>
    <p:sldId id="324" r:id="rId21"/>
    <p:sldId id="260" r:id="rId22"/>
    <p:sldId id="258" r:id="rId23"/>
    <p:sldId id="325" r:id="rId24"/>
    <p:sldId id="304" r:id="rId25"/>
    <p:sldId id="302" r:id="rId26"/>
    <p:sldId id="303" r:id="rId27"/>
    <p:sldId id="30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1AC478-2F6E-48DD-AACA-C0E614352D57}" v="14" dt="2026-09-02T11:52:24.732"/>
    <p1510:client id="{FC8E9D47-C9FD-4B7A-C9C3-61478127C1CD}" v="49" dt="2026-09-01T16:38:59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8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9617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Guidelines Start Here…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5A18CA-AD4C-47E9-89C0-1185FB7B0D9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759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44C38-8259-3282-9160-535748E60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D3EF5-4639-C9F3-9DB3-478D25669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551E1C-EDD1-9F10-21C3-FBC8F1A0C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11D8C-9DD2-29E5-A9D9-B0AAA931C3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84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FDC97-C2B4-DAA3-A5B1-CB7C6330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07DC2-99F6-E3E8-A1E1-B5A3ABDD6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37794C-DB69-6785-C2C5-B0B64EFE8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A9781-BD8A-FC83-0C50-8EA2DD258C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84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830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21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68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58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2FFC2-C617-BF59-0D20-E7AF9E0D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55E40-6BDF-2E18-D91A-F7AB4EA7A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327EA-5511-B910-9326-22D31B3A96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7CD25C-CD20-C80E-DF75-79EC31817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75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D96BB-1287-9E8D-174E-200B2AEC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893B6-A571-82E5-CDDE-2B5772CCD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91162-A5D5-A930-7454-7A53D746A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1D6FC-9816-8246-2607-933F597FF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555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70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D96BB-1287-9E8D-174E-200B2AEC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893B6-A571-82E5-CDDE-2B5772CCD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91162-A5D5-A930-7454-7A53D746A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1D6FC-9816-8246-2607-933F597FF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97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D96BB-1287-9E8D-174E-200B2AEC9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893B6-A571-82E5-CDDE-2B5772CCD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91162-A5D5-A930-7454-7A53D746A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1D6FC-9816-8246-2607-933F597FF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349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6854-A092-11D6-806B-1DEFCC39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EBFA5F-693F-AAEA-E3C2-DE4FF55AC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EA450-47D4-2725-5442-F94AFB983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C710E-4E81-D130-C10D-E26F7389F5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47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6ABDD-8262-7C53-2CE7-261A1CEE6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F633D-B5B1-B217-B143-EA10AB2EA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F2A44-9632-FCE0-58E5-EF5227E5B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DA9E6-C266-5928-2D6D-06E39E7667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136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44FE-66AC-1F24-2110-F2B9F5F6C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49A71-40B9-901A-AFFD-A2DE79F27D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12BF5-136C-EFBF-7F49-3BE18C525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43485-DACD-C0FC-B151-6D630EEBFB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52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7C82-BC29-744C-E63D-20CF70A2D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17969F-F5F5-6E27-A1E1-1ECA4C3E5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7DA2A-C721-7057-16F3-68E7BEC36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Guidelines Start Here…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F6750-AA6B-4AB5-6A21-15CBA1B63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5A18CA-AD4C-47E9-89C0-1185FB7B0D9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963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option 1 dark background">
    <p:bg>
      <p:bgPr>
        <a:gradFill>
          <a:gsLst>
            <a:gs pos="32000">
              <a:schemeClr val="bg1"/>
            </a:gs>
            <a:gs pos="0">
              <a:schemeClr val="bg1"/>
            </a:gs>
            <a:gs pos="73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EE4B260-E013-B082-D180-08B7537DBFF8}"/>
              </a:ext>
            </a:extLst>
          </p:cNvPr>
          <p:cNvSpPr/>
          <p:nvPr userDrawn="1"/>
        </p:nvSpPr>
        <p:spPr>
          <a:xfrm>
            <a:off x="-16184" y="0"/>
            <a:ext cx="12208184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triangle shaped snow covered mountain&#10;&#10;AI-generated content may be incorrect.">
            <a:extLst>
              <a:ext uri="{FF2B5EF4-FFF2-40B4-BE49-F238E27FC236}">
                <a16:creationId xmlns:a16="http://schemas.microsoft.com/office/drawing/2014/main" id="{25F29424-C2AB-B8B0-1965-FC0457BBA6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4934" y="870858"/>
            <a:ext cx="7772400" cy="5987142"/>
          </a:xfrm>
          <a:prstGeom prst="rect">
            <a:avLst/>
          </a:prstGeom>
        </p:spPr>
      </p:pic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4FA5EC2-96F0-1AF5-30EC-35C0354CCF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131" y="2093945"/>
            <a:ext cx="1829539" cy="504072"/>
          </a:xfrm>
          <a:prstGeom prst="rect">
            <a:avLst/>
          </a:prstGeom>
        </p:spPr>
      </p:pic>
      <p:sp>
        <p:nvSpPr>
          <p:cNvPr id="16" name="Presentation Title">
            <a:extLst>
              <a:ext uri="{FF2B5EF4-FFF2-40B4-BE49-F238E27FC236}">
                <a16:creationId xmlns:a16="http://schemas.microsoft.com/office/drawing/2014/main" id="{4084C35D-77B9-6A8C-FB29-A881F5F41F48}"/>
              </a:ext>
            </a:extLst>
          </p:cNvPr>
          <p:cNvSpPr txBox="1">
            <a:spLocks/>
          </p:cNvSpPr>
          <p:nvPr userDrawn="1"/>
        </p:nvSpPr>
        <p:spPr>
          <a:xfrm>
            <a:off x="739391" y="2453592"/>
            <a:ext cx="6237514" cy="190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800" cap="none" spc="0" baseline="0">
                <a:solidFill>
                  <a:srgbClr val="15243F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 sz="5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econdary Information">
            <a:extLst>
              <a:ext uri="{FF2B5EF4-FFF2-40B4-BE49-F238E27FC236}">
                <a16:creationId xmlns:a16="http://schemas.microsoft.com/office/drawing/2014/main" id="{80E15058-1F07-701F-96FA-2D1DA6AC1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5" y="4357992"/>
            <a:ext cx="5147072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kern="800" cap="none" spc="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AE"/>
          </a:p>
        </p:txBody>
      </p:sp>
      <p:sp>
        <p:nvSpPr>
          <p:cNvPr id="17" name="Presentation Title">
            <a:extLst>
              <a:ext uri="{FF2B5EF4-FFF2-40B4-BE49-F238E27FC236}">
                <a16:creationId xmlns:a16="http://schemas.microsoft.com/office/drawing/2014/main" id="{F0535C3D-0461-3F8D-A682-76886BDCE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367639"/>
            <a:ext cx="5147071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5500" b="1" kern="800" cap="none" spc="0" baseline="0">
                <a:solidFill>
                  <a:schemeClr val="bg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1220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opt 1 light background">
    <p:bg>
      <p:bgPr>
        <a:gradFill>
          <a:gsLst>
            <a:gs pos="32000">
              <a:schemeClr val="bg1"/>
            </a:gs>
            <a:gs pos="0">
              <a:schemeClr val="bg1"/>
            </a:gs>
            <a:gs pos="73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triangle shaped snow covered mountain&#10;&#10;AI-generated content may be incorrect.">
            <a:extLst>
              <a:ext uri="{FF2B5EF4-FFF2-40B4-BE49-F238E27FC236}">
                <a16:creationId xmlns:a16="http://schemas.microsoft.com/office/drawing/2014/main" id="{25F29424-C2AB-B8B0-1965-FC0457BBA6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4934" y="870858"/>
            <a:ext cx="7772400" cy="5987142"/>
          </a:xfrm>
          <a:prstGeom prst="rect">
            <a:avLst/>
          </a:prstGeom>
        </p:spPr>
      </p:pic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4FA5EC2-96F0-1AF5-30EC-35C0354CCF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6478" y="2067678"/>
            <a:ext cx="1829539" cy="504072"/>
          </a:xfrm>
          <a:prstGeom prst="rect">
            <a:avLst/>
          </a:prstGeom>
        </p:spPr>
      </p:pic>
      <p:sp>
        <p:nvSpPr>
          <p:cNvPr id="16" name="Presentation Title">
            <a:extLst>
              <a:ext uri="{FF2B5EF4-FFF2-40B4-BE49-F238E27FC236}">
                <a16:creationId xmlns:a16="http://schemas.microsoft.com/office/drawing/2014/main" id="{4084C35D-77B9-6A8C-FB29-A881F5F41F48}"/>
              </a:ext>
            </a:extLst>
          </p:cNvPr>
          <p:cNvSpPr txBox="1">
            <a:spLocks/>
          </p:cNvSpPr>
          <p:nvPr userDrawn="1"/>
        </p:nvSpPr>
        <p:spPr>
          <a:xfrm>
            <a:off x="739391" y="2453592"/>
            <a:ext cx="6237514" cy="190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800" cap="none" spc="0" baseline="0">
                <a:solidFill>
                  <a:srgbClr val="15243F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 sz="5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2549304-941D-41AC-36CE-F780FF7BC3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4463" y="2077726"/>
            <a:ext cx="1829540" cy="504072"/>
          </a:xfrm>
          <a:prstGeom prst="rect">
            <a:avLst/>
          </a:prstGeom>
        </p:spPr>
      </p:pic>
      <p:sp>
        <p:nvSpPr>
          <p:cNvPr id="2" name="Secondary Information">
            <a:extLst>
              <a:ext uri="{FF2B5EF4-FFF2-40B4-BE49-F238E27FC236}">
                <a16:creationId xmlns:a16="http://schemas.microsoft.com/office/drawing/2014/main" id="{2D8F504B-A6F0-DBA5-D47C-270ACD86D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5" y="4357992"/>
            <a:ext cx="5147072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kern="800" cap="none" spc="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AE"/>
          </a:p>
        </p:txBody>
      </p:sp>
      <p:sp>
        <p:nvSpPr>
          <p:cNvPr id="4" name="Presentation Title">
            <a:extLst>
              <a:ext uri="{FF2B5EF4-FFF2-40B4-BE49-F238E27FC236}">
                <a16:creationId xmlns:a16="http://schemas.microsoft.com/office/drawing/2014/main" id="{AF3236C2-3DFB-69CC-77BC-85C869F4F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367639"/>
            <a:ext cx="5147071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5500" b="1" kern="800" cap="none" spc="0" baseline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54539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for partner option 1 dark background">
    <p:bg>
      <p:bgPr>
        <a:gradFill>
          <a:gsLst>
            <a:gs pos="32000">
              <a:schemeClr val="bg1"/>
            </a:gs>
            <a:gs pos="0">
              <a:schemeClr val="bg1"/>
            </a:gs>
            <a:gs pos="73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EE4B260-E013-B082-D180-08B7537DBFF8}"/>
              </a:ext>
            </a:extLst>
          </p:cNvPr>
          <p:cNvSpPr/>
          <p:nvPr userDrawn="1"/>
        </p:nvSpPr>
        <p:spPr>
          <a:xfrm>
            <a:off x="-16184" y="0"/>
            <a:ext cx="12208184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triangle shaped snow covered mountain&#10;&#10;AI-generated content may be incorrect.">
            <a:extLst>
              <a:ext uri="{FF2B5EF4-FFF2-40B4-BE49-F238E27FC236}">
                <a16:creationId xmlns:a16="http://schemas.microsoft.com/office/drawing/2014/main" id="{25F29424-C2AB-B8B0-1965-FC0457BBA6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4934" y="870858"/>
            <a:ext cx="7772400" cy="5987142"/>
          </a:xfrm>
          <a:prstGeom prst="rect">
            <a:avLst/>
          </a:prstGeom>
        </p:spPr>
      </p:pic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4FA5EC2-96F0-1AF5-30EC-35C0354CCF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131" y="2093945"/>
            <a:ext cx="1829539" cy="504072"/>
          </a:xfrm>
          <a:prstGeom prst="rect">
            <a:avLst/>
          </a:prstGeom>
        </p:spPr>
      </p:pic>
      <p:sp>
        <p:nvSpPr>
          <p:cNvPr id="16" name="Presentation Title">
            <a:extLst>
              <a:ext uri="{FF2B5EF4-FFF2-40B4-BE49-F238E27FC236}">
                <a16:creationId xmlns:a16="http://schemas.microsoft.com/office/drawing/2014/main" id="{4084C35D-77B9-6A8C-FB29-A881F5F41F48}"/>
              </a:ext>
            </a:extLst>
          </p:cNvPr>
          <p:cNvSpPr txBox="1">
            <a:spLocks/>
          </p:cNvSpPr>
          <p:nvPr userDrawn="1"/>
        </p:nvSpPr>
        <p:spPr>
          <a:xfrm>
            <a:off x="739391" y="2453592"/>
            <a:ext cx="6237514" cy="190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800" cap="none" spc="0" baseline="0">
                <a:solidFill>
                  <a:srgbClr val="15243F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 sz="5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econdary Information">
            <a:extLst>
              <a:ext uri="{FF2B5EF4-FFF2-40B4-BE49-F238E27FC236}">
                <a16:creationId xmlns:a16="http://schemas.microsoft.com/office/drawing/2014/main" id="{80E15058-1F07-701F-96FA-2D1DA6AC1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5" y="4357992"/>
            <a:ext cx="5147072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kern="800" cap="none" spc="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AE"/>
          </a:p>
        </p:txBody>
      </p:sp>
      <p:sp>
        <p:nvSpPr>
          <p:cNvPr id="17" name="Presentation Title">
            <a:extLst>
              <a:ext uri="{FF2B5EF4-FFF2-40B4-BE49-F238E27FC236}">
                <a16:creationId xmlns:a16="http://schemas.microsoft.com/office/drawing/2014/main" id="{F0535C3D-0461-3F8D-A682-76886BDCE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367639"/>
            <a:ext cx="5147071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5500" b="1" kern="800" cap="none" spc="0" baseline="0">
                <a:solidFill>
                  <a:schemeClr val="bg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480EC68D-DCF3-3F2B-1D44-BE9C5561F6C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624199" y="2041234"/>
            <a:ext cx="1734966" cy="566857"/>
          </a:xfrm>
        </p:spPr>
        <p:txBody>
          <a:bodyPr anchor="ctr">
            <a:no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logo here</a:t>
            </a:r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DD4B34-9F2D-458F-2AED-4DFC7EC640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356677" y="2142010"/>
            <a:ext cx="0" cy="40794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828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for partner option 1 light ">
    <p:bg>
      <p:bgPr>
        <a:gradFill>
          <a:gsLst>
            <a:gs pos="32000">
              <a:schemeClr val="bg1"/>
            </a:gs>
            <a:gs pos="0">
              <a:schemeClr val="bg1"/>
            </a:gs>
            <a:gs pos="73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triangle shaped snow covered mountain&#10;&#10;AI-generated content may be incorrect.">
            <a:extLst>
              <a:ext uri="{FF2B5EF4-FFF2-40B4-BE49-F238E27FC236}">
                <a16:creationId xmlns:a16="http://schemas.microsoft.com/office/drawing/2014/main" id="{25F29424-C2AB-B8B0-1965-FC0457BBA6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4934" y="870858"/>
            <a:ext cx="7772400" cy="5987142"/>
          </a:xfrm>
          <a:prstGeom prst="rect">
            <a:avLst/>
          </a:prstGeom>
        </p:spPr>
      </p:pic>
      <p:pic>
        <p:nvPicPr>
          <p:cNvPr id="15" name="Picture 14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54FA5EC2-96F0-1AF5-30EC-35C0354CCF7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6478" y="2067678"/>
            <a:ext cx="1829539" cy="504072"/>
          </a:xfrm>
          <a:prstGeom prst="rect">
            <a:avLst/>
          </a:prstGeom>
        </p:spPr>
      </p:pic>
      <p:sp>
        <p:nvSpPr>
          <p:cNvPr id="16" name="Presentation Title">
            <a:extLst>
              <a:ext uri="{FF2B5EF4-FFF2-40B4-BE49-F238E27FC236}">
                <a16:creationId xmlns:a16="http://schemas.microsoft.com/office/drawing/2014/main" id="{4084C35D-77B9-6A8C-FB29-A881F5F41F48}"/>
              </a:ext>
            </a:extLst>
          </p:cNvPr>
          <p:cNvSpPr txBox="1">
            <a:spLocks/>
          </p:cNvSpPr>
          <p:nvPr userDrawn="1"/>
        </p:nvSpPr>
        <p:spPr>
          <a:xfrm>
            <a:off x="739391" y="2453592"/>
            <a:ext cx="6237514" cy="190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800" cap="none" spc="0" baseline="0">
                <a:solidFill>
                  <a:srgbClr val="15243F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 sz="5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72549304-941D-41AC-36CE-F780FF7BC32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4463" y="2077726"/>
            <a:ext cx="1829540" cy="504072"/>
          </a:xfrm>
          <a:prstGeom prst="rect">
            <a:avLst/>
          </a:prstGeom>
        </p:spPr>
      </p:pic>
      <p:sp>
        <p:nvSpPr>
          <p:cNvPr id="2" name="Secondary Information">
            <a:extLst>
              <a:ext uri="{FF2B5EF4-FFF2-40B4-BE49-F238E27FC236}">
                <a16:creationId xmlns:a16="http://schemas.microsoft.com/office/drawing/2014/main" id="{2D8F504B-A6F0-DBA5-D47C-270ACD86D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5" y="4357992"/>
            <a:ext cx="5147072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kern="800" cap="none" spc="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AE"/>
          </a:p>
        </p:txBody>
      </p:sp>
      <p:sp>
        <p:nvSpPr>
          <p:cNvPr id="4" name="Presentation Title">
            <a:extLst>
              <a:ext uri="{FF2B5EF4-FFF2-40B4-BE49-F238E27FC236}">
                <a16:creationId xmlns:a16="http://schemas.microsoft.com/office/drawing/2014/main" id="{AF3236C2-3DFB-69CC-77BC-85C869F4F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367639"/>
            <a:ext cx="5147071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5500" b="1" kern="800" cap="none" spc="0" baseline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B3995D95-C9D8-F8BD-7E9E-85ED955C05B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624199" y="2041234"/>
            <a:ext cx="1734966" cy="566857"/>
          </a:xfrm>
        </p:spPr>
        <p:txBody>
          <a:bodyPr anchor="ctr">
            <a:noAutofit/>
          </a:bodyPr>
          <a:lstStyle>
            <a:lvl1pPr marL="0" indent="0" algn="ctr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logo here</a:t>
            </a:r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EBCC5F-9CC3-5736-05A1-435CE1E0FEC5}"/>
              </a:ext>
            </a:extLst>
          </p:cNvPr>
          <p:cNvCxnSpPr>
            <a:cxnSpLocks/>
          </p:cNvCxnSpPr>
          <p:nvPr userDrawn="1"/>
        </p:nvCxnSpPr>
        <p:spPr>
          <a:xfrm flipV="1">
            <a:off x="3356677" y="2142010"/>
            <a:ext cx="0" cy="40794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22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option 2 dark ">
    <p:bg>
      <p:bgPr>
        <a:gradFill>
          <a:gsLst>
            <a:gs pos="32000">
              <a:schemeClr val="bg1"/>
            </a:gs>
            <a:gs pos="0">
              <a:schemeClr val="bg1"/>
            </a:gs>
            <a:gs pos="73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esentation Title">
            <a:extLst>
              <a:ext uri="{FF2B5EF4-FFF2-40B4-BE49-F238E27FC236}">
                <a16:creationId xmlns:a16="http://schemas.microsoft.com/office/drawing/2014/main" id="{4084C35D-77B9-6A8C-FB29-A881F5F41F48}"/>
              </a:ext>
            </a:extLst>
          </p:cNvPr>
          <p:cNvSpPr txBox="1">
            <a:spLocks/>
          </p:cNvSpPr>
          <p:nvPr userDrawn="1"/>
        </p:nvSpPr>
        <p:spPr>
          <a:xfrm>
            <a:off x="739391" y="2453592"/>
            <a:ext cx="6237514" cy="190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800" cap="none" spc="0" baseline="0">
                <a:solidFill>
                  <a:srgbClr val="15243F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 sz="5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8852CF-F858-99EB-9117-76DEFB9B37AA}"/>
              </a:ext>
            </a:extLst>
          </p:cNvPr>
          <p:cNvGrpSpPr/>
          <p:nvPr userDrawn="1"/>
        </p:nvGrpSpPr>
        <p:grpSpPr>
          <a:xfrm>
            <a:off x="0" y="0"/>
            <a:ext cx="12192000" cy="6888800"/>
            <a:chOff x="0" y="0"/>
            <a:chExt cx="12192000" cy="6888800"/>
          </a:xfrm>
        </p:grpSpPr>
        <p:pic>
          <p:nvPicPr>
            <p:cNvPr id="4" name="Picture 3" descr="A logo with snow on top of a mountain&#10;&#10;AI-generated content may be incorrect.">
              <a:extLst>
                <a:ext uri="{FF2B5EF4-FFF2-40B4-BE49-F238E27FC236}">
                  <a16:creationId xmlns:a16="http://schemas.microsoft.com/office/drawing/2014/main" id="{85B0BFEB-9D48-47A3-C60B-46C85E56C3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7423" y="0"/>
              <a:ext cx="10834577" cy="68888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1CC422-3CFD-8423-F90D-83210C92DCE9}"/>
                </a:ext>
              </a:extLst>
            </p:cNvPr>
            <p:cNvSpPr/>
            <p:nvPr userDrawn="1"/>
          </p:nvSpPr>
          <p:spPr>
            <a:xfrm>
              <a:off x="0" y="0"/>
              <a:ext cx="1392865" cy="68888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791A107-C20E-80F1-AA45-ED4E2DC0C3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131" y="2093945"/>
            <a:ext cx="1829539" cy="504072"/>
          </a:xfrm>
          <a:prstGeom prst="rect">
            <a:avLst/>
          </a:prstGeom>
        </p:spPr>
      </p:pic>
      <p:sp>
        <p:nvSpPr>
          <p:cNvPr id="7" name="Secondary Information">
            <a:extLst>
              <a:ext uri="{FF2B5EF4-FFF2-40B4-BE49-F238E27FC236}">
                <a16:creationId xmlns:a16="http://schemas.microsoft.com/office/drawing/2014/main" id="{9D443DA1-75EF-CD56-023A-FAED69D79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5" y="4357992"/>
            <a:ext cx="5147072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kern="800" cap="none" spc="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AE"/>
          </a:p>
        </p:txBody>
      </p:sp>
      <p:sp>
        <p:nvSpPr>
          <p:cNvPr id="8" name="Presentation Title">
            <a:extLst>
              <a:ext uri="{FF2B5EF4-FFF2-40B4-BE49-F238E27FC236}">
                <a16:creationId xmlns:a16="http://schemas.microsoft.com/office/drawing/2014/main" id="{6256A2FB-E7EF-0E80-5D9C-29018BA04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367639"/>
            <a:ext cx="5147071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5500" b="1" kern="800" cap="none" spc="0" baseline="0">
                <a:solidFill>
                  <a:schemeClr val="bg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29586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option 2 light">
    <p:bg>
      <p:bgPr>
        <a:gradFill>
          <a:gsLst>
            <a:gs pos="32000">
              <a:schemeClr val="bg1"/>
            </a:gs>
            <a:gs pos="0">
              <a:schemeClr val="bg1"/>
            </a:gs>
            <a:gs pos="73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C60C6FC-1E58-B8E6-9A0B-DEBF61CF754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Picture 6" descr="A mountain range with a sunset behind it&#10;&#10;AI-generated content may be incorrect.">
              <a:extLst>
                <a:ext uri="{FF2B5EF4-FFF2-40B4-BE49-F238E27FC236}">
                  <a16:creationId xmlns:a16="http://schemas.microsoft.com/office/drawing/2014/main" id="{AAF756A6-4C91-48DD-4E7C-4285C53F6F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0586" y="1"/>
              <a:ext cx="10771414" cy="684864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B2C1F0-FEB0-D18B-30A5-A1175B698CE0}"/>
                </a:ext>
              </a:extLst>
            </p:cNvPr>
            <p:cNvSpPr/>
            <p:nvPr userDrawn="1"/>
          </p:nvSpPr>
          <p:spPr>
            <a:xfrm>
              <a:off x="0" y="0"/>
              <a:ext cx="1583871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resentation Title">
            <a:extLst>
              <a:ext uri="{FF2B5EF4-FFF2-40B4-BE49-F238E27FC236}">
                <a16:creationId xmlns:a16="http://schemas.microsoft.com/office/drawing/2014/main" id="{4084C35D-77B9-6A8C-FB29-A881F5F41F48}"/>
              </a:ext>
            </a:extLst>
          </p:cNvPr>
          <p:cNvSpPr txBox="1">
            <a:spLocks/>
          </p:cNvSpPr>
          <p:nvPr userDrawn="1"/>
        </p:nvSpPr>
        <p:spPr>
          <a:xfrm>
            <a:off x="739391" y="2453592"/>
            <a:ext cx="6237514" cy="190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800" cap="none" spc="0" baseline="0">
                <a:solidFill>
                  <a:srgbClr val="15243F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 sz="5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7D2BAFF-A0A1-F479-346C-F606B6A8C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4463" y="2077726"/>
            <a:ext cx="1829540" cy="504072"/>
          </a:xfrm>
          <a:prstGeom prst="rect">
            <a:avLst/>
          </a:prstGeom>
        </p:spPr>
      </p:pic>
      <p:sp>
        <p:nvSpPr>
          <p:cNvPr id="4" name="Secondary Information">
            <a:extLst>
              <a:ext uri="{FF2B5EF4-FFF2-40B4-BE49-F238E27FC236}">
                <a16:creationId xmlns:a16="http://schemas.microsoft.com/office/drawing/2014/main" id="{95C3354B-2DA0-C0A5-7176-C2711F29E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5" y="4357992"/>
            <a:ext cx="5147072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kern="800" cap="none" spc="0" baseline="0">
                <a:solidFill>
                  <a:srgbClr val="75A2ED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AE"/>
          </a:p>
        </p:txBody>
      </p:sp>
      <p:sp>
        <p:nvSpPr>
          <p:cNvPr id="10" name="Presentation Title">
            <a:extLst>
              <a:ext uri="{FF2B5EF4-FFF2-40B4-BE49-F238E27FC236}">
                <a16:creationId xmlns:a16="http://schemas.microsoft.com/office/drawing/2014/main" id="{E307BDB7-CA6C-19C2-42AA-226A4F3B4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367639"/>
            <a:ext cx="5147071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5500" b="1" kern="800" cap="none" spc="0" baseline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9646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partner option 2 dark ">
    <p:bg>
      <p:bgPr>
        <a:gradFill>
          <a:gsLst>
            <a:gs pos="32000">
              <a:schemeClr val="bg1"/>
            </a:gs>
            <a:gs pos="0">
              <a:schemeClr val="bg1"/>
            </a:gs>
            <a:gs pos="73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resentation Title">
            <a:extLst>
              <a:ext uri="{FF2B5EF4-FFF2-40B4-BE49-F238E27FC236}">
                <a16:creationId xmlns:a16="http://schemas.microsoft.com/office/drawing/2014/main" id="{4084C35D-77B9-6A8C-FB29-A881F5F41F48}"/>
              </a:ext>
            </a:extLst>
          </p:cNvPr>
          <p:cNvSpPr txBox="1">
            <a:spLocks/>
          </p:cNvSpPr>
          <p:nvPr userDrawn="1"/>
        </p:nvSpPr>
        <p:spPr>
          <a:xfrm>
            <a:off x="739391" y="2453592"/>
            <a:ext cx="6237514" cy="190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800" cap="none" spc="0" baseline="0">
                <a:solidFill>
                  <a:srgbClr val="15243F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 sz="5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8852CF-F858-99EB-9117-76DEFB9B37AA}"/>
              </a:ext>
            </a:extLst>
          </p:cNvPr>
          <p:cNvGrpSpPr/>
          <p:nvPr userDrawn="1"/>
        </p:nvGrpSpPr>
        <p:grpSpPr>
          <a:xfrm>
            <a:off x="0" y="0"/>
            <a:ext cx="12192000" cy="6888800"/>
            <a:chOff x="0" y="0"/>
            <a:chExt cx="12192000" cy="6888800"/>
          </a:xfrm>
        </p:grpSpPr>
        <p:pic>
          <p:nvPicPr>
            <p:cNvPr id="4" name="Picture 3" descr="A logo with snow on top of a mountain&#10;&#10;AI-generated content may be incorrect.">
              <a:extLst>
                <a:ext uri="{FF2B5EF4-FFF2-40B4-BE49-F238E27FC236}">
                  <a16:creationId xmlns:a16="http://schemas.microsoft.com/office/drawing/2014/main" id="{85B0BFEB-9D48-47A3-C60B-46C85E56C3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57423" y="0"/>
              <a:ext cx="10834577" cy="68888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1CC422-3CFD-8423-F90D-83210C92DCE9}"/>
                </a:ext>
              </a:extLst>
            </p:cNvPr>
            <p:cNvSpPr/>
            <p:nvPr userDrawn="1"/>
          </p:nvSpPr>
          <p:spPr>
            <a:xfrm>
              <a:off x="0" y="0"/>
              <a:ext cx="1392865" cy="68888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4791A107-C20E-80F1-AA45-ED4E2DC0C3C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4131" y="2093945"/>
            <a:ext cx="1829539" cy="504072"/>
          </a:xfrm>
          <a:prstGeom prst="rect">
            <a:avLst/>
          </a:prstGeom>
        </p:spPr>
      </p:pic>
      <p:sp>
        <p:nvSpPr>
          <p:cNvPr id="7" name="Secondary Information">
            <a:extLst>
              <a:ext uri="{FF2B5EF4-FFF2-40B4-BE49-F238E27FC236}">
                <a16:creationId xmlns:a16="http://schemas.microsoft.com/office/drawing/2014/main" id="{9D443DA1-75EF-CD56-023A-FAED69D79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5" y="4357992"/>
            <a:ext cx="5147072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kern="800" cap="none" spc="0" baseline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AE"/>
          </a:p>
        </p:txBody>
      </p:sp>
      <p:sp>
        <p:nvSpPr>
          <p:cNvPr id="8" name="Presentation Title">
            <a:extLst>
              <a:ext uri="{FF2B5EF4-FFF2-40B4-BE49-F238E27FC236}">
                <a16:creationId xmlns:a16="http://schemas.microsoft.com/office/drawing/2014/main" id="{6256A2FB-E7EF-0E80-5D9C-29018BA04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367639"/>
            <a:ext cx="5147071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5500" b="1" kern="800" cap="none" spc="0" baseline="0">
                <a:solidFill>
                  <a:schemeClr val="bg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265FAC7C-E8CD-B43C-7CF8-C067EA5284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624199" y="2041234"/>
            <a:ext cx="1734966" cy="566857"/>
          </a:xfrm>
        </p:spPr>
        <p:txBody>
          <a:bodyPr anchor="ctr">
            <a:no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logo here</a:t>
            </a:r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5A552D-F07B-F545-CAB5-F26CB5B60AB0}"/>
              </a:ext>
            </a:extLst>
          </p:cNvPr>
          <p:cNvCxnSpPr>
            <a:cxnSpLocks/>
          </p:cNvCxnSpPr>
          <p:nvPr userDrawn="1"/>
        </p:nvCxnSpPr>
        <p:spPr>
          <a:xfrm flipV="1">
            <a:off x="3356677" y="2142010"/>
            <a:ext cx="0" cy="407941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42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partner option 2 light">
    <p:bg>
      <p:bgPr>
        <a:gradFill>
          <a:gsLst>
            <a:gs pos="32000">
              <a:schemeClr val="bg1"/>
            </a:gs>
            <a:gs pos="0">
              <a:schemeClr val="bg1"/>
            </a:gs>
            <a:gs pos="73000">
              <a:schemeClr val="bg1"/>
            </a:gs>
            <a:gs pos="83000">
              <a:schemeClr val="bg1"/>
            </a:gs>
            <a:gs pos="100000">
              <a:schemeClr val="bg1"/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C60C6FC-1E58-B8E6-9A0B-DEBF61CF754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Picture 6" descr="A mountain range with a sunset behind it&#10;&#10;AI-generated content may be incorrect.">
              <a:extLst>
                <a:ext uri="{FF2B5EF4-FFF2-40B4-BE49-F238E27FC236}">
                  <a16:creationId xmlns:a16="http://schemas.microsoft.com/office/drawing/2014/main" id="{AAF756A6-4C91-48DD-4E7C-4285C53F6F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0586" y="1"/>
              <a:ext cx="10771414" cy="684864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0B2C1F0-FEB0-D18B-30A5-A1175B698CE0}"/>
                </a:ext>
              </a:extLst>
            </p:cNvPr>
            <p:cNvSpPr/>
            <p:nvPr userDrawn="1"/>
          </p:nvSpPr>
          <p:spPr>
            <a:xfrm>
              <a:off x="0" y="0"/>
              <a:ext cx="1583871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resentation Title">
            <a:extLst>
              <a:ext uri="{FF2B5EF4-FFF2-40B4-BE49-F238E27FC236}">
                <a16:creationId xmlns:a16="http://schemas.microsoft.com/office/drawing/2014/main" id="{4084C35D-77B9-6A8C-FB29-A881F5F41F48}"/>
              </a:ext>
            </a:extLst>
          </p:cNvPr>
          <p:cNvSpPr txBox="1">
            <a:spLocks/>
          </p:cNvSpPr>
          <p:nvPr userDrawn="1"/>
        </p:nvSpPr>
        <p:spPr>
          <a:xfrm>
            <a:off x="739391" y="2453592"/>
            <a:ext cx="6237514" cy="190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800" cap="none" spc="0" baseline="0">
                <a:solidFill>
                  <a:srgbClr val="15243F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 sz="50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B7D2BAFF-A0A1-F479-346C-F606B6A8C1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4463" y="2077726"/>
            <a:ext cx="1829540" cy="504072"/>
          </a:xfrm>
          <a:prstGeom prst="rect">
            <a:avLst/>
          </a:prstGeom>
        </p:spPr>
      </p:pic>
      <p:sp>
        <p:nvSpPr>
          <p:cNvPr id="4" name="Secondary Information">
            <a:extLst>
              <a:ext uri="{FF2B5EF4-FFF2-40B4-BE49-F238E27FC236}">
                <a16:creationId xmlns:a16="http://schemas.microsoft.com/office/drawing/2014/main" id="{95C3354B-2DA0-C0A5-7176-C2711F29E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5" y="4357992"/>
            <a:ext cx="5147072" cy="763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1" kern="800" cap="none" spc="0" baseline="0">
                <a:solidFill>
                  <a:srgbClr val="75A2ED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AE"/>
          </a:p>
        </p:txBody>
      </p:sp>
      <p:sp>
        <p:nvSpPr>
          <p:cNvPr id="10" name="Presentation Title">
            <a:extLst>
              <a:ext uri="{FF2B5EF4-FFF2-40B4-BE49-F238E27FC236}">
                <a16:creationId xmlns:a16="http://schemas.microsoft.com/office/drawing/2014/main" id="{E307BDB7-CA6C-19C2-42AA-226A4F3B4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367639"/>
            <a:ext cx="5147071" cy="1904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5500" b="1" kern="800" cap="none" spc="0" baseline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</a:lstStyle>
          <a:p>
            <a:endParaRPr lang="en-AE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A8D31C3C-F174-B6A7-BC4F-52E94102C9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624199" y="2041234"/>
            <a:ext cx="1734966" cy="566857"/>
          </a:xfrm>
        </p:spPr>
        <p:txBody>
          <a:bodyPr anchor="ctr">
            <a:noAutofit/>
          </a:bodyPr>
          <a:lstStyle>
            <a:lvl1pPr marL="0" indent="0" algn="ctr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Insert logo here</a:t>
            </a:r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0AF2E5-F343-A732-F4BC-B9370237A0F7}"/>
              </a:ext>
            </a:extLst>
          </p:cNvPr>
          <p:cNvCxnSpPr>
            <a:cxnSpLocks/>
          </p:cNvCxnSpPr>
          <p:nvPr userDrawn="1"/>
        </p:nvCxnSpPr>
        <p:spPr>
          <a:xfrm flipV="1">
            <a:off x="3356677" y="2142010"/>
            <a:ext cx="0" cy="40794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03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lide dark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DC1EE-A1CC-D4A4-E21E-99FB56C3B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1747" y="2108308"/>
            <a:ext cx="9660666" cy="330675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500" b="1" spc="-50" baseline="0">
                <a:solidFill>
                  <a:schemeClr val="bg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400"/>
            </a:lvl2pPr>
            <a:lvl3pPr marL="1076325" indent="-161925">
              <a:buFont typeface="Arial" panose="020B0604020202020204" pitchFamily="34" charset="0"/>
              <a:buChar char="•"/>
              <a:defRPr sz="1200"/>
            </a:lvl3pPr>
            <a:lvl4pPr marL="1371600" indent="0">
              <a:buFont typeface="Arial" panose="020B0604020202020204" pitchFamily="34" charset="0"/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Summary slide (25pt)</a:t>
            </a:r>
          </a:p>
          <a:p>
            <a:pPr lvl="0"/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0666071-682E-A346-7B77-DDE9599561A2}"/>
              </a:ext>
            </a:extLst>
          </p:cNvPr>
          <p:cNvSpPr txBox="1">
            <a:spLocks/>
          </p:cNvSpPr>
          <p:nvPr userDrawn="1"/>
        </p:nvSpPr>
        <p:spPr>
          <a:xfrm>
            <a:off x="3737383" y="6527610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82439-C25B-3E4B-0799-4C8EB4C3C060}"/>
              </a:ext>
            </a:extLst>
          </p:cNvPr>
          <p:cNvSpPr txBox="1"/>
          <p:nvPr userDrawn="1"/>
        </p:nvSpPr>
        <p:spPr>
          <a:xfrm>
            <a:off x="188167" y="6431194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3AB95F-CF3E-29D7-A377-AFE3B1ECB5E9}"/>
              </a:ext>
            </a:extLst>
          </p:cNvPr>
          <p:cNvCxnSpPr>
            <a:cxnSpLocks/>
          </p:cNvCxnSpPr>
          <p:nvPr userDrawn="1"/>
        </p:nvCxnSpPr>
        <p:spPr>
          <a:xfrm flipV="1">
            <a:off x="3727422" y="6586319"/>
            <a:ext cx="0" cy="119028"/>
          </a:xfrm>
          <a:prstGeom prst="line">
            <a:avLst/>
          </a:prstGeom>
          <a:ln w="6350">
            <a:solidFill>
              <a:schemeClr val="bg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34F65822-4932-5293-2645-FEEEB3A88CB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90930" y="6470950"/>
            <a:ext cx="971740" cy="255597"/>
            <a:chOff x="10498770" y="812407"/>
            <a:chExt cx="1228658" cy="323175"/>
          </a:xfrm>
          <a:solidFill>
            <a:schemeClr val="bg1">
              <a:alpha val="59842"/>
            </a:schemeClr>
          </a:solidFill>
        </p:grpSpPr>
        <p:sp>
          <p:nvSpPr>
            <p:cNvPr id="7" name="Freeform: Shape 3">
              <a:extLst>
                <a:ext uri="{FF2B5EF4-FFF2-40B4-BE49-F238E27FC236}">
                  <a16:creationId xmlns:a16="http://schemas.microsoft.com/office/drawing/2014/main" id="{B57304E1-D215-33D8-3328-7E9F126CEC28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FA6C68FD-6623-0B4A-F1DD-6503CA91C4CC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B6A83140-0D73-461F-A5E0-064A4A29387C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E0E36C72-DCB4-1F95-0000-AF52C4608F7B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4F6CB0B9-CECB-FBD8-D3EB-630361A8BA94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482A8A86-A6B4-378E-C7D3-20BF27CC3E15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1">
              <a:extLst>
                <a:ext uri="{FF2B5EF4-FFF2-40B4-BE49-F238E27FC236}">
                  <a16:creationId xmlns:a16="http://schemas.microsoft.com/office/drawing/2014/main" id="{D63C8BB3-A064-AF27-53E7-E7355C5C384B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12">
              <a:extLst>
                <a:ext uri="{FF2B5EF4-FFF2-40B4-BE49-F238E27FC236}">
                  <a16:creationId xmlns:a16="http://schemas.microsoft.com/office/drawing/2014/main" id="{6F198A5B-2BC3-6749-2DFC-A33341F38B6E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14063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lide ligh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021B45D-2520-10E6-7697-BCFB78D0B9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1747" y="2108308"/>
            <a:ext cx="9660666" cy="330675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500" b="1" spc="-50" baseline="0"/>
            </a:lvl1pPr>
            <a:lvl2pPr marL="628650" indent="-171450">
              <a:buFont typeface="Arial" panose="020B0604020202020204" pitchFamily="34" charset="0"/>
              <a:buChar char="•"/>
              <a:defRPr sz="1400"/>
            </a:lvl2pPr>
            <a:lvl3pPr marL="1076325" indent="-161925">
              <a:buFont typeface="Arial" panose="020B0604020202020204" pitchFamily="34" charset="0"/>
              <a:buChar char="•"/>
              <a:defRPr sz="1200"/>
            </a:lvl3pPr>
            <a:lvl4pPr marL="1371600" indent="0">
              <a:buFont typeface="Arial" panose="020B0604020202020204" pitchFamily="34" charset="0"/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Summary slide (25pt)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03B4C-5740-B5AC-A3F0-6163277C1B8A}"/>
              </a:ext>
            </a:extLst>
          </p:cNvPr>
          <p:cNvSpPr txBox="1">
            <a:spLocks/>
          </p:cNvSpPr>
          <p:nvPr userDrawn="1"/>
        </p:nvSpPr>
        <p:spPr>
          <a:xfrm>
            <a:off x="3737383" y="6527610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tx1">
                    <a:alpha val="60000"/>
                  </a:schemeClr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tx1">
                  <a:alpha val="6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BF697-1BD0-5DE3-3BE9-BDE1FA951C3F}"/>
              </a:ext>
            </a:extLst>
          </p:cNvPr>
          <p:cNvSpPr txBox="1"/>
          <p:nvPr userDrawn="1"/>
        </p:nvSpPr>
        <p:spPr>
          <a:xfrm>
            <a:off x="188167" y="6431194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tx1">
                    <a:alpha val="60000"/>
                  </a:schemeClr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491A21-51A0-1ECB-9996-BAA0BABE217E}"/>
              </a:ext>
            </a:extLst>
          </p:cNvPr>
          <p:cNvCxnSpPr>
            <a:cxnSpLocks/>
          </p:cNvCxnSpPr>
          <p:nvPr userDrawn="1"/>
        </p:nvCxnSpPr>
        <p:spPr>
          <a:xfrm flipV="1">
            <a:off x="3727422" y="6586319"/>
            <a:ext cx="0" cy="119028"/>
          </a:xfrm>
          <a:prstGeom prst="line">
            <a:avLst/>
          </a:prstGeom>
          <a:ln w="6350">
            <a:solidFill>
              <a:schemeClr val="tx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3E4F9EED-D3D7-F6EC-C3EE-5DD1EA4A99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3528" y="6463764"/>
            <a:ext cx="979142" cy="26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84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dark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DC1EE-A1CC-D4A4-E21E-99FB56C3B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1747" y="2743200"/>
            <a:ext cx="9660666" cy="1377263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000" b="1" spc="-50" baseline="0">
                <a:solidFill>
                  <a:schemeClr val="bg1"/>
                </a:solidFill>
              </a:defRPr>
            </a:lvl1pPr>
            <a:lvl2pPr marL="628650" indent="-171450">
              <a:buFont typeface="Arial" panose="020B0604020202020204" pitchFamily="34" charset="0"/>
              <a:buChar char="•"/>
              <a:defRPr sz="1400"/>
            </a:lvl2pPr>
            <a:lvl3pPr marL="1076325" indent="-161925">
              <a:buFont typeface="Arial" panose="020B0604020202020204" pitchFamily="34" charset="0"/>
              <a:buChar char="•"/>
              <a:defRPr sz="1200"/>
            </a:lvl3pPr>
            <a:lvl4pPr marL="1371600" indent="0">
              <a:buFont typeface="Arial" panose="020B0604020202020204" pitchFamily="34" charset="0"/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Statement slide  (40pt)</a:t>
            </a:r>
          </a:p>
          <a:p>
            <a:pPr lvl="0"/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0666071-682E-A346-7B77-DDE9599561A2}"/>
              </a:ext>
            </a:extLst>
          </p:cNvPr>
          <p:cNvSpPr txBox="1">
            <a:spLocks/>
          </p:cNvSpPr>
          <p:nvPr userDrawn="1"/>
        </p:nvSpPr>
        <p:spPr>
          <a:xfrm>
            <a:off x="3737383" y="6527610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82439-C25B-3E4B-0799-4C8EB4C3C060}"/>
              </a:ext>
            </a:extLst>
          </p:cNvPr>
          <p:cNvSpPr txBox="1"/>
          <p:nvPr userDrawn="1"/>
        </p:nvSpPr>
        <p:spPr>
          <a:xfrm>
            <a:off x="188167" y="6431194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3AB95F-CF3E-29D7-A377-AFE3B1ECB5E9}"/>
              </a:ext>
            </a:extLst>
          </p:cNvPr>
          <p:cNvCxnSpPr>
            <a:cxnSpLocks/>
          </p:cNvCxnSpPr>
          <p:nvPr userDrawn="1"/>
        </p:nvCxnSpPr>
        <p:spPr>
          <a:xfrm flipV="1">
            <a:off x="3727422" y="6586319"/>
            <a:ext cx="0" cy="119028"/>
          </a:xfrm>
          <a:prstGeom prst="line">
            <a:avLst/>
          </a:prstGeom>
          <a:ln w="6350">
            <a:solidFill>
              <a:schemeClr val="bg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34F65822-4932-5293-2645-FEEEB3A88CB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90930" y="6470950"/>
            <a:ext cx="971740" cy="255597"/>
            <a:chOff x="10498770" y="812407"/>
            <a:chExt cx="1228658" cy="323175"/>
          </a:xfrm>
          <a:solidFill>
            <a:schemeClr val="bg1">
              <a:alpha val="59842"/>
            </a:schemeClr>
          </a:solidFill>
        </p:grpSpPr>
        <p:sp>
          <p:nvSpPr>
            <p:cNvPr id="7" name="Freeform: Shape 3">
              <a:extLst>
                <a:ext uri="{FF2B5EF4-FFF2-40B4-BE49-F238E27FC236}">
                  <a16:creationId xmlns:a16="http://schemas.microsoft.com/office/drawing/2014/main" id="{B57304E1-D215-33D8-3328-7E9F126CEC28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4">
              <a:extLst>
                <a:ext uri="{FF2B5EF4-FFF2-40B4-BE49-F238E27FC236}">
                  <a16:creationId xmlns:a16="http://schemas.microsoft.com/office/drawing/2014/main" id="{FA6C68FD-6623-0B4A-F1DD-6503CA91C4CC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5">
              <a:extLst>
                <a:ext uri="{FF2B5EF4-FFF2-40B4-BE49-F238E27FC236}">
                  <a16:creationId xmlns:a16="http://schemas.microsoft.com/office/drawing/2014/main" id="{B6A83140-0D73-461F-A5E0-064A4A29387C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Freeform: Shape 6">
              <a:extLst>
                <a:ext uri="{FF2B5EF4-FFF2-40B4-BE49-F238E27FC236}">
                  <a16:creationId xmlns:a16="http://schemas.microsoft.com/office/drawing/2014/main" id="{E0E36C72-DCB4-1F95-0000-AF52C4608F7B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" name="Freeform: Shape 7">
              <a:extLst>
                <a:ext uri="{FF2B5EF4-FFF2-40B4-BE49-F238E27FC236}">
                  <a16:creationId xmlns:a16="http://schemas.microsoft.com/office/drawing/2014/main" id="{4F6CB0B9-CECB-FBD8-D3EB-630361A8BA94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8">
              <a:extLst>
                <a:ext uri="{FF2B5EF4-FFF2-40B4-BE49-F238E27FC236}">
                  <a16:creationId xmlns:a16="http://schemas.microsoft.com/office/drawing/2014/main" id="{482A8A86-A6B4-378E-C7D3-20BF27CC3E15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11">
              <a:extLst>
                <a:ext uri="{FF2B5EF4-FFF2-40B4-BE49-F238E27FC236}">
                  <a16:creationId xmlns:a16="http://schemas.microsoft.com/office/drawing/2014/main" id="{D63C8BB3-A064-AF27-53E7-E7355C5C384B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12">
              <a:extLst>
                <a:ext uri="{FF2B5EF4-FFF2-40B4-BE49-F238E27FC236}">
                  <a16:creationId xmlns:a16="http://schemas.microsoft.com/office/drawing/2014/main" id="{6F198A5B-2BC3-6749-2DFC-A33341F38B6E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635674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 ligh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021B45D-2520-10E6-7697-BCFB78D0B9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1747" y="2726422"/>
            <a:ext cx="9660666" cy="1421750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000" b="1" spc="-50" baseline="0"/>
            </a:lvl1pPr>
            <a:lvl2pPr marL="628650" indent="-171450">
              <a:buFont typeface="Arial" panose="020B0604020202020204" pitchFamily="34" charset="0"/>
              <a:buChar char="•"/>
              <a:defRPr sz="1400"/>
            </a:lvl2pPr>
            <a:lvl3pPr marL="1076325" indent="-161925">
              <a:buFont typeface="Arial" panose="020B0604020202020204" pitchFamily="34" charset="0"/>
              <a:buChar char="•"/>
              <a:defRPr sz="1200"/>
            </a:lvl3pPr>
            <a:lvl4pPr marL="1371600" indent="0">
              <a:buFont typeface="Arial" panose="020B0604020202020204" pitchFamily="34" charset="0"/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Statement slide (40pt)</a:t>
            </a:r>
          </a:p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03B4C-5740-B5AC-A3F0-6163277C1B8A}"/>
              </a:ext>
            </a:extLst>
          </p:cNvPr>
          <p:cNvSpPr txBox="1">
            <a:spLocks/>
          </p:cNvSpPr>
          <p:nvPr userDrawn="1"/>
        </p:nvSpPr>
        <p:spPr>
          <a:xfrm>
            <a:off x="3737383" y="6527610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tx1">
                    <a:alpha val="60000"/>
                  </a:schemeClr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tx1">
                  <a:alpha val="6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9BF697-1BD0-5DE3-3BE9-BDE1FA951C3F}"/>
              </a:ext>
            </a:extLst>
          </p:cNvPr>
          <p:cNvSpPr txBox="1"/>
          <p:nvPr userDrawn="1"/>
        </p:nvSpPr>
        <p:spPr>
          <a:xfrm>
            <a:off x="188167" y="6431194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tx1">
                    <a:alpha val="60000"/>
                  </a:schemeClr>
                </a:solidFill>
                <a:latin typeface="Arial" panose="020B0604020202020204" pitchFamily="34" charset="0"/>
              </a:rPr>
              <a:t>Confidential Information – For intended recipients only. Apexon, Copyright © 2025 All rights reserved.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491A21-51A0-1ECB-9996-BAA0BABE217E}"/>
              </a:ext>
            </a:extLst>
          </p:cNvPr>
          <p:cNvCxnSpPr>
            <a:cxnSpLocks/>
          </p:cNvCxnSpPr>
          <p:nvPr userDrawn="1"/>
        </p:nvCxnSpPr>
        <p:spPr>
          <a:xfrm flipV="1">
            <a:off x="3727422" y="6586319"/>
            <a:ext cx="0" cy="119028"/>
          </a:xfrm>
          <a:prstGeom prst="line">
            <a:avLst/>
          </a:prstGeom>
          <a:ln w="6350">
            <a:solidFill>
              <a:schemeClr val="tx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3E4F9EED-D3D7-F6EC-C3EE-5DD1EA4A99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3528" y="6463764"/>
            <a:ext cx="979142" cy="26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09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xon Summary slide dark backgrou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8D7A82E-70D3-FCDA-8173-A4379E651094}"/>
              </a:ext>
            </a:extLst>
          </p:cNvPr>
          <p:cNvSpPr/>
          <p:nvPr userDrawn="1"/>
        </p:nvSpPr>
        <p:spPr>
          <a:xfrm>
            <a:off x="-16184" y="0"/>
            <a:ext cx="12208184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>
              <a:solidFill>
                <a:schemeClr val="bg1"/>
              </a:solidFill>
            </a:endParaRPr>
          </a:p>
        </p:txBody>
      </p:sp>
      <p:pic>
        <p:nvPicPr>
          <p:cNvPr id="19" name="Picture 1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504F8CD-A0E3-8447-3515-B05CB88863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92152" y="3097708"/>
            <a:ext cx="1829539" cy="504072"/>
          </a:xfrm>
          <a:prstGeom prst="rect">
            <a:avLst/>
          </a:prstGeom>
        </p:spPr>
      </p:pic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FA8046A4-F818-F4ED-EAA1-34B079E46F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0232" y="2695414"/>
            <a:ext cx="6861173" cy="2347956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/>
              <a:t>”Insert summary here”</a:t>
            </a:r>
          </a:p>
          <a:p>
            <a:r>
              <a:rPr lang="en-US"/>
              <a:t>15 pts</a:t>
            </a:r>
          </a:p>
          <a:p>
            <a:pPr lvl="0"/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1FFA0125-4600-C0CC-6401-89FED7217A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232" y="2075634"/>
            <a:ext cx="6861173" cy="59055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Summary head font size: 18</a:t>
            </a: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4DAE09-D5DD-0A4D-F236-EBFA8C216A28}"/>
              </a:ext>
            </a:extLst>
          </p:cNvPr>
          <p:cNvSpPr txBox="1">
            <a:spLocks/>
          </p:cNvSpPr>
          <p:nvPr userDrawn="1"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87AA87-D4E9-135E-54B0-72B0679DF152}"/>
              </a:ext>
            </a:extLst>
          </p:cNvPr>
          <p:cNvSpPr txBox="1"/>
          <p:nvPr userDrawn="1"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A7606C-D4B5-F8E9-08E8-10E2035A7882}"/>
              </a:ext>
            </a:extLst>
          </p:cNvPr>
          <p:cNvCxnSpPr>
            <a:cxnSpLocks/>
          </p:cNvCxnSpPr>
          <p:nvPr userDrawn="1"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9D6AFF-F153-631B-1510-BFEDC5885BD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7" name="Freeform: Shape 3">
              <a:extLst>
                <a:ext uri="{FF2B5EF4-FFF2-40B4-BE49-F238E27FC236}">
                  <a16:creationId xmlns:a16="http://schemas.microsoft.com/office/drawing/2014/main" id="{E22D57C6-1080-23CB-19F0-C825F550CA68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4">
              <a:extLst>
                <a:ext uri="{FF2B5EF4-FFF2-40B4-BE49-F238E27FC236}">
                  <a16:creationId xmlns:a16="http://schemas.microsoft.com/office/drawing/2014/main" id="{20312F32-4F80-23A9-2ED0-365469D1D3B7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5">
              <a:extLst>
                <a:ext uri="{FF2B5EF4-FFF2-40B4-BE49-F238E27FC236}">
                  <a16:creationId xmlns:a16="http://schemas.microsoft.com/office/drawing/2014/main" id="{E0D787BF-0DB5-CB04-63EE-3210F8778771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6">
              <a:extLst>
                <a:ext uri="{FF2B5EF4-FFF2-40B4-BE49-F238E27FC236}">
                  <a16:creationId xmlns:a16="http://schemas.microsoft.com/office/drawing/2014/main" id="{E00DC154-6562-BF77-822D-DF1AD82FE538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7">
              <a:extLst>
                <a:ext uri="{FF2B5EF4-FFF2-40B4-BE49-F238E27FC236}">
                  <a16:creationId xmlns:a16="http://schemas.microsoft.com/office/drawing/2014/main" id="{1028E984-E555-DB8A-B3E1-B2838FE186EE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8">
              <a:extLst>
                <a:ext uri="{FF2B5EF4-FFF2-40B4-BE49-F238E27FC236}">
                  <a16:creationId xmlns:a16="http://schemas.microsoft.com/office/drawing/2014/main" id="{11677FBD-9BA0-CC29-42ED-438777E301A2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11">
              <a:extLst>
                <a:ext uri="{FF2B5EF4-FFF2-40B4-BE49-F238E27FC236}">
                  <a16:creationId xmlns:a16="http://schemas.microsoft.com/office/drawing/2014/main" id="{B9216A04-7C64-0D7D-E27B-5EA2CB3EAFE9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1CA62506-B73D-099E-FCDE-8466F0F9A88D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313708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xon Summary slide light backgrou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7504F8CD-A0E3-8447-3515-B05CB88863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63458" y="3077612"/>
            <a:ext cx="1829539" cy="504072"/>
          </a:xfrm>
          <a:prstGeom prst="rect">
            <a:avLst/>
          </a:prstGeom>
        </p:spPr>
      </p:pic>
      <p:pic>
        <p:nvPicPr>
          <p:cNvPr id="2" name="Picture 1" descr="A black and grey logo&#10;&#10;AI-generated content may be incorrect.">
            <a:extLst>
              <a:ext uri="{FF2B5EF4-FFF2-40B4-BE49-F238E27FC236}">
                <a16:creationId xmlns:a16="http://schemas.microsoft.com/office/drawing/2014/main" id="{E2EC5975-1688-B9EC-FD9B-B9719FA9D2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2104" y="3069338"/>
            <a:ext cx="1829540" cy="504072"/>
          </a:xfrm>
          <a:prstGeom prst="rect">
            <a:avLst/>
          </a:prstGeom>
        </p:spPr>
      </p:pic>
      <p:sp>
        <p:nvSpPr>
          <p:cNvPr id="5" name="Text Placeholder 46">
            <a:extLst>
              <a:ext uri="{FF2B5EF4-FFF2-40B4-BE49-F238E27FC236}">
                <a16:creationId xmlns:a16="http://schemas.microsoft.com/office/drawing/2014/main" id="{9BE57079-A7ED-33EF-0111-C7B4498404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0232" y="2695410"/>
            <a:ext cx="6888704" cy="2347956"/>
          </a:xfrm>
        </p:spPr>
        <p:txBody>
          <a:bodyPr>
            <a:normAutofit/>
          </a:bodyPr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”Insert summary here”</a:t>
            </a:r>
          </a:p>
          <a:p>
            <a:r>
              <a:rPr lang="en-US"/>
              <a:t>15 pts</a:t>
            </a:r>
          </a:p>
          <a:p>
            <a:pPr lvl="0"/>
            <a:endParaRPr lang="en-US"/>
          </a:p>
        </p:txBody>
      </p:sp>
      <p:sp>
        <p:nvSpPr>
          <p:cNvPr id="6" name="Text Placeholder 48">
            <a:extLst>
              <a:ext uri="{FF2B5EF4-FFF2-40B4-BE49-F238E27FC236}">
                <a16:creationId xmlns:a16="http://schemas.microsoft.com/office/drawing/2014/main" id="{57EB1257-EC97-3A9C-0F26-5D78BD98DA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232" y="2075630"/>
            <a:ext cx="6888704" cy="590550"/>
          </a:xfr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Summary head font size: 18</a:t>
            </a:r>
            <a:endParaRPr 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AC8EA8F-6825-AEEA-0984-6A8C6473F9FB}"/>
              </a:ext>
            </a:extLst>
          </p:cNvPr>
          <p:cNvSpPr txBox="1">
            <a:spLocks/>
          </p:cNvSpPr>
          <p:nvPr userDrawn="1"/>
        </p:nvSpPr>
        <p:spPr>
          <a:xfrm>
            <a:off x="3737383" y="6527610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tx1">
                    <a:alpha val="60000"/>
                  </a:schemeClr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tx1">
                  <a:alpha val="6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C832A0-82D2-2C96-6D02-424C35E50421}"/>
              </a:ext>
            </a:extLst>
          </p:cNvPr>
          <p:cNvSpPr txBox="1"/>
          <p:nvPr userDrawn="1"/>
        </p:nvSpPr>
        <p:spPr>
          <a:xfrm>
            <a:off x="188167" y="6431194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tx1">
                    <a:alpha val="60000"/>
                  </a:schemeClr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F28D35-BF41-C80D-D533-BAAE33E3C7CE}"/>
              </a:ext>
            </a:extLst>
          </p:cNvPr>
          <p:cNvCxnSpPr>
            <a:cxnSpLocks/>
          </p:cNvCxnSpPr>
          <p:nvPr userDrawn="1"/>
        </p:nvCxnSpPr>
        <p:spPr>
          <a:xfrm flipV="1">
            <a:off x="3727422" y="6586319"/>
            <a:ext cx="0" cy="119028"/>
          </a:xfrm>
          <a:prstGeom prst="line">
            <a:avLst/>
          </a:prstGeom>
          <a:ln w="6350">
            <a:solidFill>
              <a:schemeClr val="tx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BB24CEC8-1BCE-0D54-FF10-115035F6586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83528" y="6463764"/>
            <a:ext cx="979142" cy="269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542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/quote slide dark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>
            <a:extLst>
              <a:ext uri="{FF2B5EF4-FFF2-40B4-BE49-F238E27FC236}">
                <a16:creationId xmlns:a16="http://schemas.microsoft.com/office/drawing/2014/main" id="{0D15F41A-7669-BAC8-599E-18055F6AD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10401" y="1483482"/>
            <a:ext cx="5181600" cy="5374518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8E4A434-857F-2DDA-A952-640ADC84E9A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3768" y="2560637"/>
            <a:ext cx="7299838" cy="1736725"/>
          </a:xfrm>
        </p:spPr>
        <p:txBody>
          <a:bodyPr anchor="ctr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 b="1" i="0" spc="-50" baseline="0">
                <a:solidFill>
                  <a:schemeClr val="bg1"/>
                </a:solidFill>
              </a:defRPr>
            </a:lvl1pPr>
            <a:lvl2pPr>
              <a:defRPr sz="2000" i="1"/>
            </a:lvl2pPr>
            <a:lvl3pPr>
              <a:defRPr sz="2000" i="1"/>
            </a:lvl3pPr>
            <a:lvl4pPr>
              <a:defRPr sz="2000" i="1"/>
            </a:lvl4pPr>
            <a:lvl5pPr>
              <a:defRPr sz="2000" i="1"/>
            </a:lvl5pPr>
          </a:lstStyle>
          <a:p>
            <a:pPr lvl="0"/>
            <a:r>
              <a:rPr lang="en-US"/>
              <a:t>“Insert quote here”</a:t>
            </a:r>
            <a:br>
              <a:rPr lang="en-US"/>
            </a:br>
            <a:r>
              <a:rPr lang="en-US"/>
              <a:t>20-24pts</a:t>
            </a:r>
            <a:endParaRPr lang="en-IN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85D18CBF-5AE5-EE62-5E3B-532CFC5CD75A}"/>
              </a:ext>
            </a:extLst>
          </p:cNvPr>
          <p:cNvSpPr txBox="1">
            <a:spLocks/>
          </p:cNvSpPr>
          <p:nvPr userDrawn="1"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‹#›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7A22F3-F3D7-1A2A-A81F-BCC6223DC9D5}"/>
              </a:ext>
            </a:extLst>
          </p:cNvPr>
          <p:cNvSpPr txBox="1"/>
          <p:nvPr userDrawn="1"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B8788AC-8E50-A85E-7056-EC52DE512DC8}"/>
              </a:ext>
            </a:extLst>
          </p:cNvPr>
          <p:cNvCxnSpPr>
            <a:cxnSpLocks/>
          </p:cNvCxnSpPr>
          <p:nvPr userDrawn="1"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B3DE5F-A6EB-6EC9-ECF7-1B0C8A72BCF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9" name="Freeform: Shape 3">
              <a:extLst>
                <a:ext uri="{FF2B5EF4-FFF2-40B4-BE49-F238E27FC236}">
                  <a16:creationId xmlns:a16="http://schemas.microsoft.com/office/drawing/2014/main" id="{986FE4C4-F177-CA34-9AFA-115568180203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4">
              <a:extLst>
                <a:ext uri="{FF2B5EF4-FFF2-40B4-BE49-F238E27FC236}">
                  <a16:creationId xmlns:a16="http://schemas.microsoft.com/office/drawing/2014/main" id="{96F16D45-0632-1157-02BF-065F753D638E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5">
              <a:extLst>
                <a:ext uri="{FF2B5EF4-FFF2-40B4-BE49-F238E27FC236}">
                  <a16:creationId xmlns:a16="http://schemas.microsoft.com/office/drawing/2014/main" id="{59E11EB3-F635-9064-A142-891342F6FB5C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6">
              <a:extLst>
                <a:ext uri="{FF2B5EF4-FFF2-40B4-BE49-F238E27FC236}">
                  <a16:creationId xmlns:a16="http://schemas.microsoft.com/office/drawing/2014/main" id="{1FF22314-6103-D12D-0AF7-497FA8931C32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7">
              <a:extLst>
                <a:ext uri="{FF2B5EF4-FFF2-40B4-BE49-F238E27FC236}">
                  <a16:creationId xmlns:a16="http://schemas.microsoft.com/office/drawing/2014/main" id="{8B74C761-5A0E-5634-2795-2D3E0B32245D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8">
              <a:extLst>
                <a:ext uri="{FF2B5EF4-FFF2-40B4-BE49-F238E27FC236}">
                  <a16:creationId xmlns:a16="http://schemas.microsoft.com/office/drawing/2014/main" id="{D709025C-42AA-BD3E-33B3-E476432F1136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11">
              <a:extLst>
                <a:ext uri="{FF2B5EF4-FFF2-40B4-BE49-F238E27FC236}">
                  <a16:creationId xmlns:a16="http://schemas.microsoft.com/office/drawing/2014/main" id="{6FBA85D7-8208-D3B7-07BB-4B0263C4178D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12">
              <a:extLst>
                <a:ext uri="{FF2B5EF4-FFF2-40B4-BE49-F238E27FC236}">
                  <a16:creationId xmlns:a16="http://schemas.microsoft.com/office/drawing/2014/main" id="{E62BBB9E-AA7B-FE49-7FC7-9332B38A1787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99094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1941F1-5606-532A-158B-A03D6302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44706-12F5-7E39-FE3E-5EB9F3325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FF091-ECC7-F6AA-E66E-F88A5034B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C6B4A64D-F73A-487D-8AAD-41FE5757E452}" type="datetimeFigureOut">
              <a:rPr lang="en-IN" smtClean="0"/>
              <a:pPr/>
              <a:t>26-10-2026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1B8F4-9DD6-E821-9B8B-A59F04C96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2AF03-BD98-1CCB-2ED9-0C286604A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67C257C-C8D9-4010-A833-BC5E0958657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865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9.jpe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9.jpe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24" Type="http://schemas.openxmlformats.org/officeDocument/2006/relationships/image" Target="../media/image45.png"/><Relationship Id="rId32" Type="http://schemas.openxmlformats.org/officeDocument/2006/relationships/image" Target="../media/image53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28" Type="http://schemas.openxmlformats.org/officeDocument/2006/relationships/image" Target="../media/image49.png"/><Relationship Id="rId10" Type="http://schemas.openxmlformats.org/officeDocument/2006/relationships/image" Target="../media/image31.png"/><Relationship Id="rId19" Type="http://schemas.openxmlformats.org/officeDocument/2006/relationships/image" Target="../media/image40.png"/><Relationship Id="rId31" Type="http://schemas.openxmlformats.org/officeDocument/2006/relationships/image" Target="../media/image5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Relationship Id="rId30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34" Type="http://schemas.openxmlformats.org/officeDocument/2006/relationships/image" Target="../media/image87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33" Type="http://schemas.openxmlformats.org/officeDocument/2006/relationships/image" Target="../media/image8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32" Type="http://schemas.openxmlformats.org/officeDocument/2006/relationships/image" Target="../media/image85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31" Type="http://schemas.openxmlformats.org/officeDocument/2006/relationships/image" Target="../media/image84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Relationship Id="rId35" Type="http://schemas.openxmlformats.org/officeDocument/2006/relationships/image" Target="../media/image88.png"/><Relationship Id="rId8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11.png"/><Relationship Id="rId21" Type="http://schemas.openxmlformats.org/officeDocument/2006/relationships/image" Target="../media/image106.png"/><Relationship Id="rId34" Type="http://schemas.openxmlformats.org/officeDocument/2006/relationships/image" Target="../media/image119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33" Type="http://schemas.openxmlformats.org/officeDocument/2006/relationships/image" Target="../media/image118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29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32" Type="http://schemas.openxmlformats.org/officeDocument/2006/relationships/image" Target="../media/image117.png"/><Relationship Id="rId37" Type="http://schemas.openxmlformats.org/officeDocument/2006/relationships/image" Target="../media/image122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36" Type="http://schemas.openxmlformats.org/officeDocument/2006/relationships/image" Target="../media/image121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116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115.png"/><Relationship Id="rId35" Type="http://schemas.openxmlformats.org/officeDocument/2006/relationships/image" Target="../media/image120.png"/><Relationship Id="rId8" Type="http://schemas.openxmlformats.org/officeDocument/2006/relationships/image" Target="../media/image93.png"/><Relationship Id="rId3" Type="http://schemas.openxmlformats.org/officeDocument/2006/relationships/image" Target="../media/image5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34" Type="http://schemas.openxmlformats.org/officeDocument/2006/relationships/image" Target="../media/image87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33" Type="http://schemas.openxmlformats.org/officeDocument/2006/relationships/image" Target="../media/image86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32" Type="http://schemas.openxmlformats.org/officeDocument/2006/relationships/image" Target="../media/image85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31" Type="http://schemas.openxmlformats.org/officeDocument/2006/relationships/image" Target="../media/image84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Relationship Id="rId35" Type="http://schemas.openxmlformats.org/officeDocument/2006/relationships/image" Target="../media/image88.png"/><Relationship Id="rId8" Type="http://schemas.openxmlformats.org/officeDocument/2006/relationships/image" Target="../media/image61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11.png"/><Relationship Id="rId21" Type="http://schemas.openxmlformats.org/officeDocument/2006/relationships/image" Target="../media/image106.png"/><Relationship Id="rId34" Type="http://schemas.openxmlformats.org/officeDocument/2006/relationships/image" Target="../media/image119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33" Type="http://schemas.openxmlformats.org/officeDocument/2006/relationships/image" Target="../media/image11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29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32" Type="http://schemas.openxmlformats.org/officeDocument/2006/relationships/image" Target="../media/image117.png"/><Relationship Id="rId37" Type="http://schemas.openxmlformats.org/officeDocument/2006/relationships/image" Target="../media/image122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36" Type="http://schemas.openxmlformats.org/officeDocument/2006/relationships/image" Target="../media/image121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116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115.png"/><Relationship Id="rId35" Type="http://schemas.openxmlformats.org/officeDocument/2006/relationships/image" Target="../media/image120.png"/><Relationship Id="rId8" Type="http://schemas.openxmlformats.org/officeDocument/2006/relationships/image" Target="../media/image93.png"/><Relationship Id="rId3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26" Type="http://schemas.openxmlformats.org/officeDocument/2006/relationships/image" Target="../media/image79.png"/><Relationship Id="rId3" Type="http://schemas.openxmlformats.org/officeDocument/2006/relationships/image" Target="../media/image56.png"/><Relationship Id="rId21" Type="http://schemas.openxmlformats.org/officeDocument/2006/relationships/image" Target="../media/image74.png"/><Relationship Id="rId34" Type="http://schemas.openxmlformats.org/officeDocument/2006/relationships/image" Target="../media/image87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78.png"/><Relationship Id="rId33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29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32" Type="http://schemas.openxmlformats.org/officeDocument/2006/relationships/image" Target="../media/image85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28" Type="http://schemas.openxmlformats.org/officeDocument/2006/relationships/image" Target="../media/image81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31" Type="http://schemas.openxmlformats.org/officeDocument/2006/relationships/image" Target="../media/image84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Relationship Id="rId27" Type="http://schemas.openxmlformats.org/officeDocument/2006/relationships/image" Target="../media/image80.png"/><Relationship Id="rId30" Type="http://schemas.openxmlformats.org/officeDocument/2006/relationships/image" Target="../media/image83.png"/><Relationship Id="rId35" Type="http://schemas.openxmlformats.org/officeDocument/2006/relationships/image" Target="../media/image88.png"/><Relationship Id="rId8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26" Type="http://schemas.openxmlformats.org/officeDocument/2006/relationships/image" Target="../media/image111.png"/><Relationship Id="rId21" Type="http://schemas.openxmlformats.org/officeDocument/2006/relationships/image" Target="../media/image106.png"/><Relationship Id="rId34" Type="http://schemas.openxmlformats.org/officeDocument/2006/relationships/image" Target="../media/image119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5" Type="http://schemas.openxmlformats.org/officeDocument/2006/relationships/image" Target="../media/image110.png"/><Relationship Id="rId33" Type="http://schemas.openxmlformats.org/officeDocument/2006/relationships/image" Target="../media/image11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29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24" Type="http://schemas.openxmlformats.org/officeDocument/2006/relationships/image" Target="../media/image109.png"/><Relationship Id="rId32" Type="http://schemas.openxmlformats.org/officeDocument/2006/relationships/image" Target="../media/image117.png"/><Relationship Id="rId37" Type="http://schemas.openxmlformats.org/officeDocument/2006/relationships/image" Target="../media/image122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23" Type="http://schemas.openxmlformats.org/officeDocument/2006/relationships/image" Target="../media/image108.png"/><Relationship Id="rId28" Type="http://schemas.openxmlformats.org/officeDocument/2006/relationships/image" Target="../media/image113.png"/><Relationship Id="rId36" Type="http://schemas.openxmlformats.org/officeDocument/2006/relationships/image" Target="../media/image121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31" Type="http://schemas.openxmlformats.org/officeDocument/2006/relationships/image" Target="../media/image116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Relationship Id="rId27" Type="http://schemas.openxmlformats.org/officeDocument/2006/relationships/image" Target="../media/image112.png"/><Relationship Id="rId30" Type="http://schemas.openxmlformats.org/officeDocument/2006/relationships/image" Target="../media/image115.png"/><Relationship Id="rId35" Type="http://schemas.openxmlformats.org/officeDocument/2006/relationships/image" Target="../media/image120.png"/><Relationship Id="rId8" Type="http://schemas.openxmlformats.org/officeDocument/2006/relationships/image" Target="../media/image93.png"/><Relationship Id="rId3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2.png"/><Relationship Id="rId18" Type="http://schemas.openxmlformats.org/officeDocument/2006/relationships/image" Target="../media/image137.png"/><Relationship Id="rId3" Type="http://schemas.openxmlformats.org/officeDocument/2006/relationships/image" Target="../media/image56.png"/><Relationship Id="rId21" Type="http://schemas.openxmlformats.org/officeDocument/2006/relationships/image" Target="../media/image140.png"/><Relationship Id="rId7" Type="http://schemas.openxmlformats.org/officeDocument/2006/relationships/image" Target="../media/image126.png"/><Relationship Id="rId12" Type="http://schemas.openxmlformats.org/officeDocument/2006/relationships/image" Target="../media/image131.png"/><Relationship Id="rId17" Type="http://schemas.openxmlformats.org/officeDocument/2006/relationships/image" Target="../media/image136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35.png"/><Relationship Id="rId20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5.png"/><Relationship Id="rId11" Type="http://schemas.openxmlformats.org/officeDocument/2006/relationships/image" Target="../media/image130.png"/><Relationship Id="rId24" Type="http://schemas.openxmlformats.org/officeDocument/2006/relationships/image" Target="../media/image142.png"/><Relationship Id="rId5" Type="http://schemas.openxmlformats.org/officeDocument/2006/relationships/image" Target="../media/image124.png"/><Relationship Id="rId15" Type="http://schemas.openxmlformats.org/officeDocument/2006/relationships/image" Target="../media/image134.png"/><Relationship Id="rId23" Type="http://schemas.openxmlformats.org/officeDocument/2006/relationships/image" Target="../media/image95.png"/><Relationship Id="rId10" Type="http://schemas.openxmlformats.org/officeDocument/2006/relationships/image" Target="../media/image129.png"/><Relationship Id="rId19" Type="http://schemas.openxmlformats.org/officeDocument/2006/relationships/image" Target="../media/image138.png"/><Relationship Id="rId4" Type="http://schemas.openxmlformats.org/officeDocument/2006/relationships/image" Target="../media/image123.png"/><Relationship Id="rId9" Type="http://schemas.openxmlformats.org/officeDocument/2006/relationships/image" Target="../media/image128.png"/><Relationship Id="rId14" Type="http://schemas.openxmlformats.org/officeDocument/2006/relationships/image" Target="../media/image133.png"/><Relationship Id="rId22" Type="http://schemas.openxmlformats.org/officeDocument/2006/relationships/image" Target="../media/image1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151.png"/><Relationship Id="rId18" Type="http://schemas.openxmlformats.org/officeDocument/2006/relationships/image" Target="../media/image155.png"/><Relationship Id="rId3" Type="http://schemas.openxmlformats.org/officeDocument/2006/relationships/image" Target="../media/image143.png"/><Relationship Id="rId7" Type="http://schemas.openxmlformats.org/officeDocument/2006/relationships/image" Target="../media/image61.png"/><Relationship Id="rId12" Type="http://schemas.openxmlformats.org/officeDocument/2006/relationships/image" Target="../media/image150.png"/><Relationship Id="rId17" Type="http://schemas.openxmlformats.org/officeDocument/2006/relationships/image" Target="../media/image15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11" Type="http://schemas.openxmlformats.org/officeDocument/2006/relationships/image" Target="../media/image149.png"/><Relationship Id="rId5" Type="http://schemas.openxmlformats.org/officeDocument/2006/relationships/image" Target="../media/image145.png"/><Relationship Id="rId15" Type="http://schemas.openxmlformats.org/officeDocument/2006/relationships/image" Target="../media/image129.png"/><Relationship Id="rId10" Type="http://schemas.openxmlformats.org/officeDocument/2006/relationships/image" Target="../media/image148.png"/><Relationship Id="rId19" Type="http://schemas.openxmlformats.org/officeDocument/2006/relationships/image" Target="../media/image156.png"/><Relationship Id="rId4" Type="http://schemas.openxmlformats.org/officeDocument/2006/relationships/image" Target="../media/image144.pn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66.png"/><Relationship Id="rId18" Type="http://schemas.openxmlformats.org/officeDocument/2006/relationships/image" Target="../media/image171.png"/><Relationship Id="rId3" Type="http://schemas.openxmlformats.org/officeDocument/2006/relationships/image" Target="../media/image143.png"/><Relationship Id="rId7" Type="http://schemas.openxmlformats.org/officeDocument/2006/relationships/image" Target="../media/image160.png"/><Relationship Id="rId12" Type="http://schemas.openxmlformats.org/officeDocument/2006/relationships/image" Target="../media/image165.png"/><Relationship Id="rId17" Type="http://schemas.openxmlformats.org/officeDocument/2006/relationships/image" Target="../media/image17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69.png"/><Relationship Id="rId20" Type="http://schemas.openxmlformats.org/officeDocument/2006/relationships/image" Target="../media/image1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11" Type="http://schemas.openxmlformats.org/officeDocument/2006/relationships/image" Target="../media/image164.pn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10" Type="http://schemas.openxmlformats.org/officeDocument/2006/relationships/image" Target="../media/image163.png"/><Relationship Id="rId19" Type="http://schemas.openxmlformats.org/officeDocument/2006/relationships/image" Target="../media/image172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13" Type="http://schemas.openxmlformats.org/officeDocument/2006/relationships/image" Target="../media/image183.png"/><Relationship Id="rId18" Type="http://schemas.openxmlformats.org/officeDocument/2006/relationships/image" Target="../media/image188.png"/><Relationship Id="rId3" Type="http://schemas.openxmlformats.org/officeDocument/2006/relationships/image" Target="../media/image143.png"/><Relationship Id="rId21" Type="http://schemas.openxmlformats.org/officeDocument/2006/relationships/image" Target="../media/image191.png"/><Relationship Id="rId7" Type="http://schemas.openxmlformats.org/officeDocument/2006/relationships/image" Target="../media/image177.png"/><Relationship Id="rId12" Type="http://schemas.openxmlformats.org/officeDocument/2006/relationships/image" Target="../media/image182.png"/><Relationship Id="rId17" Type="http://schemas.openxmlformats.org/officeDocument/2006/relationships/image" Target="../media/image187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86.png"/><Relationship Id="rId20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6.png"/><Relationship Id="rId11" Type="http://schemas.openxmlformats.org/officeDocument/2006/relationships/image" Target="../media/image181.png"/><Relationship Id="rId5" Type="http://schemas.openxmlformats.org/officeDocument/2006/relationships/image" Target="../media/image175.png"/><Relationship Id="rId15" Type="http://schemas.openxmlformats.org/officeDocument/2006/relationships/image" Target="../media/image185.png"/><Relationship Id="rId23" Type="http://schemas.openxmlformats.org/officeDocument/2006/relationships/image" Target="../media/image193.png"/><Relationship Id="rId10" Type="http://schemas.openxmlformats.org/officeDocument/2006/relationships/image" Target="../media/image180.png"/><Relationship Id="rId19" Type="http://schemas.openxmlformats.org/officeDocument/2006/relationships/image" Target="../media/image189.png"/><Relationship Id="rId4" Type="http://schemas.openxmlformats.org/officeDocument/2006/relationships/image" Target="../media/image174.png"/><Relationship Id="rId9" Type="http://schemas.openxmlformats.org/officeDocument/2006/relationships/image" Target="../media/image179.png"/><Relationship Id="rId14" Type="http://schemas.openxmlformats.org/officeDocument/2006/relationships/image" Target="../media/image184.png"/><Relationship Id="rId22" Type="http://schemas.openxmlformats.org/officeDocument/2006/relationships/image" Target="../media/image19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18" Type="http://schemas.openxmlformats.org/officeDocument/2006/relationships/image" Target="../media/image208.png"/><Relationship Id="rId3" Type="http://schemas.openxmlformats.org/officeDocument/2006/relationships/image" Target="../media/image143.png"/><Relationship Id="rId21" Type="http://schemas.openxmlformats.org/officeDocument/2006/relationships/image" Target="../media/image211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17" Type="http://schemas.openxmlformats.org/officeDocument/2006/relationships/image" Target="../media/image207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206.png"/><Relationship Id="rId20" Type="http://schemas.openxmlformats.org/officeDocument/2006/relationships/image" Target="../media/image2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24" Type="http://schemas.openxmlformats.org/officeDocument/2006/relationships/image" Target="../media/image214.png"/><Relationship Id="rId5" Type="http://schemas.openxmlformats.org/officeDocument/2006/relationships/image" Target="../media/image195.png"/><Relationship Id="rId15" Type="http://schemas.openxmlformats.org/officeDocument/2006/relationships/image" Target="../media/image205.png"/><Relationship Id="rId23" Type="http://schemas.openxmlformats.org/officeDocument/2006/relationships/image" Target="../media/image213.png"/><Relationship Id="rId10" Type="http://schemas.openxmlformats.org/officeDocument/2006/relationships/image" Target="../media/image200.png"/><Relationship Id="rId19" Type="http://schemas.openxmlformats.org/officeDocument/2006/relationships/image" Target="../media/image209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Relationship Id="rId22" Type="http://schemas.openxmlformats.org/officeDocument/2006/relationships/image" Target="../media/image21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3FA4120-CCC7-940A-2594-681245B3C5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6" y="4783208"/>
            <a:ext cx="3859346" cy="76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accent2"/>
                </a:solidFill>
                <a:latin typeface="Arial"/>
                <a:cs typeface="Arial"/>
              </a:rPr>
              <a:t>July 31,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47D0E4-E35F-80F8-69D9-3683BE92C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203704"/>
            <a:ext cx="6005380" cy="229514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>
                <a:solidFill>
                  <a:schemeClr val="accent2"/>
                </a:solidFill>
              </a:rPr>
              <a:t>TRT PoC proposal for Mastercard</a:t>
            </a:r>
          </a:p>
        </p:txBody>
      </p:sp>
    </p:spTree>
    <p:extLst>
      <p:ext uri="{BB962C8B-B14F-4D97-AF65-F5344CB8AC3E}">
        <p14:creationId xmlns:p14="http://schemas.microsoft.com/office/powerpoint/2010/main" val="369825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54864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05840"/>
            <a:ext cx="11155680" cy="1298448"/>
          </a:xfrm>
          <a:prstGeom prst="roundRect">
            <a:avLst>
              <a:gd name="adj" fmla="val 3000"/>
            </a:avLst>
          </a:prstGeom>
          <a:solidFill>
            <a:srgbClr val="F1F3F7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26187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261872"/>
            <a:ext cx="402336" cy="40233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61872"/>
            <a:ext cx="4572000" cy="40233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1F2940"/>
                </a:solidFill>
                <a:latin typeface="Arial"/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2966"/>
            <a:ext cx="10716767" cy="35673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Design and demonstrate an AI-powered system that 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activates upon TRT Signal from SafetyNet and autonomously gathers all required transaction data, reports, and context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444444"/>
                </a:solidFill>
                <a:effectLst/>
                <a:uLnTx/>
                <a:uFillTx/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; and automates: event understanding, contextual analysis, decision support, and TRT workflow acceleration.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2487168"/>
            <a:ext cx="7589520" cy="3639312"/>
          </a:xfrm>
          <a:prstGeom prst="roundRect">
            <a:avLst>
              <a:gd name="adj" fmla="val 3000"/>
            </a:avLst>
          </a:prstGeom>
          <a:solidFill>
            <a:srgbClr val="F1F3F7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7240" y="274320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402336" cy="40233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43200"/>
            <a:ext cx="5486400" cy="40233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1" i="0">
                <a:solidFill>
                  <a:srgbClr val="1F2940"/>
                </a:solidFill>
                <a:latin typeface="Arial"/>
              </a:rPr>
              <a:t>In-Scope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79" y="2487168"/>
            <a:ext cx="3474720" cy="2834640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03336" y="272491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E0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03336" y="2724912"/>
            <a:ext cx="384048" cy="384048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2724912"/>
            <a:ext cx="2743200" cy="384048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Out of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3310128"/>
            <a:ext cx="274320" cy="43891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E03A4A"/>
                </a:solidFill>
                <a:latin typeface="Arial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0807" y="3310128"/>
            <a:ext cx="2743200" cy="43891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FD8EA"/>
                </a:solidFill>
                <a:latin typeface="Arial"/>
              </a:rPr>
              <a:t>Fraud detection / anomaly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1" y="3803904"/>
            <a:ext cx="274320" cy="43891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E03A4A"/>
                </a:solidFill>
                <a:latin typeface="Arial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0807" y="3803904"/>
            <a:ext cx="2743200" cy="43891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FD8EA"/>
                </a:solidFill>
                <a:latin typeface="Arial"/>
              </a:rPr>
              <a:t>Real-time streaming or production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911" y="4297680"/>
            <a:ext cx="274320" cy="43891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E03A4A"/>
                </a:solidFill>
                <a:latin typeface="Arial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0807" y="4297680"/>
            <a:ext cx="2743200" cy="43891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FD8EA"/>
                </a:solidFill>
                <a:latin typeface="Arial"/>
              </a:rPr>
              <a:t>Integration with external systems (Splunk, Safety Net)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1" y="4791456"/>
            <a:ext cx="274320" cy="43891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E03A4A"/>
                </a:solidFill>
                <a:latin typeface="Arial"/>
              </a:rPr>
              <a:t>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0807" y="4791456"/>
            <a:ext cx="2743200" cy="43891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CFD8EA"/>
                </a:solidFill>
                <a:latin typeface="Arial"/>
              </a:rPr>
              <a:t>Automated rule execution in production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620256"/>
            <a:ext cx="457200" cy="18288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 i="0">
                <a:solidFill>
                  <a:srgbClr val="8E99B5"/>
                </a:solidFill>
                <a:latin typeface="Arial"/>
              </a:rPr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EC3FA5-487B-D0E0-5F1D-224C2A76967F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0F9DF51F-7AF0-3447-417A-588BFC70A77D}"/>
              </a:ext>
            </a:extLst>
          </p:cNvPr>
          <p:cNvGrpSpPr/>
          <p:nvPr/>
        </p:nvGrpSpPr>
        <p:grpSpPr>
          <a:xfrm>
            <a:off x="777240" y="3328416"/>
            <a:ext cx="7118101" cy="2497674"/>
            <a:chOff x="761695" y="3467405"/>
            <a:chExt cx="7973568" cy="2723998"/>
          </a:xfrm>
        </p:grpSpPr>
        <p:sp>
          <p:nvSpPr>
            <p:cNvPr id="48" name="Shape 18">
              <a:extLst>
                <a:ext uri="{FF2B5EF4-FFF2-40B4-BE49-F238E27FC236}">
                  <a16:creationId xmlns:a16="http://schemas.microsoft.com/office/drawing/2014/main" id="{A6892316-5269-0C50-4CB3-52913C3BEC7B}"/>
                </a:ext>
              </a:extLst>
            </p:cNvPr>
            <p:cNvSpPr/>
            <p:nvPr/>
          </p:nvSpPr>
          <p:spPr>
            <a:xfrm>
              <a:off x="761695" y="3467405"/>
              <a:ext cx="7810805" cy="390449"/>
            </a:xfrm>
            <a:prstGeom prst="roundRect">
              <a:avLst>
                <a:gd name="adj" fmla="val 19438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Shape 19">
              <a:extLst>
                <a:ext uri="{FF2B5EF4-FFF2-40B4-BE49-F238E27FC236}">
                  <a16:creationId xmlns:a16="http://schemas.microsoft.com/office/drawing/2014/main" id="{E84385F5-F229-2C7A-58EA-D950843D6ED3}"/>
                </a:ext>
              </a:extLst>
            </p:cNvPr>
            <p:cNvSpPr/>
            <p:nvPr/>
          </p:nvSpPr>
          <p:spPr>
            <a:xfrm>
              <a:off x="761695" y="3467405"/>
              <a:ext cx="38405" cy="390449"/>
            </a:xfrm>
            <a:prstGeom prst="roundRect">
              <a:avLst>
                <a:gd name="adj" fmla="val 197618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2" name="Image 15" descr="gen-dedup-56afd82cbf113de95c76d41a73af938d.png">
              <a:extLst>
                <a:ext uri="{FF2B5EF4-FFF2-40B4-BE49-F238E27FC236}">
                  <a16:creationId xmlns:a16="http://schemas.microsoft.com/office/drawing/2014/main" id="{06663873-A84B-AB7C-DBCE-FF45EFD09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100" b="-1100"/>
            <a:stretch/>
          </p:blipFill>
          <p:spPr>
            <a:xfrm>
              <a:off x="952805" y="3581705"/>
              <a:ext cx="114300" cy="133502"/>
            </a:xfrm>
            <a:prstGeom prst="rect">
              <a:avLst/>
            </a:prstGeom>
          </p:spPr>
        </p:pic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85AF512C-D88C-A924-6019-EF8CD9398DA1}"/>
                </a:ext>
              </a:extLst>
            </p:cNvPr>
            <p:cNvSpPr txBox="1"/>
            <p:nvPr/>
          </p:nvSpPr>
          <p:spPr>
            <a:xfrm>
              <a:off x="1181405" y="3562502"/>
              <a:ext cx="7553858" cy="2002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Automatic TRT data collection upon Signal detection</a:t>
              </a:r>
              <a:r>
                <a:rPr lang="en-US" sz="10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 (transaction pulls, report assembly, context gathering)</a:t>
              </a:r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Shape 21">
              <a:extLst>
                <a:ext uri="{FF2B5EF4-FFF2-40B4-BE49-F238E27FC236}">
                  <a16:creationId xmlns:a16="http://schemas.microsoft.com/office/drawing/2014/main" id="{D2427B80-90B5-D8F6-26F6-B5AF64640C2E}"/>
                </a:ext>
              </a:extLst>
            </p:cNvPr>
            <p:cNvSpPr/>
            <p:nvPr/>
          </p:nvSpPr>
          <p:spPr>
            <a:xfrm>
              <a:off x="761695" y="3933749"/>
              <a:ext cx="7810805" cy="390449"/>
            </a:xfrm>
            <a:prstGeom prst="roundRect">
              <a:avLst>
                <a:gd name="adj" fmla="val 19438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Shape 22">
              <a:extLst>
                <a:ext uri="{FF2B5EF4-FFF2-40B4-BE49-F238E27FC236}">
                  <a16:creationId xmlns:a16="http://schemas.microsoft.com/office/drawing/2014/main" id="{3FAA02AA-5ED1-EDC1-AF53-86C2CAE648FD}"/>
                </a:ext>
              </a:extLst>
            </p:cNvPr>
            <p:cNvSpPr/>
            <p:nvPr/>
          </p:nvSpPr>
          <p:spPr>
            <a:xfrm>
              <a:off x="761695" y="3933749"/>
              <a:ext cx="38405" cy="390449"/>
            </a:xfrm>
            <a:prstGeom prst="roundRect">
              <a:avLst>
                <a:gd name="adj" fmla="val 197618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0" name="Image 16" descr="gen-dedup-56afd82cbf113de95c76d41a73af938d.png">
              <a:extLst>
                <a:ext uri="{FF2B5EF4-FFF2-40B4-BE49-F238E27FC236}">
                  <a16:creationId xmlns:a16="http://schemas.microsoft.com/office/drawing/2014/main" id="{385A61FB-B7BC-371F-7E0D-231319346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100" b="-1100"/>
            <a:stretch/>
          </p:blipFill>
          <p:spPr>
            <a:xfrm>
              <a:off x="952805" y="4048049"/>
              <a:ext cx="114300" cy="133502"/>
            </a:xfrm>
            <a:prstGeom prst="rect">
              <a:avLst/>
            </a:prstGeom>
          </p:spPr>
        </p:pic>
        <p:sp>
          <p:nvSpPr>
            <p:cNvPr id="62" name="Text 23">
              <a:extLst>
                <a:ext uri="{FF2B5EF4-FFF2-40B4-BE49-F238E27FC236}">
                  <a16:creationId xmlns:a16="http://schemas.microsoft.com/office/drawing/2014/main" id="{5499823A-EE85-B453-5E5A-3F2C4E9F14EA}"/>
                </a:ext>
              </a:extLst>
            </p:cNvPr>
            <p:cNvSpPr txBox="1"/>
            <p:nvPr/>
          </p:nvSpPr>
          <p:spPr>
            <a:xfrm>
              <a:off x="1181405" y="4028846"/>
              <a:ext cx="5181905" cy="2002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 b="1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Agent-initiated workflow</a:t>
              </a:r>
              <a:r>
                <a:rPr lang="en-US" sz="10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 starting from TRT Signal</a:t>
              </a:r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Shape 24">
              <a:extLst>
                <a:ext uri="{FF2B5EF4-FFF2-40B4-BE49-F238E27FC236}">
                  <a16:creationId xmlns:a16="http://schemas.microsoft.com/office/drawing/2014/main" id="{E063439F-5BCE-FC8B-65E0-6464609A9349}"/>
                </a:ext>
              </a:extLst>
            </p:cNvPr>
            <p:cNvSpPr/>
            <p:nvPr/>
          </p:nvSpPr>
          <p:spPr>
            <a:xfrm>
              <a:off x="761695" y="4401007"/>
              <a:ext cx="7810805" cy="390449"/>
            </a:xfrm>
            <a:prstGeom prst="roundRect">
              <a:avLst>
                <a:gd name="adj" fmla="val 19438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Shape 25">
              <a:extLst>
                <a:ext uri="{FF2B5EF4-FFF2-40B4-BE49-F238E27FC236}">
                  <a16:creationId xmlns:a16="http://schemas.microsoft.com/office/drawing/2014/main" id="{B4509034-632E-7B19-BB7B-83B1DCAD78CD}"/>
                </a:ext>
              </a:extLst>
            </p:cNvPr>
            <p:cNvSpPr/>
            <p:nvPr/>
          </p:nvSpPr>
          <p:spPr>
            <a:xfrm>
              <a:off x="761695" y="4401007"/>
              <a:ext cx="38405" cy="390449"/>
            </a:xfrm>
            <a:prstGeom prst="roundRect">
              <a:avLst>
                <a:gd name="adj" fmla="val 197618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8" name="Image 17" descr="gen-dedup-56afd82cbf113de95c76d41a73af938d.png">
              <a:extLst>
                <a:ext uri="{FF2B5EF4-FFF2-40B4-BE49-F238E27FC236}">
                  <a16:creationId xmlns:a16="http://schemas.microsoft.com/office/drawing/2014/main" id="{DE8CC989-3E01-BDA8-9CCE-55C27E926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100" b="-1100"/>
            <a:stretch/>
          </p:blipFill>
          <p:spPr>
            <a:xfrm>
              <a:off x="952805" y="4515307"/>
              <a:ext cx="114300" cy="133502"/>
            </a:xfrm>
            <a:prstGeom prst="rect">
              <a:avLst/>
            </a:prstGeom>
          </p:spPr>
        </p:pic>
        <p:sp>
          <p:nvSpPr>
            <p:cNvPr id="70" name="Text 26">
              <a:extLst>
                <a:ext uri="{FF2B5EF4-FFF2-40B4-BE49-F238E27FC236}">
                  <a16:creationId xmlns:a16="http://schemas.microsoft.com/office/drawing/2014/main" id="{529D5560-F3DF-4E95-8A0D-35184E362758}"/>
                </a:ext>
              </a:extLst>
            </p:cNvPr>
            <p:cNvSpPr txBox="1"/>
            <p:nvPr/>
          </p:nvSpPr>
          <p:spPr>
            <a:xfrm>
              <a:off x="1181405" y="4496105"/>
              <a:ext cx="4677156" cy="2002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UI to upload and process event data with visual TRT dashboard</a:t>
              </a:r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Shape 27">
              <a:extLst>
                <a:ext uri="{FF2B5EF4-FFF2-40B4-BE49-F238E27FC236}">
                  <a16:creationId xmlns:a16="http://schemas.microsoft.com/office/drawing/2014/main" id="{1E1CEA2C-1D31-8432-8FE7-DE83B98E45A9}"/>
                </a:ext>
              </a:extLst>
            </p:cNvPr>
            <p:cNvSpPr/>
            <p:nvPr/>
          </p:nvSpPr>
          <p:spPr>
            <a:xfrm>
              <a:off x="761695" y="4867351"/>
              <a:ext cx="7810805" cy="390449"/>
            </a:xfrm>
            <a:prstGeom prst="roundRect">
              <a:avLst>
                <a:gd name="adj" fmla="val 19438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Shape 28">
              <a:extLst>
                <a:ext uri="{FF2B5EF4-FFF2-40B4-BE49-F238E27FC236}">
                  <a16:creationId xmlns:a16="http://schemas.microsoft.com/office/drawing/2014/main" id="{B58E4E09-9D80-F1AE-6844-2C8FD29D31B9}"/>
                </a:ext>
              </a:extLst>
            </p:cNvPr>
            <p:cNvSpPr/>
            <p:nvPr/>
          </p:nvSpPr>
          <p:spPr>
            <a:xfrm>
              <a:off x="761695" y="4867351"/>
              <a:ext cx="38405" cy="390449"/>
            </a:xfrm>
            <a:prstGeom prst="roundRect">
              <a:avLst>
                <a:gd name="adj" fmla="val 197618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76" name="Image 18" descr="gen-dedup-56afd82cbf113de95c76d41a73af938d.png">
              <a:extLst>
                <a:ext uri="{FF2B5EF4-FFF2-40B4-BE49-F238E27FC236}">
                  <a16:creationId xmlns:a16="http://schemas.microsoft.com/office/drawing/2014/main" id="{357AE708-D4DF-489D-D4F3-3A619FA32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100" b="-1100"/>
            <a:stretch/>
          </p:blipFill>
          <p:spPr>
            <a:xfrm>
              <a:off x="952805" y="4981651"/>
              <a:ext cx="114300" cy="133502"/>
            </a:xfrm>
            <a:prstGeom prst="rect">
              <a:avLst/>
            </a:prstGeom>
          </p:spPr>
        </p:pic>
        <p:sp>
          <p:nvSpPr>
            <p:cNvPr id="78" name="Text 29">
              <a:extLst>
                <a:ext uri="{FF2B5EF4-FFF2-40B4-BE49-F238E27FC236}">
                  <a16:creationId xmlns:a16="http://schemas.microsoft.com/office/drawing/2014/main" id="{425B40FF-0304-9DF5-CF73-E6864F18F789}"/>
                </a:ext>
              </a:extLst>
            </p:cNvPr>
            <p:cNvSpPr txBox="1"/>
            <p:nvPr/>
          </p:nvSpPr>
          <p:spPr>
            <a:xfrm>
              <a:off x="1181405" y="4962449"/>
              <a:ext cx="5429707" cy="2002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Event-level analysis and contextual enrichment with root cause explanation</a:t>
              </a:r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Shape 30">
              <a:extLst>
                <a:ext uri="{FF2B5EF4-FFF2-40B4-BE49-F238E27FC236}">
                  <a16:creationId xmlns:a16="http://schemas.microsoft.com/office/drawing/2014/main" id="{CC79AEED-60F8-8C79-64F5-D474712B7F98}"/>
                </a:ext>
              </a:extLst>
            </p:cNvPr>
            <p:cNvSpPr/>
            <p:nvPr/>
          </p:nvSpPr>
          <p:spPr>
            <a:xfrm>
              <a:off x="761695" y="5333695"/>
              <a:ext cx="7810805" cy="390449"/>
            </a:xfrm>
            <a:prstGeom prst="roundRect">
              <a:avLst>
                <a:gd name="adj" fmla="val 19438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56DCA033-5E01-B076-6EA8-A5181048A8F3}"/>
                </a:ext>
              </a:extLst>
            </p:cNvPr>
            <p:cNvSpPr/>
            <p:nvPr/>
          </p:nvSpPr>
          <p:spPr>
            <a:xfrm>
              <a:off x="761695" y="5333695"/>
              <a:ext cx="38405" cy="390449"/>
            </a:xfrm>
            <a:prstGeom prst="roundRect">
              <a:avLst>
                <a:gd name="adj" fmla="val 197618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4" name="Image 19" descr="gen-dedup-56afd82cbf113de95c76d41a73af938d.png">
              <a:extLst>
                <a:ext uri="{FF2B5EF4-FFF2-40B4-BE49-F238E27FC236}">
                  <a16:creationId xmlns:a16="http://schemas.microsoft.com/office/drawing/2014/main" id="{EE87A94C-25A8-4E27-A3B4-A06849A02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100" b="-1100"/>
            <a:stretch/>
          </p:blipFill>
          <p:spPr>
            <a:xfrm>
              <a:off x="952805" y="5447995"/>
              <a:ext cx="114300" cy="133502"/>
            </a:xfrm>
            <a:prstGeom prst="rect">
              <a:avLst/>
            </a:prstGeom>
          </p:spPr>
        </p:pic>
        <p:sp>
          <p:nvSpPr>
            <p:cNvPr id="86" name="Text 32">
              <a:extLst>
                <a:ext uri="{FF2B5EF4-FFF2-40B4-BE49-F238E27FC236}">
                  <a16:creationId xmlns:a16="http://schemas.microsoft.com/office/drawing/2014/main" id="{DCF08664-853D-A98B-ECCB-04148392E8F0}"/>
                </a:ext>
              </a:extLst>
            </p:cNvPr>
            <p:cNvSpPr txBox="1"/>
            <p:nvPr/>
          </p:nvSpPr>
          <p:spPr>
            <a:xfrm>
              <a:off x="1181405" y="5429707"/>
              <a:ext cx="4849063" cy="2002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Recommended actions generation and TRT workflow acceleration</a:t>
              </a:r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Shape 33">
              <a:extLst>
                <a:ext uri="{FF2B5EF4-FFF2-40B4-BE49-F238E27FC236}">
                  <a16:creationId xmlns:a16="http://schemas.microsoft.com/office/drawing/2014/main" id="{778DB6E2-9601-2A8B-FDFB-D3E4E6C72B13}"/>
                </a:ext>
              </a:extLst>
            </p:cNvPr>
            <p:cNvSpPr/>
            <p:nvPr/>
          </p:nvSpPr>
          <p:spPr>
            <a:xfrm>
              <a:off x="761695" y="5800954"/>
              <a:ext cx="7810805" cy="390449"/>
            </a:xfrm>
            <a:prstGeom prst="roundRect">
              <a:avLst>
                <a:gd name="adj" fmla="val 19438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Shape 34">
              <a:extLst>
                <a:ext uri="{FF2B5EF4-FFF2-40B4-BE49-F238E27FC236}">
                  <a16:creationId xmlns:a16="http://schemas.microsoft.com/office/drawing/2014/main" id="{98B473D9-72A3-066A-5371-0BE96444AED5}"/>
                </a:ext>
              </a:extLst>
            </p:cNvPr>
            <p:cNvSpPr/>
            <p:nvPr/>
          </p:nvSpPr>
          <p:spPr>
            <a:xfrm>
              <a:off x="761695" y="5800954"/>
              <a:ext cx="38405" cy="390449"/>
            </a:xfrm>
            <a:prstGeom prst="roundRect">
              <a:avLst>
                <a:gd name="adj" fmla="val 197618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92" name="Image 20" descr="gen-dedup-56afd82cbf113de95c76d41a73af938d.png">
              <a:extLst>
                <a:ext uri="{FF2B5EF4-FFF2-40B4-BE49-F238E27FC236}">
                  <a16:creationId xmlns:a16="http://schemas.microsoft.com/office/drawing/2014/main" id="{83CAA0E4-5625-CB9D-3A01-385B7C319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-1100" b="-1100"/>
            <a:stretch/>
          </p:blipFill>
          <p:spPr>
            <a:xfrm>
              <a:off x="952805" y="5915254"/>
              <a:ext cx="114300" cy="133502"/>
            </a:xfrm>
            <a:prstGeom prst="rect">
              <a:avLst/>
            </a:prstGeom>
          </p:spPr>
        </p:pic>
        <p:sp>
          <p:nvSpPr>
            <p:cNvPr id="94" name="Text 35">
              <a:extLst>
                <a:ext uri="{FF2B5EF4-FFF2-40B4-BE49-F238E27FC236}">
                  <a16:creationId xmlns:a16="http://schemas.microsoft.com/office/drawing/2014/main" id="{5FED3AC9-D3D4-D711-D679-76D97EE86E3C}"/>
                </a:ext>
              </a:extLst>
            </p:cNvPr>
            <p:cNvSpPr txBox="1"/>
            <p:nvPr/>
          </p:nvSpPr>
          <p:spPr>
            <a:xfrm>
              <a:off x="1181405" y="5896051"/>
              <a:ext cx="4353458" cy="20025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AI-powered chat-bot for interactive querying of event data</a:t>
              </a:r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45720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User Journey: Agent-Initiated Proactive TRT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237744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CFD8EA"/>
                </a:solidFill>
                <a:latin typeface="Arial"/>
              </a:rPr>
              <a:t>The AI Agent autonomously prepares the event before the analyst logs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384048"/>
          </a:xfrm>
          <a:prstGeom prst="roundRect">
            <a:avLst>
              <a:gd name="adj" fmla="val 10000"/>
            </a:avLst>
          </a:prstGeom>
          <a:solidFill>
            <a:srgbClr val="0E1835"/>
          </a:solidFill>
          <a:ln w="15875">
            <a:solidFill>
              <a:srgbClr val="E84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91440" cy="384048"/>
          </a:xfrm>
          <a:prstGeom prst="rect">
            <a:avLst/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232416"/>
            <a:ext cx="10972800" cy="205215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FF6A3E"/>
                </a:solidFill>
                <a:latin typeface="Arial"/>
              </a:rPr>
              <a:t>KEY  ·  The agent </a:t>
            </a:r>
            <a:r>
              <a:rPr lang="en-US" sz="1100" b="1" i="0">
                <a:solidFill>
                  <a:srgbClr val="FF6A3E"/>
                </a:solidFill>
                <a:latin typeface="Arial"/>
              </a:rPr>
              <a:t>gets auto triggered</a:t>
            </a:r>
            <a:r>
              <a:rPr sz="1100" b="1" i="0">
                <a:solidFill>
                  <a:srgbClr val="FF6A3E"/>
                </a:solidFill>
                <a:latin typeface="Arial"/>
              </a:rPr>
              <a:t> from the </a:t>
            </a:r>
            <a:r>
              <a:rPr lang="en-US" sz="1100" b="1" i="0">
                <a:solidFill>
                  <a:srgbClr val="FF6A3E"/>
                </a:solidFill>
                <a:latin typeface="Arial"/>
              </a:rPr>
              <a:t>SafetyNet</a:t>
            </a:r>
            <a:r>
              <a:rPr sz="1100" b="1" i="0">
                <a:solidFill>
                  <a:srgbClr val="FF6A3E"/>
                </a:solidFill>
                <a:latin typeface="Arial"/>
              </a:rPr>
              <a:t> </a:t>
            </a:r>
            <a:r>
              <a:rPr lang="en-US" sz="1100" b="1" i="0">
                <a:solidFill>
                  <a:srgbClr val="FF6A3E"/>
                </a:solidFill>
                <a:latin typeface="Arial"/>
              </a:rPr>
              <a:t>Signals </a:t>
            </a:r>
            <a:r>
              <a:rPr sz="1100" b="1" i="0">
                <a:solidFill>
                  <a:srgbClr val="FF6A3E"/>
                </a:solidFill>
                <a:latin typeface="Arial"/>
              </a:rPr>
              <a:t>itself and does the data pull  —  no human trigger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141D38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3232" y="1920240"/>
            <a:ext cx="274320" cy="274320"/>
          </a:xfrm>
          <a:prstGeom prst="ellipse">
            <a:avLst/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920240"/>
            <a:ext cx="274320" cy="274320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38528"/>
            <a:ext cx="5486400" cy="256032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E84A26"/>
                </a:solidFill>
                <a:latin typeface="Arial"/>
              </a:rPr>
              <a:t>AGENT (Autonomous)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59152"/>
            <a:ext cx="1814169" cy="137160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7620">
            <a:solidFill>
              <a:srgbClr val="E84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5256" y="2487168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" y="2487168"/>
            <a:ext cx="256032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50592"/>
            <a:ext cx="1265529" cy="2926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TRT Signal Received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834640"/>
            <a:ext cx="1558137" cy="860073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Agent </a:t>
            </a:r>
            <a:r>
              <a:rPr lang="en-US" sz="900" b="0" i="0">
                <a:solidFill>
                  <a:srgbClr val="CFD8EA"/>
                </a:solidFill>
                <a:latin typeface="Arial"/>
              </a:rPr>
              <a:t>is </a:t>
            </a:r>
            <a:r>
              <a:rPr sz="900" b="0" i="0">
                <a:solidFill>
                  <a:srgbClr val="CFD8EA"/>
                </a:solidFill>
                <a:latin typeface="Arial"/>
              </a:rPr>
              <a:t>auto-trigger</a:t>
            </a:r>
            <a:r>
              <a:rPr lang="en-US" sz="900" b="0" i="0">
                <a:solidFill>
                  <a:srgbClr val="CFD8EA"/>
                </a:solidFill>
                <a:latin typeface="Arial"/>
              </a:rPr>
              <a:t>ed</a:t>
            </a:r>
            <a:r>
              <a:rPr sz="900" b="0" i="0">
                <a:solidFill>
                  <a:srgbClr val="CFD8EA"/>
                </a:solidFill>
                <a:latin typeface="Arial"/>
              </a:rPr>
              <a:t> on the </a:t>
            </a:r>
            <a:r>
              <a:rPr lang="en-US" sz="900">
                <a:solidFill>
                  <a:srgbClr val="CFD8EA"/>
                </a:solidFill>
                <a:latin typeface="Arial"/>
              </a:rPr>
              <a:t>TRT </a:t>
            </a:r>
            <a:r>
              <a:rPr sz="900" b="0" i="0">
                <a:solidFill>
                  <a:srgbClr val="CFD8EA"/>
                </a:solidFill>
                <a:latin typeface="Arial"/>
              </a:rPr>
              <a:t>signal </a:t>
            </a:r>
            <a:r>
              <a:rPr lang="en-US" sz="900" b="0" i="0">
                <a:solidFill>
                  <a:srgbClr val="CFD8EA"/>
                </a:solidFill>
                <a:latin typeface="Arial"/>
              </a:rPr>
              <a:t>from SafetyNet </a:t>
            </a:r>
            <a:r>
              <a:rPr sz="900" b="0" i="0">
                <a:solidFill>
                  <a:srgbClr val="CFD8EA"/>
                </a:solidFill>
                <a:latin typeface="Arial"/>
              </a:rPr>
              <a:t>generated by SafetyNet (scheduled or event-based).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719425" y="2953512"/>
            <a:ext cx="256032" cy="182880"/>
          </a:xfrm>
          <a:prstGeom prst="rightArrow">
            <a:avLst/>
          </a:prstGeom>
          <a:solidFill>
            <a:srgbClr val="2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975457" y="2359152"/>
            <a:ext cx="1814169" cy="137160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7620">
            <a:solidFill>
              <a:srgbClr val="E84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03473" y="2487168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103473" y="2487168"/>
            <a:ext cx="256032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32657" y="2450592"/>
            <a:ext cx="1265529" cy="2926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Agent Pulls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1761" y="2834640"/>
            <a:ext cx="1558137" cy="51664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Agent autonomously runs queries against </a:t>
            </a:r>
            <a:r>
              <a:rPr lang="en-US" sz="900" b="0" i="0">
                <a:solidFill>
                  <a:srgbClr val="CFD8EA"/>
                </a:solidFill>
                <a:latin typeface="Arial"/>
              </a:rPr>
              <a:t>DB</a:t>
            </a:r>
            <a:r>
              <a:rPr sz="900" b="0" i="0">
                <a:solidFill>
                  <a:srgbClr val="CFD8EA"/>
                </a:solidFill>
                <a:latin typeface="Arial"/>
              </a:rPr>
              <a:t>/ data lake for fresh transactions.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917643" y="2953512"/>
            <a:ext cx="256032" cy="182880"/>
          </a:xfrm>
          <a:prstGeom prst="rightArrow">
            <a:avLst/>
          </a:prstGeom>
          <a:solidFill>
            <a:srgbClr val="2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173675" y="2359152"/>
            <a:ext cx="1814169" cy="137160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7620">
            <a:solidFill>
              <a:srgbClr val="E84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301691" y="2487168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1691" y="2487168"/>
            <a:ext cx="256032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0875" y="2450592"/>
            <a:ext cx="1265529" cy="2926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Assemble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9979" y="2834640"/>
            <a:ext cx="1558137" cy="51664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Agent auto-generates the </a:t>
            </a:r>
            <a:r>
              <a:rPr lang="en-US" sz="900" b="0" i="0">
                <a:solidFill>
                  <a:srgbClr val="CFD8EA"/>
                </a:solidFill>
                <a:latin typeface="Arial"/>
              </a:rPr>
              <a:t>TRT</a:t>
            </a:r>
            <a:r>
              <a:rPr sz="900" b="0" i="0">
                <a:solidFill>
                  <a:srgbClr val="CFD8EA"/>
                </a:solidFill>
                <a:latin typeface="Arial"/>
              </a:rPr>
              <a:t> Excel / dataset from the pulled data.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15860" y="2953512"/>
            <a:ext cx="256032" cy="182880"/>
          </a:xfrm>
          <a:prstGeom prst="rightArrow">
            <a:avLst/>
          </a:prstGeom>
          <a:solidFill>
            <a:srgbClr val="2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71892" y="2359152"/>
            <a:ext cx="1814169" cy="137160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7620">
            <a:solidFill>
              <a:srgbClr val="E84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99908" y="2487168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9908" y="2487168"/>
            <a:ext cx="256032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9092" y="2450592"/>
            <a:ext cx="1265529" cy="2926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Analyze &amp; Enrich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8196" y="2834640"/>
            <a:ext cx="1558137" cy="82296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Computes metrics, gate proximity, similarity to past events.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314078" y="2953512"/>
            <a:ext cx="256032" cy="182880"/>
          </a:xfrm>
          <a:prstGeom prst="rightArrow">
            <a:avLst/>
          </a:prstGeom>
          <a:solidFill>
            <a:srgbClr val="2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570110" y="2359152"/>
            <a:ext cx="1814169" cy="137160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7620">
            <a:solidFill>
              <a:srgbClr val="E84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698126" y="2487168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98126" y="2487168"/>
            <a:ext cx="256032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7310" y="2450592"/>
            <a:ext cx="1265529" cy="2926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Draft Actions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6414" y="2834640"/>
            <a:ext cx="1558137" cy="82296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Prepares explainable summary and suggested actions.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97135" y="3749039"/>
            <a:ext cx="1554480" cy="274320"/>
          </a:xfrm>
          <a:prstGeom prst="roundRect">
            <a:avLst>
              <a:gd name="adj" fmla="val 30000"/>
            </a:avLst>
          </a:prstGeom>
          <a:solidFill>
            <a:srgbClr val="0E1835"/>
          </a:solidFill>
          <a:ln w="12700">
            <a:solidFill>
              <a:srgbClr val="E84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997135" y="3749039"/>
            <a:ext cx="1554480" cy="274320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900" b="1" i="0">
                <a:solidFill>
                  <a:srgbClr val="FF6A3E"/>
                </a:solidFill>
                <a:latin typeface="Arial"/>
              </a:rPr>
              <a:t>Handoff ready event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10719511" y="4041647"/>
            <a:ext cx="109728" cy="146304"/>
          </a:xfrm>
          <a:prstGeom prst="downArrow">
            <a:avLst/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502920" y="4133087"/>
            <a:ext cx="11155680" cy="2084831"/>
          </a:xfrm>
          <a:prstGeom prst="roundRect">
            <a:avLst>
              <a:gd name="adj" fmla="val 5000"/>
            </a:avLst>
          </a:prstGeom>
          <a:solidFill>
            <a:srgbClr val="141D38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13232" y="4315968"/>
            <a:ext cx="274320" cy="274320"/>
          </a:xfrm>
          <a:prstGeom prst="ellipse">
            <a:avLst/>
          </a:prstGeom>
          <a:solidFill>
            <a:srgbClr val="CF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" y="4315968"/>
            <a:ext cx="274320" cy="274320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0A142D"/>
                </a:solidFill>
                <a:latin typeface="Arial"/>
              </a:rPr>
              <a:t>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334255"/>
            <a:ext cx="5486400" cy="256032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ANALYST (Human-in-loop)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975457" y="4791455"/>
            <a:ext cx="1814169" cy="128016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762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3103473" y="4919471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103473" y="4919471"/>
            <a:ext cx="256032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32657" y="4882895"/>
            <a:ext cx="1265529" cy="2926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Review Event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21761" y="5266944"/>
            <a:ext cx="1558137" cy="731519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Analyst opens pre-analyzed dashboard with AI insights.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4917643" y="5340096"/>
            <a:ext cx="256032" cy="182880"/>
          </a:xfrm>
          <a:prstGeom prst="rightArrow">
            <a:avLst/>
          </a:prstGeom>
          <a:solidFill>
            <a:srgbClr val="2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5173675" y="4791455"/>
            <a:ext cx="1814169" cy="128016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762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301691" y="4919471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301691" y="4919471"/>
            <a:ext cx="256032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30875" y="4882895"/>
            <a:ext cx="1265529" cy="2926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Interrogate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19979" y="5266944"/>
            <a:ext cx="1558137" cy="731519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Asks follow-up questions via Co-Pilot chat interface.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115860" y="5340096"/>
            <a:ext cx="256032" cy="182880"/>
          </a:xfrm>
          <a:prstGeom prst="rightArrow">
            <a:avLst/>
          </a:prstGeom>
          <a:solidFill>
            <a:srgbClr val="2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371892" y="4791455"/>
            <a:ext cx="1814169" cy="128016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762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7499908" y="4919471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499908" y="4919471"/>
            <a:ext cx="256032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29092" y="4882895"/>
            <a:ext cx="1265529" cy="2926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Decide &amp; Action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18196" y="5266944"/>
            <a:ext cx="1558137" cy="731519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Approves / modifies / exports action packet to Operations.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9314078" y="5340096"/>
            <a:ext cx="256032" cy="182880"/>
          </a:xfrm>
          <a:prstGeom prst="rightArrow">
            <a:avLst/>
          </a:prstGeom>
          <a:solidFill>
            <a:srgbClr val="2A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570110" y="4791455"/>
            <a:ext cx="1814169" cy="128016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762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9698126" y="4919471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98126" y="4919471"/>
            <a:ext cx="256032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27310" y="4882895"/>
            <a:ext cx="1265529" cy="2926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Feedback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16414" y="5266944"/>
            <a:ext cx="1558137" cy="731519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Decision captured to Org Memory for future learning.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338560" y="6620256"/>
            <a:ext cx="457200" cy="18288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 i="0">
                <a:solidFill>
                  <a:srgbClr val="8E99B5"/>
                </a:solidFill>
                <a:latin typeface="Arial"/>
              </a:rPr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CE1180-A6B6-6F7F-0C4B-15842EB214FD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D31E0-A89B-66AF-8DB4-987D62824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b08de64b1e80077b607c2ab360f0c78.jpg">
            <a:extLst>
              <a:ext uri="{FF2B5EF4-FFF2-40B4-BE49-F238E27FC236}">
                <a16:creationId xmlns:a16="http://schemas.microsoft.com/office/drawing/2014/main" id="{21BE7615-4706-7C2D-D85A-117649FC97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AC2E06-D2DC-E276-5F1C-06E4139BD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67" y="323850"/>
            <a:ext cx="11034666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2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167AD-BBFA-2087-CBB6-ED87F7A4E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b08de64b1e80077b607c2ab360f0c78.jpg">
            <a:extLst>
              <a:ext uri="{FF2B5EF4-FFF2-40B4-BE49-F238E27FC236}">
                <a16:creationId xmlns:a16="http://schemas.microsoft.com/office/drawing/2014/main" id="{B8F6DA69-2F1E-B30D-2B1A-DD0036E2D2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3763D2-A4FD-B478-C965-04846E598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29" y="269724"/>
            <a:ext cx="11341350" cy="631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845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b08de64b1e80077b607c2ab360f0c78.jp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0" name="Shape 57"/>
          <p:cNvSpPr/>
          <p:nvPr/>
        </p:nvSpPr>
        <p:spPr>
          <a:xfrm>
            <a:off x="3019349" y="7680046"/>
            <a:ext cx="2771546" cy="9144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1" name="Image 21" descr="gen-dedup-c13c972ebace9fc74941bbc0b576ecd4.pn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173908" y="6759359"/>
            <a:ext cx="2457856" cy="14401"/>
          </a:xfrm>
          <a:prstGeom prst="rect">
            <a:avLst/>
          </a:prstGeom>
        </p:spPr>
      </p:pic>
      <p:pic>
        <p:nvPicPr>
          <p:cNvPr id="82" name="Image 22" descr="gen-dedup-7cbafcc75beeb88e33e4cd513f360593.png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022635" y="6691122"/>
            <a:ext cx="235743" cy="150875"/>
          </a:xfrm>
          <a:prstGeom prst="rect">
            <a:avLst/>
          </a:prstGeom>
        </p:spPr>
      </p:pic>
      <p:pic>
        <p:nvPicPr>
          <p:cNvPr id="83" name="Image 23" descr="gen-dedup-c75f2c8bcd4483fc1996e9794c31a4cb.png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3303499" y="6669634"/>
            <a:ext cx="235457" cy="188366"/>
          </a:xfrm>
          <a:prstGeom prst="rect">
            <a:avLst/>
          </a:prstGeom>
        </p:spPr>
      </p:pic>
      <p:pic>
        <p:nvPicPr>
          <p:cNvPr id="84" name="Image 24" descr="gen-dedup-0b97eb6fd5852e14ed1c8860739d256f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3580790" y="7513625"/>
            <a:ext cx="242316" cy="165506"/>
          </a:xfrm>
          <a:prstGeom prst="rect">
            <a:avLst/>
          </a:prstGeom>
        </p:spPr>
      </p:pic>
      <p:pic>
        <p:nvPicPr>
          <p:cNvPr id="85" name="Image 25" descr="gen-dedup-2a2990ecebe1affa3a3f12b0d854e67b.png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862260" y="6647688"/>
            <a:ext cx="238990" cy="210312"/>
          </a:xfrm>
          <a:prstGeom prst="rect">
            <a:avLst/>
          </a:prstGeom>
        </p:spPr>
      </p:pic>
      <p:pic>
        <p:nvPicPr>
          <p:cNvPr id="86" name="Image 26" descr="gen-dedup-8e33b3509585f440a6a85e856fe5c2f8.png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4143965" y="6676492"/>
            <a:ext cx="237022" cy="180136"/>
          </a:xfrm>
          <a:prstGeom prst="rect">
            <a:avLst/>
          </a:prstGeom>
        </p:spPr>
      </p:pic>
      <p:pic>
        <p:nvPicPr>
          <p:cNvPr id="87" name="Image 27" descr="gen-dedup-2ec4e5f6a9ad3d73bdae97a9f35b36ed.png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423816" y="6256325"/>
            <a:ext cx="238759" cy="601675"/>
          </a:xfrm>
          <a:prstGeom prst="rect">
            <a:avLst/>
          </a:prstGeom>
        </p:spPr>
      </p:pic>
      <p:pic>
        <p:nvPicPr>
          <p:cNvPr id="88" name="Image 28" descr="gen-dedup-504bc39a048cb3822feaf11ba49b96bc.png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4703826" y="6142939"/>
            <a:ext cx="238353" cy="715061"/>
          </a:xfrm>
          <a:prstGeom prst="rect">
            <a:avLst/>
          </a:prstGeom>
        </p:spPr>
      </p:pic>
      <p:pic>
        <p:nvPicPr>
          <p:cNvPr id="89" name="Image 29" descr="gen-dedup-aafad475f7fa33ae6fb4278cfeecb7af.png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4984477" y="6218834"/>
            <a:ext cx="238494" cy="639166"/>
          </a:xfrm>
          <a:prstGeom prst="rect">
            <a:avLst/>
          </a:prstGeom>
        </p:spPr>
      </p:pic>
      <p:pic>
        <p:nvPicPr>
          <p:cNvPr id="90" name="Image 30" descr="gen-dedup-4a542dd360d9bb1072d8e3fe7843a8d9.png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5265154" y="6180430"/>
            <a:ext cx="238580" cy="677570"/>
          </a:xfrm>
          <a:prstGeom prst="rect">
            <a:avLst/>
          </a:prstGeom>
        </p:spPr>
      </p:pic>
      <p:pic>
        <p:nvPicPr>
          <p:cNvPr id="91" name="Image 31" descr="gen-dedup-f1e113e7abe2214ae95f9d9fedf81ce2.png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5547599" y="6594653"/>
            <a:ext cx="235131" cy="263347"/>
          </a:xfrm>
          <a:prstGeom prst="rect">
            <a:avLst/>
          </a:prstGeom>
        </p:spPr>
      </p:pic>
      <p:pic>
        <p:nvPicPr>
          <p:cNvPr id="130" name="Picture 129">
            <a:extLst>
              <a:ext uri="{FF2B5EF4-FFF2-40B4-BE49-F238E27FC236}">
                <a16:creationId xmlns:a16="http://schemas.microsoft.com/office/drawing/2014/main" id="{F0E38A20-C000-F3B5-44C8-37BFA80FCCE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7530" y="317425"/>
            <a:ext cx="11509404" cy="629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006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b08de64b1e80077b607c2ab360f0c78.jp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C2E720DF-CD14-2025-3678-61AB56016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04" y="139622"/>
            <a:ext cx="11537160" cy="657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764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b08de64b1e80077b607c2ab360f0c78.jp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4" name="Text 85"/>
          <p:cNvSpPr txBox="1"/>
          <p:nvPr/>
        </p:nvSpPr>
        <p:spPr>
          <a:xfrm>
            <a:off x="10981581" y="2700336"/>
            <a:ext cx="1436396" cy="387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E651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Escalated</a:t>
            </a:r>
            <a:endParaRPr lang="en-US" sz="800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9E543D2-07B6-4023-B825-5AE9E037CEE4}"/>
              </a:ext>
            </a:extLst>
          </p:cNvPr>
          <p:cNvGrpSpPr/>
          <p:nvPr/>
        </p:nvGrpSpPr>
        <p:grpSpPr>
          <a:xfrm>
            <a:off x="381305" y="190196"/>
            <a:ext cx="11277295" cy="6464607"/>
            <a:chOff x="381305" y="190195"/>
            <a:chExt cx="11430914" cy="6706210"/>
          </a:xfrm>
        </p:grpSpPr>
        <p:pic>
          <p:nvPicPr>
            <p:cNvPr id="3" name="Image 1" descr="gen-dedup-8bcefb7619fcd7aa8cd8b25016bde2b6.png"/>
            <p:cNvPicPr>
              <a:picLocks noChangeAspect="1"/>
            </p:cNvPicPr>
            <p:nvPr/>
          </p:nvPicPr>
          <p:blipFill>
            <a:blip r:embed="rId4"/>
            <a:stretch/>
          </p:blipFill>
          <p:spPr>
            <a:xfrm>
              <a:off x="381305" y="306288"/>
              <a:ext cx="11430000" cy="6474023"/>
            </a:xfrm>
            <a:prstGeom prst="rect">
              <a:avLst/>
            </a:prstGeom>
          </p:spPr>
        </p:pic>
        <p:sp>
          <p:nvSpPr>
            <p:cNvPr id="4" name="Shape 0"/>
            <p:cNvSpPr/>
            <p:nvPr/>
          </p:nvSpPr>
          <p:spPr>
            <a:xfrm>
              <a:off x="381305" y="190195"/>
              <a:ext cx="11430000" cy="381305"/>
            </a:xfrm>
            <a:prstGeom prst="roundRect">
              <a:avLst>
                <a:gd name="adj" fmla="val 143885"/>
              </a:avLst>
            </a:prstGeom>
            <a:solidFill>
              <a:srgbClr val="E0E5E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Shape 1"/>
            <p:cNvSpPr/>
            <p:nvPr/>
          </p:nvSpPr>
          <p:spPr>
            <a:xfrm>
              <a:off x="381305" y="562356"/>
              <a:ext cx="11430000" cy="9144"/>
            </a:xfrm>
            <a:prstGeom prst="roundRect">
              <a:avLst>
                <a:gd name="adj" fmla="val 6000000"/>
              </a:avLst>
            </a:prstGeom>
            <a:solidFill>
              <a:srgbClr val="D1D8E0"/>
            </a:solidFill>
            <a:ln w="12700">
              <a:solidFill>
                <a:srgbClr val="D1D8E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2"/>
            <p:cNvSpPr/>
            <p:nvPr/>
          </p:nvSpPr>
          <p:spPr>
            <a:xfrm>
              <a:off x="533095" y="319126"/>
              <a:ext cx="114300" cy="114300"/>
            </a:xfrm>
            <a:prstGeom prst="ellipse">
              <a:avLst/>
            </a:prstGeom>
            <a:solidFill>
              <a:srgbClr val="FF5F5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3"/>
            <p:cNvSpPr/>
            <p:nvPr/>
          </p:nvSpPr>
          <p:spPr>
            <a:xfrm>
              <a:off x="724205" y="319126"/>
              <a:ext cx="114300" cy="114300"/>
            </a:xfrm>
            <a:prstGeom prst="ellipse">
              <a:avLst/>
            </a:prstGeom>
            <a:solidFill>
              <a:srgbClr val="FFBD2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4"/>
            <p:cNvSpPr/>
            <p:nvPr/>
          </p:nvSpPr>
          <p:spPr>
            <a:xfrm>
              <a:off x="914400" y="319126"/>
              <a:ext cx="114300" cy="114300"/>
            </a:xfrm>
            <a:prstGeom prst="ellipse">
              <a:avLst/>
            </a:prstGeom>
            <a:solidFill>
              <a:srgbClr val="27C93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2" descr="gen-dedup-e50e4c03eda4a98f8c72919838e0c03d.png"/>
            <p:cNvPicPr>
              <a:picLocks noChangeAspect="1"/>
            </p:cNvPicPr>
            <p:nvPr/>
          </p:nvPicPr>
          <p:blipFill>
            <a:blip r:embed="rId5"/>
            <a:srcRect t="-82" b="-82"/>
            <a:stretch/>
          </p:blipFill>
          <p:spPr>
            <a:xfrm>
              <a:off x="4200754" y="267005"/>
              <a:ext cx="4286707" cy="219456"/>
            </a:xfrm>
            <a:prstGeom prst="rect">
              <a:avLst/>
            </a:prstGeom>
          </p:spPr>
        </p:pic>
        <p:sp>
          <p:nvSpPr>
            <p:cNvPr id="10" name="Text 5"/>
            <p:cNvSpPr txBox="1"/>
            <p:nvPr/>
          </p:nvSpPr>
          <p:spPr>
            <a:xfrm>
              <a:off x="4903013" y="267005"/>
              <a:ext cx="3584448" cy="21945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trt.poc.apexon.mastercard.com/actions/TRT-2025-892</a:t>
              </a:r>
              <a:endParaRPr lang="en-US" sz="900"/>
            </a:p>
          </p:txBody>
        </p:sp>
        <p:sp>
          <p:nvSpPr>
            <p:cNvPr id="11" name="Shape 6"/>
            <p:cNvSpPr/>
            <p:nvPr/>
          </p:nvSpPr>
          <p:spPr>
            <a:xfrm>
              <a:off x="381305" y="571500"/>
              <a:ext cx="11430000" cy="5715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7"/>
            <p:cNvSpPr/>
            <p:nvPr/>
          </p:nvSpPr>
          <p:spPr>
            <a:xfrm>
              <a:off x="381305" y="1133856"/>
              <a:ext cx="11430000" cy="9144"/>
            </a:xfrm>
            <a:prstGeom prst="rect">
              <a:avLst/>
            </a:prstGeom>
            <a:solidFill>
              <a:srgbClr val="EEF2F5"/>
            </a:solidFill>
            <a:ln w="12700">
              <a:solidFill>
                <a:srgbClr val="EEF2F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8"/>
            <p:cNvSpPr txBox="1"/>
            <p:nvPr/>
          </p:nvSpPr>
          <p:spPr>
            <a:xfrm>
              <a:off x="857707" y="747979"/>
              <a:ext cx="3791102" cy="2103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>
                  <a:solidFill>
                    <a:srgbClr val="1A1F3E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Mastercard | APEXON</a:t>
              </a:r>
              <a:r>
                <a:rPr lang="en-US" sz="1300" b="1">
                  <a:solidFill>
                    <a:srgbClr val="FF6B3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.</a:t>
              </a:r>
              <a:r>
                <a:rPr lang="en-US" sz="1300" b="1">
                  <a:solidFill>
                    <a:srgbClr val="1A1F3E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 TRT </a:t>
              </a:r>
              <a:endParaRPr lang="en-US" sz="1300"/>
            </a:p>
          </p:txBody>
        </p:sp>
        <p:pic>
          <p:nvPicPr>
            <p:cNvPr id="14" name="Image 3" descr="gen-dedup-e4fca692a41f2766309a8b82123baa0d.png"/>
            <p:cNvPicPr>
              <a:picLocks noChangeAspect="1"/>
            </p:cNvPicPr>
            <p:nvPr/>
          </p:nvPicPr>
          <p:blipFill>
            <a:blip r:embed="rId6"/>
            <a:stretch/>
          </p:blipFill>
          <p:spPr>
            <a:xfrm>
              <a:off x="609905" y="786384"/>
              <a:ext cx="133502" cy="133502"/>
            </a:xfrm>
            <a:prstGeom prst="rect">
              <a:avLst/>
            </a:prstGeom>
          </p:spPr>
        </p:pic>
        <p:sp>
          <p:nvSpPr>
            <p:cNvPr id="15" name="Shape 9"/>
            <p:cNvSpPr/>
            <p:nvPr/>
          </p:nvSpPr>
          <p:spPr>
            <a:xfrm>
              <a:off x="3589020" y="747979"/>
              <a:ext cx="1057046" cy="209398"/>
            </a:xfrm>
            <a:prstGeom prst="roundRect">
              <a:avLst>
                <a:gd name="adj" fmla="val 158793"/>
              </a:avLst>
            </a:prstGeom>
            <a:solidFill>
              <a:srgbClr val="EEF2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0"/>
            <p:cNvSpPr txBox="1"/>
            <p:nvPr/>
          </p:nvSpPr>
          <p:spPr>
            <a:xfrm>
              <a:off x="3589020" y="747979"/>
              <a:ext cx="1057961" cy="21031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114300" tIns="38100" rIns="114300" bIns="3810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FF6B3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PoC Sandbox</a:t>
              </a:r>
              <a:endParaRPr lang="en-US" sz="800"/>
            </a:p>
          </p:txBody>
        </p:sp>
        <p:pic>
          <p:nvPicPr>
            <p:cNvPr id="17" name="Image 4" descr="gen-dedup-d6526fecf039dbb8eadca99507362367.png"/>
            <p:cNvPicPr>
              <a:picLocks noChangeAspect="1"/>
            </p:cNvPicPr>
            <p:nvPr/>
          </p:nvPicPr>
          <p:blipFill>
            <a:blip r:embed="rId7"/>
            <a:stretch/>
          </p:blipFill>
          <p:spPr>
            <a:xfrm>
              <a:off x="10744200" y="787735"/>
              <a:ext cx="114300" cy="129886"/>
            </a:xfrm>
            <a:prstGeom prst="rect">
              <a:avLst/>
            </a:prstGeom>
          </p:spPr>
        </p:pic>
        <p:pic>
          <p:nvPicPr>
            <p:cNvPr id="18" name="Image 5" descr="gen-dedup-91c4e46bf08850d446a9f270127e68cf.png"/>
            <p:cNvPicPr>
              <a:picLocks noChangeAspect="1"/>
            </p:cNvPicPr>
            <p:nvPr/>
          </p:nvPicPr>
          <p:blipFill>
            <a:blip r:embed="rId8"/>
            <a:stretch/>
          </p:blipFill>
          <p:spPr>
            <a:xfrm>
              <a:off x="11011205" y="795528"/>
              <a:ext cx="114300" cy="114300"/>
            </a:xfrm>
            <a:prstGeom prst="rect">
              <a:avLst/>
            </a:prstGeom>
          </p:spPr>
        </p:pic>
        <p:sp>
          <p:nvSpPr>
            <p:cNvPr id="19" name="Shape 11"/>
            <p:cNvSpPr/>
            <p:nvPr/>
          </p:nvSpPr>
          <p:spPr>
            <a:xfrm>
              <a:off x="11277295" y="700430"/>
              <a:ext cx="304495" cy="304495"/>
            </a:xfrm>
            <a:prstGeom prst="ellipse">
              <a:avLst/>
            </a:prstGeom>
            <a:solidFill>
              <a:srgbClr val="1A1F3E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2"/>
            <p:cNvSpPr/>
            <p:nvPr/>
          </p:nvSpPr>
          <p:spPr>
            <a:xfrm>
              <a:off x="11277295" y="700430"/>
              <a:ext cx="305410" cy="3054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AJ</a:t>
              </a:r>
              <a:endParaRPr lang="en-US" sz="900"/>
            </a:p>
          </p:txBody>
        </p:sp>
        <p:sp>
          <p:nvSpPr>
            <p:cNvPr id="21" name="Shape 13"/>
            <p:cNvSpPr/>
            <p:nvPr/>
          </p:nvSpPr>
          <p:spPr>
            <a:xfrm>
              <a:off x="381305" y="1143000"/>
              <a:ext cx="2095805" cy="5724144"/>
            </a:xfrm>
            <a:prstGeom prst="roundRect">
              <a:avLst>
                <a:gd name="adj" fmla="val 4760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14"/>
            <p:cNvSpPr/>
            <p:nvPr/>
          </p:nvSpPr>
          <p:spPr>
            <a:xfrm>
              <a:off x="2467966" y="1143000"/>
              <a:ext cx="9144" cy="5524805"/>
            </a:xfrm>
            <a:prstGeom prst="roundRect">
              <a:avLst>
                <a:gd name="adj" fmla="val 1090909"/>
              </a:avLst>
            </a:prstGeom>
            <a:solidFill>
              <a:srgbClr val="EEF2F5"/>
            </a:solidFill>
            <a:ln w="12700">
              <a:solidFill>
                <a:srgbClr val="EEF2F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5"/>
            <p:cNvSpPr txBox="1"/>
            <p:nvPr/>
          </p:nvSpPr>
          <p:spPr>
            <a:xfrm>
              <a:off x="896112" y="1371600"/>
              <a:ext cx="1571854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Dashboard</a:t>
              </a:r>
              <a:endParaRPr lang="en-US" sz="1000"/>
            </a:p>
          </p:txBody>
        </p:sp>
        <p:pic>
          <p:nvPicPr>
            <p:cNvPr id="24" name="Image 6" descr="gen-dedup-d14acae232bf67c4ed1e1e06aa6f9cca.png"/>
            <p:cNvPicPr>
              <a:picLocks noChangeAspect="1"/>
            </p:cNvPicPr>
            <p:nvPr/>
          </p:nvPicPr>
          <p:blipFill>
            <a:blip r:embed="rId9"/>
            <a:stretch/>
          </p:blipFill>
          <p:spPr>
            <a:xfrm>
              <a:off x="621097" y="1481328"/>
              <a:ext cx="149522" cy="133502"/>
            </a:xfrm>
            <a:prstGeom prst="rect">
              <a:avLst/>
            </a:prstGeom>
          </p:spPr>
        </p:pic>
        <p:sp>
          <p:nvSpPr>
            <p:cNvPr id="25" name="Text 16"/>
            <p:cNvSpPr txBox="1"/>
            <p:nvPr/>
          </p:nvSpPr>
          <p:spPr>
            <a:xfrm>
              <a:off x="896112" y="1762049"/>
              <a:ext cx="1571854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Events</a:t>
              </a:r>
              <a:endParaRPr lang="en-US" sz="1000"/>
            </a:p>
          </p:txBody>
        </p:sp>
        <p:pic>
          <p:nvPicPr>
            <p:cNvPr id="26" name="Image 7" descr="gen-dedup-d0fab1c5804306ca81564b71f6399980.png"/>
            <p:cNvPicPr>
              <a:picLocks noChangeAspect="1"/>
            </p:cNvPicPr>
            <p:nvPr/>
          </p:nvPicPr>
          <p:blipFill>
            <a:blip r:embed="rId10"/>
            <a:stretch/>
          </p:blipFill>
          <p:spPr>
            <a:xfrm>
              <a:off x="629107" y="1871777"/>
              <a:ext cx="133502" cy="133502"/>
            </a:xfrm>
            <a:prstGeom prst="rect">
              <a:avLst/>
            </a:prstGeom>
          </p:spPr>
        </p:pic>
        <p:sp>
          <p:nvSpPr>
            <p:cNvPr id="27" name="Text 17"/>
            <p:cNvSpPr txBox="1"/>
            <p:nvPr/>
          </p:nvSpPr>
          <p:spPr>
            <a:xfrm>
              <a:off x="896112" y="2152498"/>
              <a:ext cx="1571854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AI Co-Pilot</a:t>
              </a:r>
              <a:endParaRPr lang="en-US" sz="1000"/>
            </a:p>
          </p:txBody>
        </p:sp>
        <p:pic>
          <p:nvPicPr>
            <p:cNvPr id="28" name="Image 8" descr="gen-dedup-b2517ad89f07a4de1fd47154f968da6b.png"/>
            <p:cNvPicPr>
              <a:picLocks noChangeAspect="1"/>
            </p:cNvPicPr>
            <p:nvPr/>
          </p:nvPicPr>
          <p:blipFill>
            <a:blip r:embed="rId11"/>
            <a:stretch/>
          </p:blipFill>
          <p:spPr>
            <a:xfrm>
              <a:off x="612791" y="2262226"/>
              <a:ext cx="166135" cy="133502"/>
            </a:xfrm>
            <a:prstGeom prst="rect">
              <a:avLst/>
            </a:prstGeom>
          </p:spPr>
        </p:pic>
        <p:sp>
          <p:nvSpPr>
            <p:cNvPr id="29" name="Shape 18"/>
            <p:cNvSpPr/>
            <p:nvPr/>
          </p:nvSpPr>
          <p:spPr>
            <a:xfrm>
              <a:off x="381305" y="2542946"/>
              <a:ext cx="2085746" cy="352044"/>
            </a:xfrm>
            <a:prstGeom prst="rect">
              <a:avLst/>
            </a:prstGeom>
            <a:solidFill>
              <a:srgbClr val="FF6B35">
                <a:alpha val="10000"/>
              </a:srgbClr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9"/>
            <p:cNvSpPr/>
            <p:nvPr/>
          </p:nvSpPr>
          <p:spPr>
            <a:xfrm>
              <a:off x="2438705" y="2542946"/>
              <a:ext cx="28346" cy="352044"/>
            </a:xfrm>
            <a:prstGeom prst="rect">
              <a:avLst/>
            </a:prstGeom>
            <a:solidFill>
              <a:srgbClr val="FF6B35"/>
            </a:solidFill>
            <a:ln w="12700">
              <a:solidFill>
                <a:srgbClr val="FF6B3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20"/>
            <p:cNvSpPr txBox="1"/>
            <p:nvPr/>
          </p:nvSpPr>
          <p:spPr>
            <a:xfrm>
              <a:off x="896112" y="2542946"/>
              <a:ext cx="1314907" cy="35295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228600" tIns="101600" rIns="0" bIns="10160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FF6B3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Actions</a:t>
              </a:r>
              <a:endParaRPr lang="en-US" sz="1000"/>
            </a:p>
          </p:txBody>
        </p:sp>
        <p:pic>
          <p:nvPicPr>
            <p:cNvPr id="32" name="Image 9" descr="gen-dedup-470837206e388497c03a0fcbe21aef61.png"/>
            <p:cNvPicPr>
              <a:picLocks noChangeAspect="1"/>
            </p:cNvPicPr>
            <p:nvPr/>
          </p:nvPicPr>
          <p:blipFill>
            <a:blip r:embed="rId12"/>
            <a:stretch/>
          </p:blipFill>
          <p:spPr>
            <a:xfrm>
              <a:off x="637451" y="2652674"/>
              <a:ext cx="116814" cy="133502"/>
            </a:xfrm>
            <a:prstGeom prst="rect">
              <a:avLst/>
            </a:prstGeom>
          </p:spPr>
        </p:pic>
        <p:sp>
          <p:nvSpPr>
            <p:cNvPr id="33" name="Text 21"/>
            <p:cNvSpPr txBox="1"/>
            <p:nvPr/>
          </p:nvSpPr>
          <p:spPr>
            <a:xfrm>
              <a:off x="896112" y="2952750"/>
              <a:ext cx="1571854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Memory</a:t>
              </a:r>
              <a:endParaRPr lang="en-US" sz="1000"/>
            </a:p>
          </p:txBody>
        </p:sp>
        <p:pic>
          <p:nvPicPr>
            <p:cNvPr id="34" name="Image 10" descr="gen-dedup-38d8954cc37b87d5e8023d8733002b30.png"/>
            <p:cNvPicPr>
              <a:picLocks noChangeAspect="1"/>
            </p:cNvPicPr>
            <p:nvPr/>
          </p:nvPicPr>
          <p:blipFill>
            <a:blip r:embed="rId13"/>
            <a:stretch/>
          </p:blipFill>
          <p:spPr>
            <a:xfrm>
              <a:off x="629107" y="3043123"/>
              <a:ext cx="133502" cy="133502"/>
            </a:xfrm>
            <a:prstGeom prst="rect">
              <a:avLst/>
            </a:prstGeom>
          </p:spPr>
        </p:pic>
        <p:sp>
          <p:nvSpPr>
            <p:cNvPr id="35" name="Text 22"/>
            <p:cNvSpPr txBox="1"/>
            <p:nvPr/>
          </p:nvSpPr>
          <p:spPr>
            <a:xfrm>
              <a:off x="896112" y="6086246"/>
              <a:ext cx="1571854" cy="3529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Settings</a:t>
              </a:r>
              <a:endParaRPr lang="en-US" sz="1000"/>
            </a:p>
          </p:txBody>
        </p:sp>
        <p:pic>
          <p:nvPicPr>
            <p:cNvPr id="36" name="Image 11" descr="gen-dedup-61737b8d31fb99bb996904ba86630596.png"/>
            <p:cNvPicPr>
              <a:picLocks noChangeAspect="1"/>
            </p:cNvPicPr>
            <p:nvPr/>
          </p:nvPicPr>
          <p:blipFill>
            <a:blip r:embed="rId14"/>
            <a:stretch/>
          </p:blipFill>
          <p:spPr>
            <a:xfrm>
              <a:off x="629107" y="6195974"/>
              <a:ext cx="133502" cy="133502"/>
            </a:xfrm>
            <a:prstGeom prst="rect">
              <a:avLst/>
            </a:prstGeom>
          </p:spPr>
        </p:pic>
        <p:sp>
          <p:nvSpPr>
            <p:cNvPr id="37" name="Shape 23"/>
            <p:cNvSpPr/>
            <p:nvPr/>
          </p:nvSpPr>
          <p:spPr>
            <a:xfrm>
              <a:off x="2628900" y="1295705"/>
              <a:ext cx="1257300" cy="2057400"/>
            </a:xfrm>
            <a:prstGeom prst="roundRect">
              <a:avLst>
                <a:gd name="adj" fmla="val 8815"/>
              </a:avLst>
            </a:prstGeom>
            <a:solidFill>
              <a:srgbClr val="FFFFFF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24"/>
            <p:cNvSpPr txBox="1"/>
            <p:nvPr/>
          </p:nvSpPr>
          <p:spPr>
            <a:xfrm>
              <a:off x="2905049" y="1419149"/>
              <a:ext cx="1149401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Block/Monitor</a:t>
              </a:r>
              <a:endParaRPr lang="en-US" sz="900"/>
            </a:p>
          </p:txBody>
        </p:sp>
        <p:pic>
          <p:nvPicPr>
            <p:cNvPr id="39" name="Image 12" descr="gen-dedup-5707f30b56a00f52672abc03a4d42dca.png"/>
            <p:cNvPicPr>
              <a:picLocks noChangeAspect="1"/>
            </p:cNvPicPr>
            <p:nvPr/>
          </p:nvPicPr>
          <p:blipFill>
            <a:blip r:embed="rId15"/>
            <a:stretch/>
          </p:blipFill>
          <p:spPr>
            <a:xfrm>
              <a:off x="2752344" y="1447952"/>
              <a:ext cx="95098" cy="95098"/>
            </a:xfrm>
            <a:prstGeom prst="rect">
              <a:avLst/>
            </a:prstGeom>
          </p:spPr>
        </p:pic>
        <p:sp>
          <p:nvSpPr>
            <p:cNvPr id="40" name="Text 25"/>
            <p:cNvSpPr txBox="1"/>
            <p:nvPr/>
          </p:nvSpPr>
          <p:spPr>
            <a:xfrm>
              <a:off x="2752344" y="1628546"/>
              <a:ext cx="1010412" cy="10104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Monitor traffic for 24h, alert if velocity exceeds 500 </a:t>
              </a:r>
              <a:r>
                <a:rPr lang="en-US" sz="800" err="1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txns</a:t>
              </a:r>
              <a:r>
                <a:rPr lang="en-US" sz="8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/hr</a:t>
              </a:r>
              <a:endParaRPr lang="en-US" sz="800"/>
            </a:p>
          </p:txBody>
        </p:sp>
        <p:sp>
          <p:nvSpPr>
            <p:cNvPr id="47" name="Shape 30"/>
            <p:cNvSpPr/>
            <p:nvPr/>
          </p:nvSpPr>
          <p:spPr>
            <a:xfrm>
              <a:off x="3999586" y="1295705"/>
              <a:ext cx="1000354" cy="2057400"/>
            </a:xfrm>
            <a:prstGeom prst="roundRect">
              <a:avLst>
                <a:gd name="adj" fmla="val 13929"/>
              </a:avLst>
            </a:prstGeom>
            <a:solidFill>
              <a:srgbClr val="FFFFFF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 31"/>
            <p:cNvSpPr txBox="1"/>
            <p:nvPr/>
          </p:nvSpPr>
          <p:spPr>
            <a:xfrm>
              <a:off x="4276649" y="1419149"/>
              <a:ext cx="59984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Whitelist Merchant</a:t>
              </a:r>
              <a:endParaRPr lang="en-US" sz="900"/>
            </a:p>
          </p:txBody>
        </p:sp>
        <p:pic>
          <p:nvPicPr>
            <p:cNvPr id="49" name="Image 15" descr="gen-dedup-1e567bea8ffa6d0b2c36f5ad133aeebc.png"/>
            <p:cNvPicPr>
              <a:picLocks noChangeAspect="1"/>
            </p:cNvPicPr>
            <p:nvPr/>
          </p:nvPicPr>
          <p:blipFill>
            <a:blip r:embed="rId16"/>
            <a:stretch/>
          </p:blipFill>
          <p:spPr>
            <a:xfrm>
              <a:off x="4123944" y="1523847"/>
              <a:ext cx="95098" cy="95098"/>
            </a:xfrm>
            <a:prstGeom prst="rect">
              <a:avLst/>
            </a:prstGeom>
          </p:spPr>
        </p:pic>
        <p:sp>
          <p:nvSpPr>
            <p:cNvPr id="57" name="Shape 37"/>
            <p:cNvSpPr/>
            <p:nvPr/>
          </p:nvSpPr>
          <p:spPr>
            <a:xfrm>
              <a:off x="5114239" y="1295705"/>
              <a:ext cx="1037844" cy="2057400"/>
            </a:xfrm>
            <a:prstGeom prst="roundRect">
              <a:avLst>
                <a:gd name="adj" fmla="val 12933"/>
              </a:avLst>
            </a:prstGeom>
            <a:solidFill>
              <a:srgbClr val="FFFFFF"/>
            </a:solidFill>
            <a:ln w="25400">
              <a:solidFill>
                <a:srgbClr val="FF6B35"/>
              </a:solidFill>
              <a:prstDash val="solid"/>
            </a:ln>
            <a:effectLst>
              <a:outerShdw blurRad="114300" dist="38100" dir="16200000" algn="bl" rotWithShape="0">
                <a:srgbClr val="FF6B35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Shape 38"/>
            <p:cNvSpPr/>
            <p:nvPr/>
          </p:nvSpPr>
          <p:spPr>
            <a:xfrm>
              <a:off x="5190134" y="1218895"/>
              <a:ext cx="847649" cy="142646"/>
            </a:xfrm>
            <a:prstGeom prst="roundRect">
              <a:avLst>
                <a:gd name="adj" fmla="val 641027"/>
              </a:avLst>
            </a:prstGeom>
            <a:solidFill>
              <a:srgbClr val="FF6B3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39"/>
            <p:cNvSpPr/>
            <p:nvPr/>
          </p:nvSpPr>
          <p:spPr>
            <a:xfrm>
              <a:off x="5190134" y="1218895"/>
              <a:ext cx="848563" cy="14356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Recommended</a:t>
              </a:r>
              <a:endParaRPr lang="en-US" sz="800"/>
            </a:p>
          </p:txBody>
        </p:sp>
        <p:sp>
          <p:nvSpPr>
            <p:cNvPr id="60" name="Text 40"/>
            <p:cNvSpPr txBox="1"/>
            <p:nvPr/>
          </p:nvSpPr>
          <p:spPr>
            <a:xfrm>
              <a:off x="5400446" y="1429207"/>
              <a:ext cx="619049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Update Gate 1 Threshold</a:t>
              </a:r>
              <a:endParaRPr lang="en-US" sz="900"/>
            </a:p>
          </p:txBody>
        </p:sp>
        <p:pic>
          <p:nvPicPr>
            <p:cNvPr id="61" name="Image 18" descr="gen-dedup-748b00cffa5c85035265e77959d26333.png"/>
            <p:cNvPicPr>
              <a:picLocks noChangeAspect="1"/>
            </p:cNvPicPr>
            <p:nvPr/>
          </p:nvPicPr>
          <p:blipFill>
            <a:blip r:embed="rId17"/>
            <a:stretch/>
          </p:blipFill>
          <p:spPr>
            <a:xfrm>
              <a:off x="5247742" y="1609801"/>
              <a:ext cx="95098" cy="95098"/>
            </a:xfrm>
            <a:prstGeom prst="rect">
              <a:avLst/>
            </a:prstGeom>
          </p:spPr>
        </p:pic>
        <p:sp>
          <p:nvSpPr>
            <p:cNvPr id="69" name="Shape 46"/>
            <p:cNvSpPr/>
            <p:nvPr/>
          </p:nvSpPr>
          <p:spPr>
            <a:xfrm>
              <a:off x="6262726" y="1295705"/>
              <a:ext cx="981151" cy="2057400"/>
            </a:xfrm>
            <a:prstGeom prst="roundRect">
              <a:avLst>
                <a:gd name="adj" fmla="val 14477"/>
              </a:avLst>
            </a:prstGeom>
            <a:solidFill>
              <a:srgbClr val="FFFFFF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Text 47"/>
            <p:cNvSpPr txBox="1"/>
            <p:nvPr/>
          </p:nvSpPr>
          <p:spPr>
            <a:xfrm>
              <a:off x="6538874" y="1419149"/>
              <a:ext cx="581558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No Action</a:t>
              </a:r>
              <a:endParaRPr lang="en-US" sz="900"/>
            </a:p>
          </p:txBody>
        </p:sp>
        <p:pic>
          <p:nvPicPr>
            <p:cNvPr id="71" name="Image 21" descr="gen-dedup-2dec8754f669a0ef0022dd07ffff43de.png"/>
            <p:cNvPicPr>
              <a:picLocks noChangeAspect="1"/>
            </p:cNvPicPr>
            <p:nvPr/>
          </p:nvPicPr>
          <p:blipFill>
            <a:blip r:embed="rId18"/>
            <a:stretch/>
          </p:blipFill>
          <p:spPr>
            <a:xfrm>
              <a:off x="6386170" y="1523847"/>
              <a:ext cx="95098" cy="95098"/>
            </a:xfrm>
            <a:prstGeom prst="rect">
              <a:avLst/>
            </a:prstGeom>
          </p:spPr>
        </p:pic>
        <p:sp>
          <p:nvSpPr>
            <p:cNvPr id="119" name="Shape 89"/>
            <p:cNvSpPr/>
            <p:nvPr/>
          </p:nvSpPr>
          <p:spPr>
            <a:xfrm>
              <a:off x="3477463" y="1143000"/>
              <a:ext cx="8334756" cy="9144"/>
            </a:xfrm>
            <a:prstGeom prst="roundRect">
              <a:avLst>
                <a:gd name="adj" fmla="val 413793"/>
              </a:avLst>
            </a:prstGeom>
            <a:solidFill>
              <a:srgbClr val="EEF2F5"/>
            </a:solidFill>
            <a:ln w="12700">
              <a:solidFill>
                <a:srgbClr val="EEF2F5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26"/>
            <p:cNvSpPr txBox="1"/>
            <p:nvPr/>
          </p:nvSpPr>
          <p:spPr>
            <a:xfrm>
              <a:off x="2752344" y="2691079"/>
              <a:ext cx="672084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44444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Confidence</a:t>
              </a:r>
              <a:endParaRPr lang="en-US" sz="800"/>
            </a:p>
          </p:txBody>
        </p:sp>
        <p:sp>
          <p:nvSpPr>
            <p:cNvPr id="42" name="Text 27"/>
            <p:cNvSpPr txBox="1"/>
            <p:nvPr/>
          </p:nvSpPr>
          <p:spPr>
            <a:xfrm>
              <a:off x="3551530" y="2691079"/>
              <a:ext cx="219456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44444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72%</a:t>
              </a:r>
              <a:endParaRPr lang="en-US" sz="800"/>
            </a:p>
          </p:txBody>
        </p:sp>
        <p:pic>
          <p:nvPicPr>
            <p:cNvPr id="43" name="Image 13" descr="gen-dedup-467a6e7d55f36527dac39995b9a39f9b.png"/>
            <p:cNvPicPr>
              <a:picLocks noChangeAspect="1"/>
            </p:cNvPicPr>
            <p:nvPr/>
          </p:nvPicPr>
          <p:blipFill>
            <a:blip r:embed="rId19"/>
            <a:srcRect t="-378" b="-378"/>
            <a:stretch/>
          </p:blipFill>
          <p:spPr>
            <a:xfrm>
              <a:off x="2752344" y="2823667"/>
              <a:ext cx="1009498" cy="57607"/>
            </a:xfrm>
            <a:prstGeom prst="rect">
              <a:avLst/>
            </a:prstGeom>
          </p:spPr>
        </p:pic>
        <p:pic>
          <p:nvPicPr>
            <p:cNvPr id="44" name="Image 14" descr="gen-dedup-b78e9069ed36fad2a9632dfd92b42309.png"/>
            <p:cNvPicPr>
              <a:picLocks noChangeAspect="1"/>
            </p:cNvPicPr>
            <p:nvPr/>
          </p:nvPicPr>
          <p:blipFill>
            <a:blip r:embed="rId20"/>
            <a:stretch/>
          </p:blipFill>
          <p:spPr>
            <a:xfrm>
              <a:off x="2752344" y="2823999"/>
              <a:ext cx="726034" cy="56943"/>
            </a:xfrm>
            <a:prstGeom prst="rect">
              <a:avLst/>
            </a:prstGeom>
          </p:spPr>
        </p:pic>
        <p:sp>
          <p:nvSpPr>
            <p:cNvPr id="45" name="Shape 28"/>
            <p:cNvSpPr/>
            <p:nvPr/>
          </p:nvSpPr>
          <p:spPr>
            <a:xfrm>
              <a:off x="2752344" y="2976372"/>
              <a:ext cx="1009498" cy="247802"/>
            </a:xfrm>
            <a:prstGeom prst="roundRect">
              <a:avLst>
                <a:gd name="adj" fmla="val 113540"/>
              </a:avLst>
            </a:prstGeom>
            <a:solidFill>
              <a:srgbClr val="FFFFFF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29"/>
            <p:cNvSpPr txBox="1"/>
            <p:nvPr/>
          </p:nvSpPr>
          <p:spPr>
            <a:xfrm>
              <a:off x="3047695" y="3043123"/>
              <a:ext cx="425196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Select</a:t>
              </a:r>
              <a:endParaRPr lang="en-US" sz="800"/>
            </a:p>
          </p:txBody>
        </p:sp>
        <p:sp>
          <p:nvSpPr>
            <p:cNvPr id="50" name="Text 32"/>
            <p:cNvSpPr txBox="1"/>
            <p:nvPr/>
          </p:nvSpPr>
          <p:spPr>
            <a:xfrm>
              <a:off x="4123944" y="1781251"/>
              <a:ext cx="752551" cy="857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Whitelist M-1023 for 48h to prevent false positive blocks</a:t>
              </a:r>
              <a:endParaRPr lang="en-US" sz="800"/>
            </a:p>
          </p:txBody>
        </p:sp>
        <p:sp>
          <p:nvSpPr>
            <p:cNvPr id="51" name="Text 33"/>
            <p:cNvSpPr txBox="1"/>
            <p:nvPr/>
          </p:nvSpPr>
          <p:spPr>
            <a:xfrm>
              <a:off x="4123944" y="2691079"/>
              <a:ext cx="672084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44444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Confidence</a:t>
              </a:r>
              <a:endParaRPr lang="en-US" sz="800"/>
            </a:p>
          </p:txBody>
        </p:sp>
        <p:sp>
          <p:nvSpPr>
            <p:cNvPr id="52" name="Text 34"/>
            <p:cNvSpPr txBox="1"/>
            <p:nvPr/>
          </p:nvSpPr>
          <p:spPr>
            <a:xfrm>
              <a:off x="4658868" y="2691079"/>
              <a:ext cx="219456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44444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45%</a:t>
              </a:r>
              <a:endParaRPr lang="en-US" sz="800"/>
            </a:p>
          </p:txBody>
        </p:sp>
        <p:pic>
          <p:nvPicPr>
            <p:cNvPr id="53" name="Image 16" descr="gen-dedup-30e1a646ad5e0e94c6cf79afb35aad1c.png"/>
            <p:cNvPicPr>
              <a:picLocks noChangeAspect="1"/>
            </p:cNvPicPr>
            <p:nvPr/>
          </p:nvPicPr>
          <p:blipFill>
            <a:blip r:embed="rId21"/>
            <a:srcRect t="-385" b="-385"/>
            <a:stretch/>
          </p:blipFill>
          <p:spPr>
            <a:xfrm>
              <a:off x="4123944" y="2823667"/>
              <a:ext cx="752551" cy="57607"/>
            </a:xfrm>
            <a:prstGeom prst="rect">
              <a:avLst/>
            </a:prstGeom>
          </p:spPr>
        </p:pic>
        <p:pic>
          <p:nvPicPr>
            <p:cNvPr id="54" name="Image 17" descr="gen-dedup-6ff38f344eec1017b8a32768d5cb498b.png"/>
            <p:cNvPicPr>
              <a:picLocks noChangeAspect="1"/>
            </p:cNvPicPr>
            <p:nvPr/>
          </p:nvPicPr>
          <p:blipFill>
            <a:blip r:embed="rId22"/>
            <a:srcRect t="-416" b="-416"/>
            <a:stretch/>
          </p:blipFill>
          <p:spPr>
            <a:xfrm>
              <a:off x="4123944" y="2823667"/>
              <a:ext cx="338328" cy="57607"/>
            </a:xfrm>
            <a:prstGeom prst="rect">
              <a:avLst/>
            </a:prstGeom>
          </p:spPr>
        </p:pic>
        <p:sp>
          <p:nvSpPr>
            <p:cNvPr id="55" name="Shape 35"/>
            <p:cNvSpPr/>
            <p:nvPr/>
          </p:nvSpPr>
          <p:spPr>
            <a:xfrm>
              <a:off x="4123944" y="2976372"/>
              <a:ext cx="752551" cy="247802"/>
            </a:xfrm>
            <a:prstGeom prst="roundRect">
              <a:avLst>
                <a:gd name="adj" fmla="val 113540"/>
              </a:avLst>
            </a:prstGeom>
            <a:solidFill>
              <a:srgbClr val="FFFFFF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36"/>
            <p:cNvSpPr txBox="1"/>
            <p:nvPr/>
          </p:nvSpPr>
          <p:spPr>
            <a:xfrm>
              <a:off x="4290365" y="3043123"/>
              <a:ext cx="425196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Select</a:t>
              </a:r>
              <a:endParaRPr lang="en-US" sz="800"/>
            </a:p>
          </p:txBody>
        </p:sp>
        <p:sp>
          <p:nvSpPr>
            <p:cNvPr id="62" name="Text 41"/>
            <p:cNvSpPr txBox="1"/>
            <p:nvPr/>
          </p:nvSpPr>
          <p:spPr>
            <a:xfrm>
              <a:off x="5247742" y="1943100"/>
              <a:ext cx="771754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Increase Gate 1 to accommodate expected BIN traffic spike</a:t>
              </a:r>
              <a:endParaRPr lang="en-US" sz="800"/>
            </a:p>
          </p:txBody>
        </p:sp>
        <p:sp>
          <p:nvSpPr>
            <p:cNvPr id="63" name="Text 42"/>
            <p:cNvSpPr txBox="1"/>
            <p:nvPr/>
          </p:nvSpPr>
          <p:spPr>
            <a:xfrm>
              <a:off x="5247742" y="2681021"/>
              <a:ext cx="672084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44444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Confidence</a:t>
              </a:r>
              <a:endParaRPr lang="en-US" sz="800"/>
            </a:p>
          </p:txBody>
        </p:sp>
        <p:sp>
          <p:nvSpPr>
            <p:cNvPr id="64" name="Text 43"/>
            <p:cNvSpPr txBox="1"/>
            <p:nvPr/>
          </p:nvSpPr>
          <p:spPr>
            <a:xfrm>
              <a:off x="5818327" y="2681021"/>
              <a:ext cx="200254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44444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91%</a:t>
              </a:r>
              <a:endParaRPr lang="en-US" sz="800"/>
            </a:p>
          </p:txBody>
        </p:sp>
        <p:pic>
          <p:nvPicPr>
            <p:cNvPr id="65" name="Image 19" descr="gen-dedup-aa5a244bf2bdd4537ae231160ee96e95.png"/>
            <p:cNvPicPr>
              <a:picLocks noChangeAspect="1"/>
            </p:cNvPicPr>
            <p:nvPr/>
          </p:nvPicPr>
          <p:blipFill>
            <a:blip r:embed="rId23"/>
            <a:srcRect t="-412" b="-412"/>
            <a:stretch/>
          </p:blipFill>
          <p:spPr>
            <a:xfrm>
              <a:off x="5247742" y="2814523"/>
              <a:ext cx="767182" cy="57607"/>
            </a:xfrm>
            <a:prstGeom prst="rect">
              <a:avLst/>
            </a:prstGeom>
          </p:spPr>
        </p:pic>
        <p:pic>
          <p:nvPicPr>
            <p:cNvPr id="66" name="Image 20" descr="gen-dedup-1fa3ffd39b41ef55e51a950174502eb1.png"/>
            <p:cNvPicPr>
              <a:picLocks noChangeAspect="1"/>
            </p:cNvPicPr>
            <p:nvPr/>
          </p:nvPicPr>
          <p:blipFill>
            <a:blip r:embed="rId24"/>
            <a:stretch/>
          </p:blipFill>
          <p:spPr>
            <a:xfrm>
              <a:off x="5247742" y="2814812"/>
              <a:ext cx="698602" cy="57028"/>
            </a:xfrm>
            <a:prstGeom prst="rect">
              <a:avLst/>
            </a:prstGeom>
          </p:spPr>
        </p:pic>
        <p:sp>
          <p:nvSpPr>
            <p:cNvPr id="67" name="Shape 44"/>
            <p:cNvSpPr/>
            <p:nvPr/>
          </p:nvSpPr>
          <p:spPr>
            <a:xfrm>
              <a:off x="5247742" y="2967228"/>
              <a:ext cx="771754" cy="247802"/>
            </a:xfrm>
            <a:prstGeom prst="roundRect">
              <a:avLst>
                <a:gd name="adj" fmla="val 113540"/>
              </a:avLst>
            </a:prstGeom>
            <a:solidFill>
              <a:srgbClr val="FF6B35"/>
            </a:solidFill>
            <a:ln w="12700">
              <a:solidFill>
                <a:srgbClr val="FF6B3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 45"/>
            <p:cNvSpPr txBox="1"/>
            <p:nvPr/>
          </p:nvSpPr>
          <p:spPr>
            <a:xfrm>
              <a:off x="5350154" y="3033979"/>
              <a:ext cx="568757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Selected</a:t>
              </a:r>
              <a:endParaRPr lang="en-US" sz="800"/>
            </a:p>
          </p:txBody>
        </p:sp>
        <p:sp>
          <p:nvSpPr>
            <p:cNvPr id="72" name="Text 48"/>
            <p:cNvSpPr txBox="1"/>
            <p:nvPr/>
          </p:nvSpPr>
          <p:spPr>
            <a:xfrm>
              <a:off x="6386170" y="1781251"/>
              <a:ext cx="734263" cy="8577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Close event without any operational changes</a:t>
              </a:r>
              <a:endParaRPr lang="en-US" sz="800"/>
            </a:p>
          </p:txBody>
        </p:sp>
        <p:sp>
          <p:nvSpPr>
            <p:cNvPr id="73" name="Text 49"/>
            <p:cNvSpPr txBox="1"/>
            <p:nvPr/>
          </p:nvSpPr>
          <p:spPr>
            <a:xfrm>
              <a:off x="6386170" y="2691079"/>
              <a:ext cx="672084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44444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Confidence</a:t>
              </a:r>
              <a:endParaRPr lang="en-US" sz="800"/>
            </a:p>
          </p:txBody>
        </p:sp>
        <p:sp>
          <p:nvSpPr>
            <p:cNvPr id="74" name="Text 50"/>
            <p:cNvSpPr txBox="1"/>
            <p:nvPr/>
          </p:nvSpPr>
          <p:spPr>
            <a:xfrm>
              <a:off x="6921094" y="2691079"/>
              <a:ext cx="200254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444444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12%</a:t>
              </a:r>
              <a:endParaRPr lang="en-US" sz="800"/>
            </a:p>
          </p:txBody>
        </p:sp>
        <p:pic>
          <p:nvPicPr>
            <p:cNvPr id="75" name="Image 22" descr="gen-dedup-be9753afc3b53920c44dec332a9aa5ba.png"/>
            <p:cNvPicPr>
              <a:picLocks noChangeAspect="1"/>
            </p:cNvPicPr>
            <p:nvPr/>
          </p:nvPicPr>
          <p:blipFill>
            <a:blip r:embed="rId25"/>
            <a:srcRect t="-379" b="-379"/>
            <a:stretch/>
          </p:blipFill>
          <p:spPr>
            <a:xfrm>
              <a:off x="6386170" y="2823667"/>
              <a:ext cx="730606" cy="57607"/>
            </a:xfrm>
            <a:prstGeom prst="rect">
              <a:avLst/>
            </a:prstGeom>
          </p:spPr>
        </p:pic>
        <p:sp>
          <p:nvSpPr>
            <p:cNvPr id="76" name="Shape 51"/>
            <p:cNvSpPr/>
            <p:nvPr/>
          </p:nvSpPr>
          <p:spPr>
            <a:xfrm>
              <a:off x="6386170" y="2823667"/>
              <a:ext cx="95098" cy="57607"/>
            </a:xfrm>
            <a:prstGeom prst="roundRect">
              <a:avLst>
                <a:gd name="adj" fmla="val 1587307"/>
              </a:avLst>
            </a:prstGeom>
            <a:solidFill>
              <a:srgbClr val="A0ABB8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Shape 52"/>
            <p:cNvSpPr/>
            <p:nvPr/>
          </p:nvSpPr>
          <p:spPr>
            <a:xfrm>
              <a:off x="6386170" y="2976372"/>
              <a:ext cx="733349" cy="247802"/>
            </a:xfrm>
            <a:prstGeom prst="roundRect">
              <a:avLst>
                <a:gd name="adj" fmla="val 113540"/>
              </a:avLst>
            </a:prstGeom>
            <a:solidFill>
              <a:srgbClr val="FFFFFF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 53"/>
            <p:cNvSpPr txBox="1"/>
            <p:nvPr/>
          </p:nvSpPr>
          <p:spPr>
            <a:xfrm>
              <a:off x="6542532" y="3043123"/>
              <a:ext cx="425196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000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Select</a:t>
              </a:r>
              <a:endParaRPr lang="en-US" sz="800"/>
            </a:p>
          </p:txBody>
        </p:sp>
        <p:sp>
          <p:nvSpPr>
            <p:cNvPr id="81" name="Text 55"/>
            <p:cNvSpPr txBox="1"/>
            <p:nvPr/>
          </p:nvSpPr>
          <p:spPr>
            <a:xfrm>
              <a:off x="2790749" y="3981298"/>
              <a:ext cx="1895551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Target Gate</a:t>
              </a:r>
              <a:endParaRPr lang="en-US" sz="800"/>
            </a:p>
          </p:txBody>
        </p:sp>
        <p:sp>
          <p:nvSpPr>
            <p:cNvPr id="82" name="Shape 56"/>
            <p:cNvSpPr/>
            <p:nvPr/>
          </p:nvSpPr>
          <p:spPr>
            <a:xfrm>
              <a:off x="2790749" y="4153205"/>
              <a:ext cx="1895551" cy="276149"/>
            </a:xfrm>
            <a:prstGeom prst="roundRect">
              <a:avLst>
                <a:gd name="adj" fmla="val 91345"/>
              </a:avLst>
            </a:prstGeom>
            <a:solidFill>
              <a:srgbClr val="FAFBFC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Text 57"/>
            <p:cNvSpPr txBox="1"/>
            <p:nvPr/>
          </p:nvSpPr>
          <p:spPr>
            <a:xfrm>
              <a:off x="4856801" y="4013744"/>
              <a:ext cx="1895551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Duration</a:t>
              </a:r>
              <a:endParaRPr lang="en-US" sz="800"/>
            </a:p>
          </p:txBody>
        </p:sp>
        <p:sp>
          <p:nvSpPr>
            <p:cNvPr id="84" name="Shape 58"/>
            <p:cNvSpPr/>
            <p:nvPr/>
          </p:nvSpPr>
          <p:spPr>
            <a:xfrm>
              <a:off x="4781398" y="4153205"/>
              <a:ext cx="1895551" cy="276149"/>
            </a:xfrm>
            <a:prstGeom prst="roundRect">
              <a:avLst>
                <a:gd name="adj" fmla="val 91345"/>
              </a:avLst>
            </a:prstGeom>
            <a:solidFill>
              <a:srgbClr val="FAFBFC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 59"/>
            <p:cNvSpPr txBox="1"/>
            <p:nvPr/>
          </p:nvSpPr>
          <p:spPr>
            <a:xfrm>
              <a:off x="2790749" y="4524451"/>
              <a:ext cx="1895551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Current Value</a:t>
              </a:r>
              <a:endParaRPr lang="en-US" sz="800"/>
            </a:p>
          </p:txBody>
        </p:sp>
        <p:sp>
          <p:nvSpPr>
            <p:cNvPr id="86" name="Shape 60"/>
            <p:cNvSpPr/>
            <p:nvPr/>
          </p:nvSpPr>
          <p:spPr>
            <a:xfrm>
              <a:off x="2790749" y="4695444"/>
              <a:ext cx="1895551" cy="276149"/>
            </a:xfrm>
            <a:prstGeom prst="roundRect">
              <a:avLst>
                <a:gd name="adj" fmla="val 91345"/>
              </a:avLst>
            </a:prstGeom>
            <a:solidFill>
              <a:srgbClr val="FAFBFC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 61"/>
            <p:cNvSpPr txBox="1"/>
            <p:nvPr/>
          </p:nvSpPr>
          <p:spPr>
            <a:xfrm>
              <a:off x="4781398" y="4524451"/>
              <a:ext cx="1895551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Proposed Value</a:t>
              </a:r>
              <a:endParaRPr lang="en-US" sz="800"/>
            </a:p>
          </p:txBody>
        </p:sp>
        <p:sp>
          <p:nvSpPr>
            <p:cNvPr id="88" name="Shape 62"/>
            <p:cNvSpPr/>
            <p:nvPr/>
          </p:nvSpPr>
          <p:spPr>
            <a:xfrm>
              <a:off x="4781398" y="4695444"/>
              <a:ext cx="1895551" cy="276149"/>
            </a:xfrm>
            <a:prstGeom prst="roundRect">
              <a:avLst>
                <a:gd name="adj" fmla="val 91345"/>
              </a:avLst>
            </a:prstGeom>
            <a:solidFill>
              <a:srgbClr val="FFF3E0"/>
            </a:solidFill>
            <a:ln w="12700">
              <a:solidFill>
                <a:srgbClr val="FF6B3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 63"/>
            <p:cNvSpPr txBox="1"/>
            <p:nvPr/>
          </p:nvSpPr>
          <p:spPr>
            <a:xfrm>
              <a:off x="2790749" y="5067605"/>
              <a:ext cx="3886200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Affected Merchants</a:t>
              </a:r>
              <a:endParaRPr lang="en-US" sz="800"/>
            </a:p>
          </p:txBody>
        </p:sp>
        <p:sp>
          <p:nvSpPr>
            <p:cNvPr id="90" name="Shape 64"/>
            <p:cNvSpPr/>
            <p:nvPr/>
          </p:nvSpPr>
          <p:spPr>
            <a:xfrm>
              <a:off x="2790749" y="5238598"/>
              <a:ext cx="3886200" cy="276149"/>
            </a:xfrm>
            <a:prstGeom prst="roundRect">
              <a:avLst>
                <a:gd name="adj" fmla="val 91345"/>
              </a:avLst>
            </a:prstGeom>
            <a:solidFill>
              <a:srgbClr val="FAFBFC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 65"/>
            <p:cNvSpPr txBox="1"/>
            <p:nvPr/>
          </p:nvSpPr>
          <p:spPr>
            <a:xfrm>
              <a:off x="2790749" y="5609844"/>
              <a:ext cx="3886200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Justification (AI Generated)</a:t>
              </a:r>
              <a:endParaRPr lang="en-US" sz="800"/>
            </a:p>
          </p:txBody>
        </p:sp>
        <p:sp>
          <p:nvSpPr>
            <p:cNvPr id="92" name="Shape 66"/>
            <p:cNvSpPr/>
            <p:nvPr/>
          </p:nvSpPr>
          <p:spPr>
            <a:xfrm>
              <a:off x="2790749" y="5781751"/>
              <a:ext cx="3886200" cy="571500"/>
            </a:xfrm>
            <a:prstGeom prst="roundRect">
              <a:avLst>
                <a:gd name="adj" fmla="val 21333"/>
              </a:avLst>
            </a:prstGeom>
            <a:solidFill>
              <a:srgbClr val="FAFBFC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Text 67"/>
            <p:cNvSpPr txBox="1"/>
            <p:nvPr/>
          </p:nvSpPr>
          <p:spPr>
            <a:xfrm>
              <a:off x="2790749" y="6448349"/>
              <a:ext cx="1895551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666666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Approver</a:t>
              </a:r>
              <a:endParaRPr lang="en-US" sz="800"/>
            </a:p>
          </p:txBody>
        </p:sp>
        <p:sp>
          <p:nvSpPr>
            <p:cNvPr id="94" name="Shape 68"/>
            <p:cNvSpPr/>
            <p:nvPr/>
          </p:nvSpPr>
          <p:spPr>
            <a:xfrm>
              <a:off x="2790749" y="6620256"/>
              <a:ext cx="1895551" cy="276149"/>
            </a:xfrm>
            <a:prstGeom prst="roundRect">
              <a:avLst>
                <a:gd name="adj" fmla="val 91345"/>
              </a:avLst>
            </a:prstGeom>
            <a:solidFill>
              <a:srgbClr val="FAFBFC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 90"/>
            <p:cNvSpPr txBox="1"/>
            <p:nvPr/>
          </p:nvSpPr>
          <p:spPr>
            <a:xfrm>
              <a:off x="2734057" y="3595523"/>
              <a:ext cx="600761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2E7D3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Uploaded</a:t>
              </a:r>
              <a:endParaRPr lang="en-US" sz="800"/>
            </a:p>
          </p:txBody>
        </p:sp>
        <p:pic>
          <p:nvPicPr>
            <p:cNvPr id="122" name="Image 29" descr="gen-dedup-839c8c50931a415c4bc146ee6d9e7d94.png"/>
            <p:cNvPicPr>
              <a:picLocks noChangeAspect="1"/>
            </p:cNvPicPr>
            <p:nvPr/>
          </p:nvPicPr>
          <p:blipFill>
            <a:blip r:embed="rId26"/>
            <a:stretch/>
          </p:blipFill>
          <p:spPr>
            <a:xfrm>
              <a:off x="3317642" y="3623870"/>
              <a:ext cx="48066" cy="75895"/>
            </a:xfrm>
            <a:prstGeom prst="rect">
              <a:avLst/>
            </a:prstGeom>
          </p:spPr>
        </p:pic>
        <p:sp>
          <p:nvSpPr>
            <p:cNvPr id="123" name="Text 91"/>
            <p:cNvSpPr txBox="1"/>
            <p:nvPr/>
          </p:nvSpPr>
          <p:spPr>
            <a:xfrm>
              <a:off x="3627426" y="3595523"/>
              <a:ext cx="598932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2E7D3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Analyzed</a:t>
              </a:r>
              <a:endParaRPr lang="en-US" sz="800"/>
            </a:p>
          </p:txBody>
        </p:sp>
        <p:pic>
          <p:nvPicPr>
            <p:cNvPr id="124" name="Image 30" descr="gen-dedup-f5840f37b399cd9fd31e5c633550b1b2.png"/>
            <p:cNvPicPr>
              <a:picLocks noChangeAspect="1"/>
            </p:cNvPicPr>
            <p:nvPr/>
          </p:nvPicPr>
          <p:blipFill>
            <a:blip r:embed="rId27"/>
            <a:stretch/>
          </p:blipFill>
          <p:spPr>
            <a:xfrm>
              <a:off x="3465577" y="3619755"/>
              <a:ext cx="85954" cy="85954"/>
            </a:xfrm>
            <a:prstGeom prst="rect">
              <a:avLst/>
            </a:prstGeom>
          </p:spPr>
        </p:pic>
        <p:pic>
          <p:nvPicPr>
            <p:cNvPr id="125" name="Image 31" descr="gen-dedup-839c8c50931a415c4bc146ee6d9e7d94.png"/>
            <p:cNvPicPr>
              <a:picLocks noChangeAspect="1"/>
            </p:cNvPicPr>
            <p:nvPr/>
          </p:nvPicPr>
          <p:blipFill>
            <a:blip r:embed="rId26"/>
            <a:stretch/>
          </p:blipFill>
          <p:spPr>
            <a:xfrm>
              <a:off x="4195466" y="3623870"/>
              <a:ext cx="48066" cy="75895"/>
            </a:xfrm>
            <a:prstGeom prst="rect">
              <a:avLst/>
            </a:prstGeom>
          </p:spPr>
        </p:pic>
        <p:sp>
          <p:nvSpPr>
            <p:cNvPr id="126" name="Text 92"/>
            <p:cNvSpPr txBox="1"/>
            <p:nvPr/>
          </p:nvSpPr>
          <p:spPr>
            <a:xfrm>
              <a:off x="4504335" y="3595523"/>
              <a:ext cx="600761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2E7D3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Reviewed</a:t>
              </a:r>
              <a:endParaRPr lang="en-US" sz="800"/>
            </a:p>
          </p:txBody>
        </p:sp>
        <p:pic>
          <p:nvPicPr>
            <p:cNvPr id="127" name="Image 32" descr="gen-dedup-f5840f37b399cd9fd31e5c633550b1b2.png"/>
            <p:cNvPicPr>
              <a:picLocks noChangeAspect="1"/>
            </p:cNvPicPr>
            <p:nvPr/>
          </p:nvPicPr>
          <p:blipFill>
            <a:blip r:embed="rId27"/>
            <a:stretch/>
          </p:blipFill>
          <p:spPr>
            <a:xfrm>
              <a:off x="4342487" y="3619755"/>
              <a:ext cx="85954" cy="85954"/>
            </a:xfrm>
            <a:prstGeom prst="rect">
              <a:avLst/>
            </a:prstGeom>
          </p:spPr>
        </p:pic>
        <p:pic>
          <p:nvPicPr>
            <p:cNvPr id="128" name="Image 33" descr="gen-dedup-839c8c50931a415c4bc146ee6d9e7d94.png"/>
            <p:cNvPicPr>
              <a:picLocks noChangeAspect="1"/>
            </p:cNvPicPr>
            <p:nvPr/>
          </p:nvPicPr>
          <p:blipFill>
            <a:blip r:embed="rId26"/>
            <a:stretch/>
          </p:blipFill>
          <p:spPr>
            <a:xfrm>
              <a:off x="5088835" y="3623870"/>
              <a:ext cx="48066" cy="75895"/>
            </a:xfrm>
            <a:prstGeom prst="rect">
              <a:avLst/>
            </a:prstGeom>
          </p:spPr>
        </p:pic>
        <p:sp>
          <p:nvSpPr>
            <p:cNvPr id="129" name="Text 93"/>
            <p:cNvSpPr txBox="1"/>
            <p:nvPr/>
          </p:nvSpPr>
          <p:spPr>
            <a:xfrm>
              <a:off x="5369358" y="3595523"/>
              <a:ext cx="1045159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FF6B3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Action Pending</a:t>
              </a:r>
              <a:endParaRPr lang="en-US" sz="800"/>
            </a:p>
          </p:txBody>
        </p:sp>
        <p:pic>
          <p:nvPicPr>
            <p:cNvPr id="130" name="Image 34" descr="gen-dedup-d89ff53002e4089469e18f068999a844.png"/>
            <p:cNvPicPr>
              <a:picLocks noChangeAspect="1"/>
            </p:cNvPicPr>
            <p:nvPr/>
          </p:nvPicPr>
          <p:blipFill>
            <a:blip r:embed="rId28"/>
            <a:stretch/>
          </p:blipFill>
          <p:spPr>
            <a:xfrm>
              <a:off x="5235855" y="3633014"/>
              <a:ext cx="57607" cy="57607"/>
            </a:xfrm>
            <a:prstGeom prst="rect">
              <a:avLst/>
            </a:prstGeom>
          </p:spPr>
        </p:pic>
        <p:sp>
          <p:nvSpPr>
            <p:cNvPr id="131" name="Shape 94"/>
            <p:cNvSpPr/>
            <p:nvPr/>
          </p:nvSpPr>
          <p:spPr>
            <a:xfrm>
              <a:off x="6139283" y="3509570"/>
              <a:ext cx="1524305" cy="304495"/>
            </a:xfrm>
            <a:prstGeom prst="roundRect">
              <a:avLst>
                <a:gd name="adj" fmla="val 112613"/>
              </a:avLst>
            </a:prstGeom>
            <a:solidFill>
              <a:srgbClr val="FFFFFF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2" name="Image 35" descr="gen-dedup-679b68d367c7a152f929f94cdd336dc5.png"/>
            <p:cNvPicPr>
              <a:picLocks noChangeAspect="1"/>
            </p:cNvPicPr>
            <p:nvPr/>
          </p:nvPicPr>
          <p:blipFill>
            <a:blip r:embed="rId29"/>
            <a:stretch/>
          </p:blipFill>
          <p:spPr>
            <a:xfrm>
              <a:off x="6301131" y="3619755"/>
              <a:ext cx="85954" cy="85954"/>
            </a:xfrm>
            <a:prstGeom prst="rect">
              <a:avLst/>
            </a:prstGeom>
          </p:spPr>
        </p:pic>
        <p:sp>
          <p:nvSpPr>
            <p:cNvPr id="133" name="Text 95"/>
            <p:cNvSpPr txBox="1"/>
            <p:nvPr/>
          </p:nvSpPr>
          <p:spPr>
            <a:xfrm>
              <a:off x="6462980" y="3509570"/>
              <a:ext cx="1038758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Export UDT Packet</a:t>
              </a:r>
              <a:endParaRPr lang="en-US" sz="900"/>
            </a:p>
          </p:txBody>
        </p:sp>
        <p:sp>
          <p:nvSpPr>
            <p:cNvPr id="134" name="Shape 96"/>
            <p:cNvSpPr/>
            <p:nvPr/>
          </p:nvSpPr>
          <p:spPr>
            <a:xfrm>
              <a:off x="7768743" y="3509570"/>
              <a:ext cx="1190549" cy="304495"/>
            </a:xfrm>
            <a:prstGeom prst="roundRect">
              <a:avLst>
                <a:gd name="adj" fmla="val 112613"/>
              </a:avLst>
            </a:prstGeom>
            <a:solidFill>
              <a:srgbClr val="FFFFFF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5" name="Image 36" descr="gen-dedup-24eee09abc0640d2caef250fa41793c8.png"/>
            <p:cNvPicPr>
              <a:picLocks noChangeAspect="1"/>
            </p:cNvPicPr>
            <p:nvPr/>
          </p:nvPicPr>
          <p:blipFill>
            <a:blip r:embed="rId30"/>
            <a:stretch/>
          </p:blipFill>
          <p:spPr>
            <a:xfrm>
              <a:off x="7930592" y="3619755"/>
              <a:ext cx="85954" cy="85954"/>
            </a:xfrm>
            <a:prstGeom prst="rect">
              <a:avLst/>
            </a:prstGeom>
          </p:spPr>
        </p:pic>
        <p:sp>
          <p:nvSpPr>
            <p:cNvPr id="136" name="Text 97"/>
            <p:cNvSpPr txBox="1"/>
            <p:nvPr/>
          </p:nvSpPr>
          <p:spPr>
            <a:xfrm>
              <a:off x="8092441" y="3509570"/>
              <a:ext cx="705002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Email to Ops</a:t>
              </a:r>
              <a:endParaRPr lang="en-US" sz="900"/>
            </a:p>
          </p:txBody>
        </p:sp>
        <p:sp>
          <p:nvSpPr>
            <p:cNvPr id="137" name="Shape 98"/>
            <p:cNvSpPr/>
            <p:nvPr/>
          </p:nvSpPr>
          <p:spPr>
            <a:xfrm>
              <a:off x="9067191" y="3509570"/>
              <a:ext cx="1390802" cy="304495"/>
            </a:xfrm>
            <a:prstGeom prst="roundRect">
              <a:avLst>
                <a:gd name="adj" fmla="val 112613"/>
              </a:avLst>
            </a:prstGeom>
            <a:solidFill>
              <a:srgbClr val="FF6B35"/>
            </a:solidFill>
            <a:ln w="12700">
              <a:solidFill>
                <a:srgbClr val="FF6B3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8" name="Image 37" descr="gen-dedup-0475e0e28ca465ed7913c301a83c4f71.png"/>
            <p:cNvPicPr>
              <a:picLocks noChangeAspect="1"/>
            </p:cNvPicPr>
            <p:nvPr/>
          </p:nvPicPr>
          <p:blipFill>
            <a:blip r:embed="rId31"/>
            <a:stretch/>
          </p:blipFill>
          <p:spPr>
            <a:xfrm>
              <a:off x="9229040" y="3619755"/>
              <a:ext cx="85954" cy="85954"/>
            </a:xfrm>
            <a:prstGeom prst="rect">
              <a:avLst/>
            </a:prstGeom>
          </p:spPr>
        </p:pic>
        <p:sp>
          <p:nvSpPr>
            <p:cNvPr id="139" name="Text 99"/>
            <p:cNvSpPr txBox="1"/>
            <p:nvPr/>
          </p:nvSpPr>
          <p:spPr>
            <a:xfrm>
              <a:off x="9390889" y="3509570"/>
              <a:ext cx="905256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Submit Decision</a:t>
              </a:r>
              <a:endParaRPr lang="en-US" sz="900"/>
            </a:p>
          </p:txBody>
        </p:sp>
        <p:pic>
          <p:nvPicPr>
            <p:cNvPr id="140" name="Image 38" descr="gen-dedup-7c185fe46b1e2ee6fb021864be25f367.png"/>
            <p:cNvPicPr>
              <a:picLocks noChangeAspect="1"/>
            </p:cNvPicPr>
            <p:nvPr/>
          </p:nvPicPr>
          <p:blipFill>
            <a:blip r:embed="rId32"/>
            <a:stretch/>
          </p:blipFill>
          <p:spPr>
            <a:xfrm>
              <a:off x="7173493" y="1728292"/>
              <a:ext cx="1825976" cy="319545"/>
            </a:xfrm>
            <a:prstGeom prst="rect">
              <a:avLst/>
            </a:prstGeom>
          </p:spPr>
        </p:pic>
        <p:sp>
          <p:nvSpPr>
            <p:cNvPr id="141" name="Text 100"/>
            <p:cNvSpPr txBox="1"/>
            <p:nvPr/>
          </p:nvSpPr>
          <p:spPr>
            <a:xfrm>
              <a:off x="7326196" y="1735818"/>
              <a:ext cx="1544543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Step 4: AI recommends actions with prefilled operational forms - one-click to execute</a:t>
              </a:r>
              <a:endParaRPr lang="en-US" sz="900"/>
            </a:p>
          </p:txBody>
        </p:sp>
        <p:sp>
          <p:nvSpPr>
            <p:cNvPr id="240" name="Shape 46">
              <a:extLst>
                <a:ext uri="{FF2B5EF4-FFF2-40B4-BE49-F238E27FC236}">
                  <a16:creationId xmlns:a16="http://schemas.microsoft.com/office/drawing/2014/main" id="{BF43CAC0-6CE9-8508-406C-8A5138175197}"/>
                </a:ext>
              </a:extLst>
            </p:cNvPr>
            <p:cNvSpPr/>
            <p:nvPr/>
          </p:nvSpPr>
          <p:spPr>
            <a:xfrm>
              <a:off x="9034670" y="1202449"/>
              <a:ext cx="2777549" cy="2057400"/>
            </a:xfrm>
            <a:prstGeom prst="roundRect">
              <a:avLst>
                <a:gd name="adj" fmla="val 14477"/>
              </a:avLst>
            </a:prstGeom>
            <a:solidFill>
              <a:srgbClr val="FFFFFF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82"/>
            <p:cNvSpPr/>
            <p:nvPr/>
          </p:nvSpPr>
          <p:spPr>
            <a:xfrm>
              <a:off x="10977922" y="1232222"/>
              <a:ext cx="529488" cy="450317"/>
            </a:xfrm>
            <a:prstGeom prst="roundRect">
              <a:avLst>
                <a:gd name="adj" fmla="val 50000"/>
              </a:avLst>
            </a:prstGeom>
            <a:solidFill>
              <a:srgbClr val="FAFBFC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Shape 70"/>
            <p:cNvSpPr/>
            <p:nvPr/>
          </p:nvSpPr>
          <p:spPr>
            <a:xfrm>
              <a:off x="9325302" y="1559028"/>
              <a:ext cx="1203264" cy="211227"/>
            </a:xfrm>
            <a:prstGeom prst="roundRect">
              <a:avLst>
                <a:gd name="adj" fmla="val 238189"/>
              </a:avLst>
            </a:prstGeom>
            <a:solidFill>
              <a:srgbClr val="FAFBFC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Text 71"/>
            <p:cNvSpPr txBox="1"/>
            <p:nvPr/>
          </p:nvSpPr>
          <p:spPr>
            <a:xfrm>
              <a:off x="9613584" y="1587400"/>
              <a:ext cx="967624" cy="115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TRT-2024-112</a:t>
              </a:r>
              <a:endParaRPr lang="en-US" sz="900"/>
            </a:p>
          </p:txBody>
        </p:sp>
        <p:sp>
          <p:nvSpPr>
            <p:cNvPr id="101" name="Shape 74"/>
            <p:cNvSpPr/>
            <p:nvPr/>
          </p:nvSpPr>
          <p:spPr>
            <a:xfrm>
              <a:off x="9326413" y="1995856"/>
              <a:ext cx="1383754" cy="110528"/>
            </a:xfrm>
            <a:prstGeom prst="roundRect">
              <a:avLst>
                <a:gd name="adj" fmla="val 41528"/>
              </a:avLst>
            </a:prstGeom>
            <a:solidFill>
              <a:srgbClr val="FFFFFF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 75"/>
            <p:cNvSpPr txBox="1"/>
            <p:nvPr/>
          </p:nvSpPr>
          <p:spPr>
            <a:xfrm>
              <a:off x="9559545" y="2036811"/>
              <a:ext cx="914982" cy="56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1A1F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Apply Pattern</a:t>
              </a:r>
              <a:endParaRPr lang="en-US" sz="800"/>
            </a:p>
          </p:txBody>
        </p:sp>
        <p:sp>
          <p:nvSpPr>
            <p:cNvPr id="104" name="Shape 76"/>
            <p:cNvSpPr/>
            <p:nvPr/>
          </p:nvSpPr>
          <p:spPr>
            <a:xfrm>
              <a:off x="9366249" y="2152498"/>
              <a:ext cx="1231901" cy="170078"/>
            </a:xfrm>
            <a:prstGeom prst="roundRect">
              <a:avLst>
                <a:gd name="adj" fmla="val 238189"/>
              </a:avLst>
            </a:prstGeom>
            <a:solidFill>
              <a:srgbClr val="FAFBFC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Text 77"/>
            <p:cNvSpPr txBox="1"/>
            <p:nvPr/>
          </p:nvSpPr>
          <p:spPr>
            <a:xfrm>
              <a:off x="9575233" y="2194089"/>
              <a:ext cx="967624" cy="115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TRT-2024-087</a:t>
              </a:r>
              <a:endParaRPr lang="en-US" sz="900"/>
            </a:p>
          </p:txBody>
        </p:sp>
        <p:sp>
          <p:nvSpPr>
            <p:cNvPr id="108" name="Shape 80"/>
            <p:cNvSpPr/>
            <p:nvPr/>
          </p:nvSpPr>
          <p:spPr>
            <a:xfrm>
              <a:off x="9326413" y="2572179"/>
              <a:ext cx="1383754" cy="110528"/>
            </a:xfrm>
            <a:prstGeom prst="roundRect">
              <a:avLst>
                <a:gd name="adj" fmla="val 41528"/>
              </a:avLst>
            </a:prstGeom>
            <a:solidFill>
              <a:srgbClr val="FFFFFF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Text 81"/>
            <p:cNvSpPr txBox="1"/>
            <p:nvPr/>
          </p:nvSpPr>
          <p:spPr>
            <a:xfrm>
              <a:off x="9559545" y="2613133"/>
              <a:ext cx="914982" cy="56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1A1F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Apply Pattern</a:t>
              </a:r>
              <a:endParaRPr lang="en-US" sz="800"/>
            </a:p>
          </p:txBody>
        </p:sp>
        <p:sp>
          <p:nvSpPr>
            <p:cNvPr id="115" name="Shape 86"/>
            <p:cNvSpPr/>
            <p:nvPr/>
          </p:nvSpPr>
          <p:spPr>
            <a:xfrm>
              <a:off x="9251960" y="1381477"/>
              <a:ext cx="1383754" cy="110528"/>
            </a:xfrm>
            <a:prstGeom prst="roundRect">
              <a:avLst>
                <a:gd name="adj" fmla="val 41528"/>
              </a:avLst>
            </a:prstGeom>
            <a:solidFill>
              <a:srgbClr val="FFFFFF"/>
            </a:solidFill>
            <a:ln w="12700">
              <a:solidFill>
                <a:srgbClr val="D1D8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Text 87"/>
            <p:cNvSpPr txBox="1"/>
            <p:nvPr/>
          </p:nvSpPr>
          <p:spPr>
            <a:xfrm>
              <a:off x="9485092" y="1422679"/>
              <a:ext cx="914982" cy="56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1A1F3E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Apply Pattern</a:t>
              </a:r>
              <a:endParaRPr lang="en-US" sz="800"/>
            </a:p>
          </p:txBody>
        </p:sp>
        <p:sp>
          <p:nvSpPr>
            <p:cNvPr id="107" name="Text 79"/>
            <p:cNvSpPr txBox="1"/>
            <p:nvPr/>
          </p:nvSpPr>
          <p:spPr>
            <a:xfrm>
              <a:off x="10972536" y="1391760"/>
              <a:ext cx="495605" cy="14356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63500" tIns="25400" rIns="63500" bIns="2540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2E7D3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Resolved</a:t>
              </a:r>
              <a:endParaRPr lang="en-US" sz="800"/>
            </a:p>
          </p:txBody>
        </p:sp>
        <p:sp>
          <p:nvSpPr>
            <p:cNvPr id="234" name="Shape 82">
              <a:extLst>
                <a:ext uri="{FF2B5EF4-FFF2-40B4-BE49-F238E27FC236}">
                  <a16:creationId xmlns:a16="http://schemas.microsoft.com/office/drawing/2014/main" id="{6327C68E-1AE0-15FA-C4A0-4CE05CD6BF67}"/>
                </a:ext>
              </a:extLst>
            </p:cNvPr>
            <p:cNvSpPr/>
            <p:nvPr/>
          </p:nvSpPr>
          <p:spPr>
            <a:xfrm>
              <a:off x="10983003" y="2475177"/>
              <a:ext cx="529488" cy="450317"/>
            </a:xfrm>
            <a:prstGeom prst="roundRect">
              <a:avLst>
                <a:gd name="adj" fmla="val 50000"/>
              </a:avLst>
            </a:prstGeom>
            <a:solidFill>
              <a:srgbClr val="FAFBFC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Shape 82">
              <a:extLst>
                <a:ext uri="{FF2B5EF4-FFF2-40B4-BE49-F238E27FC236}">
                  <a16:creationId xmlns:a16="http://schemas.microsoft.com/office/drawing/2014/main" id="{8AB0B55A-A415-3FEF-1E79-4F7D256B4D95}"/>
                </a:ext>
              </a:extLst>
            </p:cNvPr>
            <p:cNvSpPr/>
            <p:nvPr/>
          </p:nvSpPr>
          <p:spPr>
            <a:xfrm>
              <a:off x="10997039" y="1817458"/>
              <a:ext cx="529488" cy="450317"/>
            </a:xfrm>
            <a:prstGeom prst="roundRect">
              <a:avLst>
                <a:gd name="adj" fmla="val 50000"/>
              </a:avLst>
            </a:prstGeom>
            <a:solidFill>
              <a:srgbClr val="FAFBFC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Text 79">
              <a:extLst>
                <a:ext uri="{FF2B5EF4-FFF2-40B4-BE49-F238E27FC236}">
                  <a16:creationId xmlns:a16="http://schemas.microsoft.com/office/drawing/2014/main" id="{6D13A5B6-A087-7ABE-2D27-FA0179D01804}"/>
                </a:ext>
              </a:extLst>
            </p:cNvPr>
            <p:cNvSpPr txBox="1"/>
            <p:nvPr/>
          </p:nvSpPr>
          <p:spPr>
            <a:xfrm>
              <a:off x="10991653" y="1976996"/>
              <a:ext cx="495605" cy="14356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63500" tIns="25400" rIns="63500" bIns="25400" rtlCol="0" anchor="ctr"/>
            <a:lstStyle/>
            <a:p>
              <a:pPr marL="0" indent="0" algn="l">
                <a:buNone/>
              </a:pPr>
              <a:r>
                <a:rPr lang="en-US" sz="800" b="1">
                  <a:solidFill>
                    <a:srgbClr val="2E7D32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Resolved</a:t>
              </a:r>
              <a:endParaRPr lang="en-US" sz="800"/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8ACBF237-6D74-E65E-C2A6-4C739E7E36EF}"/>
                </a:ext>
              </a:extLst>
            </p:cNvPr>
            <p:cNvSpPr txBox="1"/>
            <p:nvPr/>
          </p:nvSpPr>
          <p:spPr>
            <a:xfrm>
              <a:off x="553992" y="5463583"/>
              <a:ext cx="621453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>
                  <a:solidFill>
                    <a:srgbClr val="1A1F3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TRT-2025-892</a:t>
              </a:r>
              <a:endParaRPr lang="en-US" sz="1200"/>
            </a:p>
          </p:txBody>
        </p:sp>
        <p:sp>
          <p:nvSpPr>
            <p:cNvPr id="80" name="Shape 76">
              <a:extLst>
                <a:ext uri="{FF2B5EF4-FFF2-40B4-BE49-F238E27FC236}">
                  <a16:creationId xmlns:a16="http://schemas.microsoft.com/office/drawing/2014/main" id="{06043F18-6028-779B-C8DC-DD3658CF8597}"/>
                </a:ext>
              </a:extLst>
            </p:cNvPr>
            <p:cNvSpPr/>
            <p:nvPr/>
          </p:nvSpPr>
          <p:spPr>
            <a:xfrm>
              <a:off x="9366249" y="2749702"/>
              <a:ext cx="1231901" cy="170078"/>
            </a:xfrm>
            <a:prstGeom prst="roundRect">
              <a:avLst>
                <a:gd name="adj" fmla="val 238189"/>
              </a:avLst>
            </a:prstGeom>
            <a:solidFill>
              <a:srgbClr val="FAFBFC"/>
            </a:solidFill>
            <a:ln w="12700">
              <a:solidFill>
                <a:srgbClr val="EEF2F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 83"/>
            <p:cNvSpPr txBox="1"/>
            <p:nvPr/>
          </p:nvSpPr>
          <p:spPr>
            <a:xfrm>
              <a:off x="9575233" y="2770412"/>
              <a:ext cx="967624" cy="11570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TRT-2023-451</a:t>
              </a:r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54930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Solution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237744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CFD8EA"/>
                </a:solidFill>
                <a:latin typeface="Arial"/>
              </a:rPr>
              <a:t>Three key capabilities to automate TRT analysis and decision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3596640" cy="4937760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58952" y="14447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44752"/>
            <a:ext cx="402336" cy="40233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2351" y="1466231"/>
            <a:ext cx="2407919" cy="218231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1300" b="1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TRT Signal Detection</a:t>
            </a:r>
            <a:endParaRPr lang="en-US" sz="130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92351" y="1927057"/>
            <a:ext cx="2407919" cy="1797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>
            <a:lvl1pPr>
              <a:lnSpc>
                <a:spcPct val="122000"/>
              </a:lnSpc>
              <a:defRPr sz="950" b="0" i="1">
                <a:solidFill>
                  <a:srgbClr val="CFD8EA"/>
                </a:solidFill>
                <a:latin typeface="Arial"/>
              </a:defRPr>
            </a:lvl1pPr>
          </a:lstStyle>
          <a:p>
            <a:r>
              <a:rPr lang="en-US"/>
              <a:t>Automatic Data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6600" y="1316736"/>
            <a:ext cx="731520" cy="54864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2800" b="1" i="0">
                <a:solidFill>
                  <a:srgbClr val="6B7280"/>
                </a:solidFill>
                <a:latin typeface="Arial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231136"/>
            <a:ext cx="3157728" cy="118872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635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2376" y="2231136"/>
            <a:ext cx="54864" cy="1188720"/>
          </a:xfrm>
          <a:prstGeom prst="rect">
            <a:avLst/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393088"/>
            <a:ext cx="274320" cy="188159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3E8E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322576"/>
            <a:ext cx="2682240" cy="187453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Signal Activation</a:t>
            </a:r>
            <a:endParaRPr lang="en-US" sz="1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61288" y="2633472"/>
            <a:ext cx="2682240" cy="295175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Agent activates upon TRT Signal detection from SafetyNet</a:t>
            </a:r>
            <a:endParaRPr lang="en-US" sz="9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22376" y="3511296"/>
            <a:ext cx="3157728" cy="118872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635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2376" y="3511296"/>
            <a:ext cx="54864" cy="1188720"/>
          </a:xfrm>
          <a:prstGeom prst="rect">
            <a:avLst/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673248"/>
            <a:ext cx="274320" cy="188159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3E8E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3602736"/>
            <a:ext cx="2682240" cy="187453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Autonomous Gathering</a:t>
            </a:r>
            <a:endParaRPr lang="en-US" sz="1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61288" y="3913632"/>
            <a:ext cx="2682240" cy="295175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Automatically queries transaction stores, Bears reports, EventHub, and historical data</a:t>
            </a:r>
            <a:endParaRPr lang="en-US" sz="9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22376" y="4791456"/>
            <a:ext cx="3157728" cy="118872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635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22376" y="4791456"/>
            <a:ext cx="54864" cy="1188720"/>
          </a:xfrm>
          <a:prstGeom prst="rect">
            <a:avLst/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953408"/>
            <a:ext cx="274320" cy="188159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3E8EE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" y="4882896"/>
            <a:ext cx="2682240" cy="187453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1100" b="1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Automated Assembly</a:t>
            </a:r>
            <a:endParaRPr lang="en-US" sz="11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61288" y="5193792"/>
            <a:ext cx="2682240" cy="433674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9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 manual Excel upload needed - agent assembles all context autonomously with schema mapping and normalization</a:t>
            </a:r>
            <a:endParaRPr lang="en-US" sz="9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282439" y="1188720"/>
            <a:ext cx="3596640" cy="4937760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538472" y="14447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38472" y="1444752"/>
            <a:ext cx="402336" cy="40233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7111" y="1371600"/>
            <a:ext cx="2407919" cy="54864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Transactions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7111" y="1901952"/>
            <a:ext cx="2407919" cy="21945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1">
                <a:solidFill>
                  <a:srgbClr val="CFD8EA"/>
                </a:solidFill>
                <a:latin typeface="Arial"/>
              </a:rPr>
              <a:t>Deep Dive &amp;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6119" y="1316736"/>
            <a:ext cx="731520" cy="54864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2800" b="1" i="0">
                <a:solidFill>
                  <a:srgbClr val="6B7280"/>
                </a:solidFill>
                <a:latin typeface="Arial"/>
              </a:rPr>
              <a:t>02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01896" y="2231136"/>
            <a:ext cx="3157728" cy="118872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635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01896" y="2231136"/>
            <a:ext cx="54864" cy="1188720"/>
          </a:xfrm>
          <a:prstGeom prst="rect">
            <a:avLst/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48200" y="2359152"/>
            <a:ext cx="274320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EC47C"/>
                </a:solidFill>
                <a:latin typeface="Arial"/>
              </a:rPr>
              <a:t>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40807" y="2322576"/>
            <a:ext cx="2682240" cy="27432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Key Metrics Calculation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40807" y="2633472"/>
            <a:ext cx="2682240" cy="713232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Volumes, velocity, merchant / PAN concentration, geo spread.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01896" y="3511296"/>
            <a:ext cx="3157728" cy="118872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635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01896" y="3511296"/>
            <a:ext cx="54864" cy="1188720"/>
          </a:xfrm>
          <a:prstGeom prst="rect">
            <a:avLst/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48200" y="3639312"/>
            <a:ext cx="274320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EC47C"/>
                </a:solidFill>
                <a:latin typeface="Arial"/>
              </a:rPr>
              <a:t>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0807" y="3602736"/>
            <a:ext cx="2682240" cy="27432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Contextual Reasoning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40807" y="3913632"/>
            <a:ext cx="2682240" cy="713232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Likely root causes, gate interactions, false-positive indicators.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01896" y="4791456"/>
            <a:ext cx="3157728" cy="118872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635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501896" y="4791456"/>
            <a:ext cx="54864" cy="1188720"/>
          </a:xfrm>
          <a:prstGeom prst="rect">
            <a:avLst/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48200" y="4919472"/>
            <a:ext cx="274320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2EC47C"/>
                </a:solidFill>
                <a:latin typeface="Arial"/>
              </a:rPr>
              <a:t>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40807" y="4882896"/>
            <a:ext cx="2682240" cy="27432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Drill-down Analysis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40807" y="5193792"/>
            <a:ext cx="2682240" cy="713232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Impacted merchants / PANs, triggers, change drivers.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61960" y="1188720"/>
            <a:ext cx="3596640" cy="4937760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17991" y="144475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17991" y="1444752"/>
            <a:ext cx="402336" cy="40233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6632" y="1371600"/>
            <a:ext cx="2407919" cy="54864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Summary &amp; Recommendations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6632" y="1901952"/>
            <a:ext cx="2407919" cy="21945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1">
                <a:solidFill>
                  <a:srgbClr val="CFD8EA"/>
                </a:solidFill>
                <a:latin typeface="Arial"/>
              </a:rPr>
              <a:t>Actionable Insights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1316736"/>
            <a:ext cx="731520" cy="54864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2800" b="1" i="0">
                <a:solidFill>
                  <a:srgbClr val="6B7280"/>
                </a:solidFill>
                <a:latin typeface="Arial"/>
              </a:rPr>
              <a:t>03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81416" y="2231136"/>
            <a:ext cx="3157728" cy="118872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635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281416" y="2231136"/>
            <a:ext cx="54864" cy="1188720"/>
          </a:xfrm>
          <a:prstGeom prst="rect">
            <a:avLst/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27720" y="2359152"/>
            <a:ext cx="274320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E84A26"/>
                </a:solidFill>
                <a:latin typeface="Arial"/>
              </a:rPr>
              <a:t>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20328" y="2322576"/>
            <a:ext cx="2682240" cy="27432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AI-Generated Summary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20328" y="2633472"/>
            <a:ext cx="2682240" cy="713232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Plain-English event summary and rationale (explainable).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81416" y="3511296"/>
            <a:ext cx="3157728" cy="118872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635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281416" y="3511296"/>
            <a:ext cx="54864" cy="1188720"/>
          </a:xfrm>
          <a:prstGeom prst="rect">
            <a:avLst/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27720" y="3639312"/>
            <a:ext cx="274320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E84A26"/>
                </a:solidFill>
                <a:latin typeface="Arial"/>
              </a:rPr>
              <a:t>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20328" y="3602736"/>
            <a:ext cx="2682240" cy="27432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Actionable Next Steps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20328" y="3913632"/>
            <a:ext cx="2682240" cy="713232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Block / monitor, whitelist, threshold update, or no action.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81416" y="4791456"/>
            <a:ext cx="3157728" cy="1188720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635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8281416" y="4791456"/>
            <a:ext cx="54864" cy="1188720"/>
          </a:xfrm>
          <a:prstGeom prst="rect">
            <a:avLst/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27720" y="4919472"/>
            <a:ext cx="274320" cy="256032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1" i="0">
                <a:solidFill>
                  <a:srgbClr val="E84A26"/>
                </a:solidFill>
                <a:latin typeface="Arial"/>
              </a:rPr>
              <a:t>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20328" y="4882896"/>
            <a:ext cx="2682240" cy="27432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One-Click Export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20328" y="5193792"/>
            <a:ext cx="2682240" cy="713232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00" b="0" i="0">
                <a:solidFill>
                  <a:srgbClr val="CFD8EA"/>
                </a:solidFill>
                <a:latin typeface="Arial"/>
              </a:rPr>
              <a:t>Structured report and prefilled forms (UDT / threshold / whitelist).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" y="6620256"/>
            <a:ext cx="7315200" cy="18288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8E99B5"/>
                </a:solidFill>
                <a:latin typeface="Arial"/>
              </a:rPr>
              <a:t>Confidential Information – For intended recipients only. Apexon, Copyright © 2026 All rights reserved.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38560" y="6620256"/>
            <a:ext cx="457200" cy="18288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 i="0">
                <a:solidFill>
                  <a:srgbClr val="8E99B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928" y="0"/>
            <a:ext cx="12191695" cy="6858000"/>
          </a:xfrm>
          <a:prstGeom prst="rect">
            <a:avLst/>
          </a:prstGeom>
          <a:solidFill>
            <a:srgbClr val="0A1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55680" cy="40233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200" b="1" i="0">
                <a:solidFill>
                  <a:srgbClr val="FFFFFF"/>
                </a:solidFill>
                <a:latin typeface="Arial"/>
              </a:rPr>
              <a:t>AI-Assisted 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1155680" cy="237744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CFD8EA"/>
                </a:solidFill>
                <a:latin typeface="Arial"/>
              </a:rPr>
              <a:t>Complete flow from data ingestion to memory &amp; governance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0040" y="6620256"/>
            <a:ext cx="7315200" cy="18288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00" b="0" i="0">
                <a:solidFill>
                  <a:srgbClr val="8E99B5"/>
                </a:solidFill>
                <a:latin typeface="Arial"/>
              </a:rPr>
              <a:t>Confidential Information – For intended recipients only. Apexon, Copyright © 2026 All rights reserved.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338560" y="6620256"/>
            <a:ext cx="457200" cy="18288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800" b="1" i="0">
                <a:solidFill>
                  <a:srgbClr val="8E99B5"/>
                </a:solidFill>
                <a:latin typeface="Arial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1495" y="1198287"/>
            <a:ext cx="1544389" cy="5165937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70418" y="1389618"/>
            <a:ext cx="290077" cy="344396"/>
          </a:xfrm>
          <a:prstGeom prst="roundRect">
            <a:avLst>
              <a:gd name="adj" fmla="val 18000"/>
            </a:avLst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70418" y="1389618"/>
            <a:ext cx="290077" cy="34439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0418" y="1791413"/>
            <a:ext cx="1286543" cy="203035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150" b="1" i="0">
                <a:solidFill>
                  <a:srgbClr val="FFFFFF"/>
                </a:solidFill>
                <a:latin typeface="Arial"/>
              </a:rPr>
              <a:t>Data Ingestion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38187" y="2250608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38187" y="2250608"/>
            <a:ext cx="40288" cy="1147986"/>
          </a:xfrm>
          <a:prstGeom prst="rect">
            <a:avLst/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34879" y="2346273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Agent-Initiated Pull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4879" y="2709802"/>
            <a:ext cx="1254312" cy="31840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From </a:t>
            </a:r>
            <a:r>
              <a:rPr lang="en-US" sz="800" b="0" i="0">
                <a:solidFill>
                  <a:srgbClr val="CFD8EA"/>
                </a:solidFill>
                <a:latin typeface="Arial"/>
              </a:rPr>
              <a:t>SafetyNet</a:t>
            </a:r>
            <a:r>
              <a:rPr sz="800" b="0" i="0">
                <a:solidFill>
                  <a:srgbClr val="CFD8EA"/>
                </a:solidFill>
                <a:latin typeface="Arial"/>
              </a:rPr>
              <a:t> signal </a:t>
            </a:r>
            <a:r>
              <a:rPr lang="en-US" sz="800" b="0" i="0">
                <a:solidFill>
                  <a:srgbClr val="CFD8EA"/>
                </a:solidFill>
                <a:latin typeface="Arial"/>
              </a:rPr>
              <a:t>create the TRT Excel sheet</a:t>
            </a:r>
            <a:endParaRPr sz="800" b="0" i="0">
              <a:solidFill>
                <a:srgbClr val="CFD8EA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238187" y="3475126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38187" y="3475126"/>
            <a:ext cx="40288" cy="1147986"/>
          </a:xfrm>
          <a:prstGeom prst="rect">
            <a:avLst/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4879" y="3570791"/>
            <a:ext cx="1254312" cy="310564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Transactions &amp; Bears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34879" y="3934320"/>
            <a:ext cx="1254312" cy="14128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Auto-pull sources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238187" y="4699644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38187" y="4699644"/>
            <a:ext cx="40288" cy="1147986"/>
          </a:xfrm>
          <a:prstGeom prst="rect">
            <a:avLst/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4879" y="4795310"/>
            <a:ext cx="1254312" cy="164370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950" b="1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EventHub &amp; History</a:t>
            </a:r>
            <a:endParaRPr lang="en-US" sz="9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34879" y="5158839"/>
            <a:ext cx="1254312" cy="14128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Historical data fetch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798692" y="1198287"/>
            <a:ext cx="1544389" cy="5165937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927615" y="1389618"/>
            <a:ext cx="290077" cy="344396"/>
          </a:xfrm>
          <a:prstGeom prst="roundRect">
            <a:avLst>
              <a:gd name="adj" fmla="val 18000"/>
            </a:avLst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927615" y="1389618"/>
            <a:ext cx="290077" cy="34439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5731" y="1389618"/>
            <a:ext cx="483461" cy="286997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1" i="0">
                <a:solidFill>
                  <a:srgbClr val="6B7280"/>
                </a:solidFill>
                <a:latin typeface="Arial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27615" y="1791413"/>
            <a:ext cx="1286543" cy="363529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Analysis &amp; Context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95384" y="2250608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895384" y="2250608"/>
            <a:ext cx="40288" cy="1147986"/>
          </a:xfrm>
          <a:prstGeom prst="rect">
            <a:avLst/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92076" y="2346273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Metrics &amp; Baselining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92076" y="2709802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PANs, merchants, geos, thresholds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95384" y="3475126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895384" y="3475126"/>
            <a:ext cx="40288" cy="1147986"/>
          </a:xfrm>
          <a:prstGeom prst="rect">
            <a:avLst/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92076" y="3570791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Pattern Recognition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92076" y="3934320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Root cause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95384" y="4699644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895384" y="4699644"/>
            <a:ext cx="40288" cy="1147986"/>
          </a:xfrm>
          <a:prstGeom prst="rect">
            <a:avLst/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92076" y="4795310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Threshold Proximity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92076" y="5158839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Gate interactions &amp; insights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55888" y="1198287"/>
            <a:ext cx="1544389" cy="5165937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5584811" y="1389618"/>
            <a:ext cx="290077" cy="344396"/>
          </a:xfrm>
          <a:prstGeom prst="roundRect">
            <a:avLst>
              <a:gd name="adj" fmla="val 18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584811" y="1389618"/>
            <a:ext cx="290077" cy="34439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927" y="1389618"/>
            <a:ext cx="483461" cy="286997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1" i="0">
                <a:solidFill>
                  <a:srgbClr val="6B7280"/>
                </a:solidFill>
                <a:latin typeface="Arial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84811" y="1791413"/>
            <a:ext cx="1415466" cy="203035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Recommendations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52580" y="2250608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552580" y="2250608"/>
            <a:ext cx="40288" cy="1147986"/>
          </a:xfrm>
          <a:prstGeom prst="rect">
            <a:avLst/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49273" y="2346273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Explainable Summary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49273" y="2709802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AI-generated rationale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52580" y="3475126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552580" y="3475126"/>
            <a:ext cx="40288" cy="1147986"/>
          </a:xfrm>
          <a:prstGeom prst="rect">
            <a:avLst/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649273" y="3570791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Action Recommender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49273" y="3934320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Block / monitor / whitelist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52580" y="4699644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552580" y="4699644"/>
            <a:ext cx="40288" cy="1147986"/>
          </a:xfrm>
          <a:prstGeom prst="rect">
            <a:avLst/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49273" y="4795310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Decision Support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49273" y="5158839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Clear next steps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113085" y="1198287"/>
            <a:ext cx="1544389" cy="5165937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242008" y="1389618"/>
            <a:ext cx="290077" cy="344396"/>
          </a:xfrm>
          <a:prstGeom prst="roundRect">
            <a:avLst>
              <a:gd name="adj" fmla="val 18000"/>
            </a:avLst>
          </a:prstGeom>
          <a:solidFill>
            <a:srgbClr val="8B5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242008" y="1389618"/>
            <a:ext cx="290077" cy="34439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20124" y="1389618"/>
            <a:ext cx="483461" cy="286997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1" i="0">
                <a:solidFill>
                  <a:srgbClr val="6B7280"/>
                </a:solidFill>
                <a:latin typeface="Arial"/>
              </a:rPr>
              <a:t>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42008" y="1791413"/>
            <a:ext cx="1286543" cy="363529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Interaction Layer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09777" y="2250608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209777" y="2250608"/>
            <a:ext cx="40288" cy="1147986"/>
          </a:xfrm>
          <a:prstGeom prst="rect">
            <a:avLst/>
          </a:prstGeom>
          <a:solidFill>
            <a:srgbClr val="8B5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306469" y="2346273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Visual Dashboard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06469" y="2709802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Event flow &amp; risk indicators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209777" y="3475126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7209777" y="3475126"/>
            <a:ext cx="40288" cy="1147986"/>
          </a:xfrm>
          <a:prstGeom prst="rect">
            <a:avLst/>
          </a:prstGeom>
          <a:solidFill>
            <a:srgbClr val="8B5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306469" y="3570791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Chat Co-Pilot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06469" y="3934320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Natural language queries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09777" y="4699644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209777" y="4699644"/>
            <a:ext cx="40288" cy="1147986"/>
          </a:xfrm>
          <a:prstGeom prst="rect">
            <a:avLst/>
          </a:prstGeom>
          <a:solidFill>
            <a:srgbClr val="8B5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306469" y="4795310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Ad-hoc Analysis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06469" y="5158839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Drill-down capabilities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70281" y="1198287"/>
            <a:ext cx="1544389" cy="5165937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8899204" y="1389618"/>
            <a:ext cx="290077" cy="344396"/>
          </a:xfrm>
          <a:prstGeom prst="roundRect">
            <a:avLst>
              <a:gd name="adj" fmla="val 18000"/>
            </a:avLst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899204" y="1389618"/>
            <a:ext cx="290077" cy="34439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77321" y="1389618"/>
            <a:ext cx="483461" cy="286997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1" i="0">
                <a:solidFill>
                  <a:srgbClr val="6B7280"/>
                </a:solidFill>
                <a:latin typeface="Arial"/>
              </a:rPr>
              <a:t>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99204" y="1791413"/>
            <a:ext cx="1286543" cy="363529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Action Assistance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866974" y="2250608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866974" y="2250608"/>
            <a:ext cx="40288" cy="1147986"/>
          </a:xfrm>
          <a:prstGeom prst="rect">
            <a:avLst/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963666" y="2346273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Prefilled Outputs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63666" y="2709802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UDT / threshold forms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866974" y="3475126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866974" y="3475126"/>
            <a:ext cx="40288" cy="1147986"/>
          </a:xfrm>
          <a:prstGeom prst="rect">
            <a:avLst/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963666" y="3570791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One-Click Export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63666" y="3934320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Email to downstream team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866974" y="4699644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866974" y="4699644"/>
            <a:ext cx="40288" cy="1147986"/>
          </a:xfrm>
          <a:prstGeom prst="rect">
            <a:avLst/>
          </a:prstGeom>
          <a:solidFill>
            <a:srgbClr val="2EC4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963666" y="4795310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Workflow Integration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63666" y="5158839"/>
            <a:ext cx="1254312" cy="61225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0" i="0">
                <a:solidFill>
                  <a:srgbClr val="CFD8EA"/>
                </a:solidFill>
                <a:latin typeface="Arial"/>
              </a:rPr>
              <a:t>Seamless handoff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427478" y="1198287"/>
            <a:ext cx="1544389" cy="5165937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10556401" y="1389618"/>
            <a:ext cx="290077" cy="344396"/>
          </a:xfrm>
          <a:prstGeom prst="roundRect">
            <a:avLst>
              <a:gd name="adj" fmla="val 18000"/>
            </a:avLst>
          </a:prstGeom>
          <a:solidFill>
            <a:srgbClr val="E0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556401" y="1389618"/>
            <a:ext cx="290077" cy="344396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34517" y="1389618"/>
            <a:ext cx="483461" cy="286997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1" i="0">
                <a:solidFill>
                  <a:srgbClr val="6B7280"/>
                </a:solidFill>
                <a:latin typeface="Arial"/>
              </a:rPr>
              <a:t>06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56401" y="1791413"/>
            <a:ext cx="1286543" cy="363529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Memory &amp; Governance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524170" y="2250608"/>
            <a:ext cx="1351005" cy="2678634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0524170" y="2250608"/>
            <a:ext cx="40288" cy="2678634"/>
          </a:xfrm>
          <a:prstGeom prst="rect">
            <a:avLst/>
          </a:prstGeom>
          <a:solidFill>
            <a:srgbClr val="E0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620862" y="2346273"/>
            <a:ext cx="1254312" cy="34439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950" b="1" i="0">
                <a:solidFill>
                  <a:srgbClr val="FFFFFF"/>
                </a:solidFill>
                <a:latin typeface="Arial"/>
              </a:rPr>
              <a:t>Organizational Memory</a:t>
            </a:r>
          </a:p>
        </p:txBody>
      </p:sp>
      <p:sp>
        <p:nvSpPr>
          <p:cNvPr id="101" name="Shape 65">
            <a:extLst>
              <a:ext uri="{FF2B5EF4-FFF2-40B4-BE49-F238E27FC236}">
                <a16:creationId xmlns:a16="http://schemas.microsoft.com/office/drawing/2014/main" id="{47A89406-3C1A-8B02-27D0-1FE059E50AA1}"/>
              </a:ext>
            </a:extLst>
          </p:cNvPr>
          <p:cNvSpPr/>
          <p:nvPr/>
        </p:nvSpPr>
        <p:spPr>
          <a:xfrm>
            <a:off x="10744962" y="2988987"/>
            <a:ext cx="66879" cy="7940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66">
            <a:extLst>
              <a:ext uri="{FF2B5EF4-FFF2-40B4-BE49-F238E27FC236}">
                <a16:creationId xmlns:a16="http://schemas.microsoft.com/office/drawing/2014/main" id="{7CBD9900-6991-5761-08E9-DA0AA2251AC8}"/>
              </a:ext>
            </a:extLst>
          </p:cNvPr>
          <p:cNvSpPr txBox="1"/>
          <p:nvPr/>
        </p:nvSpPr>
        <p:spPr>
          <a:xfrm>
            <a:off x="10879526" y="2958374"/>
            <a:ext cx="686515" cy="13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Past events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Shape 67">
            <a:extLst>
              <a:ext uri="{FF2B5EF4-FFF2-40B4-BE49-F238E27FC236}">
                <a16:creationId xmlns:a16="http://schemas.microsoft.com/office/drawing/2014/main" id="{BCBBE928-1B86-9465-ECA0-0ED5E7471AD5}"/>
              </a:ext>
            </a:extLst>
          </p:cNvPr>
          <p:cNvSpPr/>
          <p:nvPr/>
        </p:nvSpPr>
        <p:spPr>
          <a:xfrm>
            <a:off x="10744962" y="3247284"/>
            <a:ext cx="66879" cy="7940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 68">
            <a:extLst>
              <a:ext uri="{FF2B5EF4-FFF2-40B4-BE49-F238E27FC236}">
                <a16:creationId xmlns:a16="http://schemas.microsoft.com/office/drawing/2014/main" id="{D3F6E55F-3C31-AAE8-163E-030DB576814A}"/>
              </a:ext>
            </a:extLst>
          </p:cNvPr>
          <p:cNvSpPr txBox="1"/>
          <p:nvPr/>
        </p:nvSpPr>
        <p:spPr>
          <a:xfrm>
            <a:off x="10879526" y="3217628"/>
            <a:ext cx="937108" cy="13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Decisions taken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Shape 69">
            <a:extLst>
              <a:ext uri="{FF2B5EF4-FFF2-40B4-BE49-F238E27FC236}">
                <a16:creationId xmlns:a16="http://schemas.microsoft.com/office/drawing/2014/main" id="{C356D685-2F16-5802-4811-18558459EB71}"/>
              </a:ext>
            </a:extLst>
          </p:cNvPr>
          <p:cNvSpPr/>
          <p:nvPr/>
        </p:nvSpPr>
        <p:spPr>
          <a:xfrm>
            <a:off x="10744962" y="3506537"/>
            <a:ext cx="66879" cy="7940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 70">
            <a:extLst>
              <a:ext uri="{FF2B5EF4-FFF2-40B4-BE49-F238E27FC236}">
                <a16:creationId xmlns:a16="http://schemas.microsoft.com/office/drawing/2014/main" id="{E8C5D057-3901-8232-9DD5-818DA5F7375C}"/>
              </a:ext>
            </a:extLst>
          </p:cNvPr>
          <p:cNvSpPr txBox="1"/>
          <p:nvPr/>
        </p:nvSpPr>
        <p:spPr>
          <a:xfrm>
            <a:off x="10879526" y="3475127"/>
            <a:ext cx="609741" cy="141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Outcomes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71">
            <a:extLst>
              <a:ext uri="{FF2B5EF4-FFF2-40B4-BE49-F238E27FC236}">
                <a16:creationId xmlns:a16="http://schemas.microsoft.com/office/drawing/2014/main" id="{DD8520FC-07DD-E508-47E9-8CAF31E641F6}"/>
              </a:ext>
            </a:extLst>
          </p:cNvPr>
          <p:cNvSpPr/>
          <p:nvPr/>
        </p:nvSpPr>
        <p:spPr>
          <a:xfrm>
            <a:off x="10744962" y="3765791"/>
            <a:ext cx="66879" cy="79402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72">
            <a:extLst>
              <a:ext uri="{FF2B5EF4-FFF2-40B4-BE49-F238E27FC236}">
                <a16:creationId xmlns:a16="http://schemas.microsoft.com/office/drawing/2014/main" id="{9F52CAE7-699E-24C1-1D13-F517BC12D8CD}"/>
              </a:ext>
            </a:extLst>
          </p:cNvPr>
          <p:cNvSpPr txBox="1"/>
          <p:nvPr/>
        </p:nvSpPr>
        <p:spPr>
          <a:xfrm>
            <a:off x="10879526" y="3736134"/>
            <a:ext cx="509246" cy="13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Feedback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Rounded Rectangle 4">
            <a:extLst>
              <a:ext uri="{FF2B5EF4-FFF2-40B4-BE49-F238E27FC236}">
                <a16:creationId xmlns:a16="http://schemas.microsoft.com/office/drawing/2014/main" id="{570E83A8-E0CD-B700-E5B6-143F112D9412}"/>
              </a:ext>
            </a:extLst>
          </p:cNvPr>
          <p:cNvSpPr/>
          <p:nvPr/>
        </p:nvSpPr>
        <p:spPr>
          <a:xfrm>
            <a:off x="502920" y="1188720"/>
            <a:ext cx="1544389" cy="5165937"/>
          </a:xfrm>
          <a:prstGeom prst="roundRect">
            <a:avLst>
              <a:gd name="adj" fmla="val 5000"/>
            </a:avLst>
          </a:prstGeom>
          <a:solidFill>
            <a:srgbClr val="0E1835"/>
          </a:solidFill>
          <a:ln w="9525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E6E918F-B616-7982-1A30-3A73A6E0892A}"/>
              </a:ext>
            </a:extLst>
          </p:cNvPr>
          <p:cNvSpPr txBox="1"/>
          <p:nvPr/>
        </p:nvSpPr>
        <p:spPr>
          <a:xfrm>
            <a:off x="631843" y="1781846"/>
            <a:ext cx="1417990" cy="204165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50" b="1">
                <a:solidFill>
                  <a:srgbClr val="FFFFFF"/>
                </a:solidFill>
                <a:latin typeface="Arial"/>
              </a:rPr>
              <a:t>TRT Signal Detection</a:t>
            </a:r>
          </a:p>
        </p:txBody>
      </p:sp>
      <p:sp>
        <p:nvSpPr>
          <p:cNvPr id="177" name="Rounded Rectangle 9">
            <a:extLst>
              <a:ext uri="{FF2B5EF4-FFF2-40B4-BE49-F238E27FC236}">
                <a16:creationId xmlns:a16="http://schemas.microsoft.com/office/drawing/2014/main" id="{7942CBCE-7C96-5CC5-EAA8-1BC926B6E59B}"/>
              </a:ext>
            </a:extLst>
          </p:cNvPr>
          <p:cNvSpPr/>
          <p:nvPr/>
        </p:nvSpPr>
        <p:spPr>
          <a:xfrm>
            <a:off x="599612" y="2241041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7C2CD0F7-F19B-EF80-7373-B18751E90C9D}"/>
              </a:ext>
            </a:extLst>
          </p:cNvPr>
          <p:cNvSpPr/>
          <p:nvPr/>
        </p:nvSpPr>
        <p:spPr>
          <a:xfrm>
            <a:off x="599612" y="2241041"/>
            <a:ext cx="40288" cy="1147986"/>
          </a:xfrm>
          <a:prstGeom prst="rect">
            <a:avLst/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5CB9676-3631-D50F-C18A-8B8A0F9A6115}"/>
              </a:ext>
            </a:extLst>
          </p:cNvPr>
          <p:cNvSpPr txBox="1"/>
          <p:nvPr/>
        </p:nvSpPr>
        <p:spPr>
          <a:xfrm>
            <a:off x="696304" y="2336706"/>
            <a:ext cx="1254312" cy="17196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950" b="1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SafetyNet Signal</a:t>
            </a:r>
            <a:endParaRPr lang="en-US" sz="9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9A77D10A-4E29-3651-6E2C-F64199477802}"/>
              </a:ext>
            </a:extLst>
          </p:cNvPr>
          <p:cNvSpPr txBox="1"/>
          <p:nvPr/>
        </p:nvSpPr>
        <p:spPr>
          <a:xfrm>
            <a:off x="696304" y="2700235"/>
            <a:ext cx="1254312" cy="147815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Fraud detection trigger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5" name="Rounded Rectangle 13">
            <a:extLst>
              <a:ext uri="{FF2B5EF4-FFF2-40B4-BE49-F238E27FC236}">
                <a16:creationId xmlns:a16="http://schemas.microsoft.com/office/drawing/2014/main" id="{B4A0052F-1A7A-4839-F76A-1C3DED148E75}"/>
              </a:ext>
            </a:extLst>
          </p:cNvPr>
          <p:cNvSpPr/>
          <p:nvPr/>
        </p:nvSpPr>
        <p:spPr>
          <a:xfrm>
            <a:off x="599612" y="3465559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71A7762-6140-99A8-21A0-D345878DC74E}"/>
              </a:ext>
            </a:extLst>
          </p:cNvPr>
          <p:cNvSpPr/>
          <p:nvPr/>
        </p:nvSpPr>
        <p:spPr>
          <a:xfrm>
            <a:off x="599612" y="3465559"/>
            <a:ext cx="40288" cy="1147986"/>
          </a:xfrm>
          <a:prstGeom prst="rect">
            <a:avLst/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AB842A4-808D-10DA-0A63-B5093CCB035A}"/>
              </a:ext>
            </a:extLst>
          </p:cNvPr>
          <p:cNvSpPr txBox="1"/>
          <p:nvPr/>
        </p:nvSpPr>
        <p:spPr>
          <a:xfrm>
            <a:off x="696304" y="3561225"/>
            <a:ext cx="1254312" cy="17196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950" b="1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Agent Activation</a:t>
            </a:r>
            <a:endParaRPr lang="en-US" sz="9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F10CE85B-2E45-1792-B652-3924712A3FAC}"/>
              </a:ext>
            </a:extLst>
          </p:cNvPr>
          <p:cNvSpPr txBox="1"/>
          <p:nvPr/>
        </p:nvSpPr>
        <p:spPr>
          <a:xfrm>
            <a:off x="696304" y="3924754"/>
            <a:ext cx="1254312" cy="147815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Autonomous wake-up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3" name="Rounded Rectangle 17">
            <a:extLst>
              <a:ext uri="{FF2B5EF4-FFF2-40B4-BE49-F238E27FC236}">
                <a16:creationId xmlns:a16="http://schemas.microsoft.com/office/drawing/2014/main" id="{1FB55D51-CCD8-430C-AD5A-9A122CF96C26}"/>
              </a:ext>
            </a:extLst>
          </p:cNvPr>
          <p:cNvSpPr/>
          <p:nvPr/>
        </p:nvSpPr>
        <p:spPr>
          <a:xfrm>
            <a:off x="599612" y="4690078"/>
            <a:ext cx="1351005" cy="1147986"/>
          </a:xfrm>
          <a:prstGeom prst="roundRect">
            <a:avLst>
              <a:gd name="adj" fmla="val 5000"/>
            </a:avLst>
          </a:prstGeom>
          <a:solidFill>
            <a:srgbClr val="141F3A"/>
          </a:solidFill>
          <a:ln w="5080">
            <a:solidFill>
              <a:srgbClr val="223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19DDA8AB-5503-D489-B4A4-68A0AB76A7F6}"/>
              </a:ext>
            </a:extLst>
          </p:cNvPr>
          <p:cNvSpPr/>
          <p:nvPr/>
        </p:nvSpPr>
        <p:spPr>
          <a:xfrm>
            <a:off x="599612" y="4690078"/>
            <a:ext cx="40288" cy="1147986"/>
          </a:xfrm>
          <a:prstGeom prst="rect">
            <a:avLst/>
          </a:prstGeom>
          <a:solidFill>
            <a:srgbClr val="3E8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AA0E85F6-1C25-A69B-1837-B3EEB0BE449E}"/>
              </a:ext>
            </a:extLst>
          </p:cNvPr>
          <p:cNvSpPr txBox="1"/>
          <p:nvPr/>
        </p:nvSpPr>
        <p:spPr>
          <a:xfrm>
            <a:off x="696304" y="4785743"/>
            <a:ext cx="1254312" cy="171966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950" b="1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Metadata Capture</a:t>
            </a:r>
            <a:endParaRPr lang="en-US" sz="95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8C60DD4D-22E4-31E8-7A3A-4D70CCBAAB13}"/>
              </a:ext>
            </a:extLst>
          </p:cNvPr>
          <p:cNvSpPr txBox="1"/>
          <p:nvPr/>
        </p:nvSpPr>
        <p:spPr>
          <a:xfrm>
            <a:off x="696304" y="5149272"/>
            <a:ext cx="1254312" cy="147815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TRT ID, severity, gates</a:t>
            </a:r>
            <a:endParaRPr lang="en-US" sz="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1" name="Image 27" descr="gen-dedup-afd4670177428ccc4e5028ad57aaea35.png">
            <a:extLst>
              <a:ext uri="{FF2B5EF4-FFF2-40B4-BE49-F238E27FC236}">
                <a16:creationId xmlns:a16="http://schemas.microsoft.com/office/drawing/2014/main" id="{E2436919-50F4-E0B0-6835-12BFDF6DB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843" y="1362901"/>
            <a:ext cx="302163" cy="302163"/>
          </a:xfrm>
          <a:prstGeom prst="rect">
            <a:avLst/>
          </a:prstGeom>
        </p:spPr>
      </p:pic>
      <p:pic>
        <p:nvPicPr>
          <p:cNvPr id="203" name="Image 25" descr="gen-dedup-771ee0d060dc83b911c3700cab3aca47.png">
            <a:extLst>
              <a:ext uri="{FF2B5EF4-FFF2-40B4-BE49-F238E27FC236}">
                <a16:creationId xmlns:a16="http://schemas.microsoft.com/office/drawing/2014/main" id="{4907238A-BC7E-0BC1-C48E-E8AC13551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1532" y="1454655"/>
            <a:ext cx="92663" cy="92663"/>
          </a:xfrm>
          <a:prstGeom prst="rect">
            <a:avLst/>
          </a:prstGeom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199E5B70-9979-7717-67E6-7969FFB34A1E}"/>
              </a:ext>
            </a:extLst>
          </p:cNvPr>
          <p:cNvSpPr txBox="1"/>
          <p:nvPr/>
        </p:nvSpPr>
        <p:spPr>
          <a:xfrm>
            <a:off x="1511897" y="1332218"/>
            <a:ext cx="483461" cy="286997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1" i="0">
                <a:solidFill>
                  <a:srgbClr val="6B7280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6869" y="1399253"/>
            <a:ext cx="483461" cy="239198"/>
          </a:xfrm>
          <a:prstGeom prst="rect">
            <a:avLst/>
          </a:prstGeom>
          <a:noFill/>
        </p:spPr>
        <p:txBody>
          <a:bodyPr wrap="square" lIns="36000" tIns="9000" rIns="36000" bIns="9000" anchor="t">
            <a:spAutoFit/>
          </a:bodyPr>
          <a:lstStyle/>
          <a:p>
            <a:pPr algn="r">
              <a:lnSpc>
                <a:spcPct val="122000"/>
              </a:lnSpc>
            </a:pPr>
            <a:r>
              <a:rPr sz="1300" b="1" i="0">
                <a:solidFill>
                  <a:srgbClr val="6B7280"/>
                </a:solidFill>
                <a:latin typeface="Arial"/>
              </a:rPr>
              <a:t>0</a:t>
            </a:r>
            <a:r>
              <a:rPr lang="en-US" sz="1300" b="1" i="0">
                <a:solidFill>
                  <a:srgbClr val="6B7280"/>
                </a:solidFill>
                <a:latin typeface="Arial"/>
              </a:rPr>
              <a:t>7</a:t>
            </a:r>
            <a:endParaRPr sz="1300" b="1" i="0">
              <a:solidFill>
                <a:srgbClr val="6B728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772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24A4-16A7-0E09-B1AA-DBF4FBD1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5A84CC-9D95-1159-DD16-0F92001CD01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F7EE8CF0-7702-A901-2289-6B874AB6BC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5BE9EAE-D99F-210E-F885-6767FD4A44E4}"/>
              </a:ext>
            </a:extLst>
          </p:cNvPr>
          <p:cNvSpPr txBox="1"/>
          <p:nvPr/>
        </p:nvSpPr>
        <p:spPr>
          <a:xfrm>
            <a:off x="457200" y="355600"/>
            <a:ext cx="68687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Azure Architecture for POC (illustrative stack)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1AB7E78-0F1A-70A6-C46E-B3CAB6F6C29A}"/>
              </a:ext>
            </a:extLst>
          </p:cNvPr>
          <p:cNvSpPr txBox="1"/>
          <p:nvPr/>
        </p:nvSpPr>
        <p:spPr>
          <a:xfrm>
            <a:off x="457200" y="727761"/>
            <a:ext cx="6039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Complete Azure service architecture for TRT Analysis &amp; Operational Copilot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B84557F7-409C-FE31-9E4B-169EA075E0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457200" y="1361541"/>
            <a:ext cx="2164385" cy="4543654"/>
          </a:xfrm>
          <a:prstGeom prst="rect">
            <a:avLst/>
          </a:prstGeom>
        </p:spPr>
      </p:pic>
      <p:sp>
        <p:nvSpPr>
          <p:cNvPr id="7" name="Shape 3">
            <a:extLst>
              <a:ext uri="{FF2B5EF4-FFF2-40B4-BE49-F238E27FC236}">
                <a16:creationId xmlns:a16="http://schemas.microsoft.com/office/drawing/2014/main" id="{1DB6A1CD-FF8D-B39D-58B4-42E1497AE97E}"/>
              </a:ext>
            </a:extLst>
          </p:cNvPr>
          <p:cNvSpPr/>
          <p:nvPr/>
        </p:nvSpPr>
        <p:spPr>
          <a:xfrm>
            <a:off x="60990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A1F0D198-1CFE-9FAB-F045-B1FA36F6DC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905" y="1552651"/>
            <a:ext cx="342900" cy="342900"/>
          </a:xfrm>
          <a:prstGeom prst="rect">
            <a:avLst/>
          </a:prstGeom>
        </p:spPr>
      </p:pic>
      <p:pic>
        <p:nvPicPr>
          <p:cNvPr id="9" name="Image 3" descr="preencoded.png">
            <a:extLst>
              <a:ext uri="{FF2B5EF4-FFF2-40B4-BE49-F238E27FC236}">
                <a16:creationId xmlns:a16="http://schemas.microsoft.com/office/drawing/2014/main" id="{FB230B25-DD3A-F035-BB3E-EA0D06B7D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24205" y="1666951"/>
            <a:ext cx="114300" cy="114300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5E249BFB-FC5A-CF0B-056B-400F6C435340}"/>
              </a:ext>
            </a:extLst>
          </p:cNvPr>
          <p:cNvSpPr txBox="1"/>
          <p:nvPr/>
        </p:nvSpPr>
        <p:spPr>
          <a:xfrm>
            <a:off x="1047902" y="1637690"/>
            <a:ext cx="13139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TRT Signal Detection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8B78914F-FEBB-3662-39E2-BD6E6CA28E3F}"/>
              </a:ext>
            </a:extLst>
          </p:cNvPr>
          <p:cNvSpPr/>
          <p:nvPr/>
        </p:nvSpPr>
        <p:spPr>
          <a:xfrm>
            <a:off x="609905" y="2200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996DCFA-8AE2-5C1E-9F28-57B8363FA5F6}"/>
              </a:ext>
            </a:extLst>
          </p:cNvPr>
          <p:cNvSpPr/>
          <p:nvPr/>
        </p:nvSpPr>
        <p:spPr>
          <a:xfrm>
            <a:off x="609905" y="2200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C798A5C2-98AF-1A65-801D-9FCCD51EDB9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2419502"/>
            <a:ext cx="228600" cy="228600"/>
          </a:xfrm>
          <a:prstGeom prst="rect">
            <a:avLst/>
          </a:prstGeom>
        </p:spPr>
      </p:pic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F1376166-7B8A-8EA4-E420-E48103DD66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14730" y="2483856"/>
            <a:ext cx="85954" cy="98977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F6C41CE-A8A3-D318-A3E1-790B7EFADB30}"/>
              </a:ext>
            </a:extLst>
          </p:cNvPr>
          <p:cNvSpPr txBox="1"/>
          <p:nvPr/>
        </p:nvSpPr>
        <p:spPr>
          <a:xfrm>
            <a:off x="1067105" y="2351949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Blob Storage / ADLS Gen2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4CED5166-0BAA-7A1F-A215-637067BA927C}"/>
              </a:ext>
            </a:extLst>
          </p:cNvPr>
          <p:cNvSpPr txBox="1"/>
          <p:nvPr/>
        </p:nvSpPr>
        <p:spPr>
          <a:xfrm>
            <a:off x="1067105" y="260570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TRT Excel storage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AE20DE33-544A-CD6D-95A7-9D15B077C98E}"/>
              </a:ext>
            </a:extLst>
          </p:cNvPr>
          <p:cNvSpPr/>
          <p:nvPr/>
        </p:nvSpPr>
        <p:spPr>
          <a:xfrm>
            <a:off x="609905" y="296174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385E0C58-04F5-928A-8D05-6835BAA5B225}"/>
              </a:ext>
            </a:extLst>
          </p:cNvPr>
          <p:cNvSpPr/>
          <p:nvPr/>
        </p:nvSpPr>
        <p:spPr>
          <a:xfrm>
            <a:off x="609905" y="296174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FAEE01B8-C0D7-AF8C-1AD8-7EE473C8229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3181197"/>
            <a:ext cx="228600" cy="228600"/>
          </a:xfrm>
          <a:prstGeom prst="rect">
            <a:avLst/>
          </a:prstGeom>
        </p:spPr>
      </p:pic>
      <p:pic>
        <p:nvPicPr>
          <p:cNvPr id="20" name="Image 7" descr="preencoded.png">
            <a:extLst>
              <a:ext uri="{FF2B5EF4-FFF2-40B4-BE49-F238E27FC236}">
                <a16:creationId xmlns:a16="http://schemas.microsoft.com/office/drawing/2014/main" id="{935FC25D-256D-DFE9-5BDC-B2168C409B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14730" y="3260293"/>
            <a:ext cx="85954" cy="69494"/>
          </a:xfrm>
          <a:prstGeom prst="rect">
            <a:avLst/>
          </a:prstGeom>
        </p:spPr>
      </p:pic>
      <p:sp>
        <p:nvSpPr>
          <p:cNvPr id="21" name="Text 11">
            <a:extLst>
              <a:ext uri="{FF2B5EF4-FFF2-40B4-BE49-F238E27FC236}">
                <a16:creationId xmlns:a16="http://schemas.microsoft.com/office/drawing/2014/main" id="{27C4C434-E4A3-3B37-0964-20075CBF25A3}"/>
              </a:ext>
            </a:extLst>
          </p:cNvPr>
          <p:cNvSpPr txBox="1"/>
          <p:nvPr/>
        </p:nvSpPr>
        <p:spPr>
          <a:xfrm>
            <a:off x="1067105" y="3114559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Event Grid and Functions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DFA1A324-F50F-60D9-2000-BCD91B168697}"/>
              </a:ext>
            </a:extLst>
          </p:cNvPr>
          <p:cNvSpPr txBox="1"/>
          <p:nvPr/>
        </p:nvSpPr>
        <p:spPr>
          <a:xfrm>
            <a:off x="1058875" y="3398489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Signal routing and Agent activation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754816F7-1188-3A42-403A-AFDA77F7BCB3}"/>
              </a:ext>
            </a:extLst>
          </p:cNvPr>
          <p:cNvSpPr/>
          <p:nvPr/>
        </p:nvSpPr>
        <p:spPr>
          <a:xfrm>
            <a:off x="609905" y="372435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4">
            <a:extLst>
              <a:ext uri="{FF2B5EF4-FFF2-40B4-BE49-F238E27FC236}">
                <a16:creationId xmlns:a16="http://schemas.microsoft.com/office/drawing/2014/main" id="{89C184CB-F949-60F3-377A-9E9D690B4A46}"/>
              </a:ext>
            </a:extLst>
          </p:cNvPr>
          <p:cNvSpPr/>
          <p:nvPr/>
        </p:nvSpPr>
        <p:spPr>
          <a:xfrm>
            <a:off x="609905" y="372435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8" descr="preencoded.png">
            <a:extLst>
              <a:ext uri="{FF2B5EF4-FFF2-40B4-BE49-F238E27FC236}">
                <a16:creationId xmlns:a16="http://schemas.microsoft.com/office/drawing/2014/main" id="{4827C473-FA81-268E-63DA-79077E73DC0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3942893"/>
            <a:ext cx="228600" cy="228600"/>
          </a:xfrm>
          <a:prstGeom prst="rect">
            <a:avLst/>
          </a:prstGeom>
        </p:spPr>
      </p:pic>
      <p:pic>
        <p:nvPicPr>
          <p:cNvPr id="26" name="Image 9" descr="preencoded.png">
            <a:extLst>
              <a:ext uri="{FF2B5EF4-FFF2-40B4-BE49-F238E27FC236}">
                <a16:creationId xmlns:a16="http://schemas.microsoft.com/office/drawing/2014/main" id="{D9AB8B16-8187-3467-2ABD-61139C2258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15596" y="4000500"/>
            <a:ext cx="84221" cy="114300"/>
          </a:xfrm>
          <a:prstGeom prst="rect">
            <a:avLst/>
          </a:prstGeom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CF17DD18-340B-536F-B6B6-855F8F88384D}"/>
              </a:ext>
            </a:extLst>
          </p:cNvPr>
          <p:cNvSpPr txBox="1"/>
          <p:nvPr/>
        </p:nvSpPr>
        <p:spPr>
          <a:xfrm>
            <a:off x="1067105" y="3890542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Data Factory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3E0C04B8-EDF0-C248-8389-B7E3E75D3C1B}"/>
              </a:ext>
            </a:extLst>
          </p:cNvPr>
          <p:cNvSpPr txBox="1"/>
          <p:nvPr/>
        </p:nvSpPr>
        <p:spPr>
          <a:xfrm>
            <a:off x="1067105" y="412909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extraction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BB80CD72-7A7B-ED1E-CEC2-BC108BE24074}"/>
              </a:ext>
            </a:extLst>
          </p:cNvPr>
          <p:cNvSpPr/>
          <p:nvPr/>
        </p:nvSpPr>
        <p:spPr>
          <a:xfrm>
            <a:off x="609905" y="4486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8A8DA279-B159-BCFC-2FC0-608CF8F038D7}"/>
              </a:ext>
            </a:extLst>
          </p:cNvPr>
          <p:cNvSpPr/>
          <p:nvPr/>
        </p:nvSpPr>
        <p:spPr>
          <a:xfrm>
            <a:off x="609905" y="4486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Image 10" descr="preencoded.png">
            <a:extLst>
              <a:ext uri="{FF2B5EF4-FFF2-40B4-BE49-F238E27FC236}">
                <a16:creationId xmlns:a16="http://schemas.microsoft.com/office/drawing/2014/main" id="{5CD1271A-824E-F386-1E89-1D0705248F1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4705502"/>
            <a:ext cx="228600" cy="228600"/>
          </a:xfrm>
          <a:prstGeom prst="rect">
            <a:avLst/>
          </a:prstGeom>
        </p:spPr>
      </p:pic>
      <p:pic>
        <p:nvPicPr>
          <p:cNvPr id="32" name="Image 11" descr="preencoded.png">
            <a:extLst>
              <a:ext uri="{FF2B5EF4-FFF2-40B4-BE49-F238E27FC236}">
                <a16:creationId xmlns:a16="http://schemas.microsoft.com/office/drawing/2014/main" id="{030F7A33-8035-153A-3EA0-2DA6060FBD0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814730" y="4776368"/>
            <a:ext cx="85954" cy="85954"/>
          </a:xfrm>
          <a:prstGeom prst="rect">
            <a:avLst/>
          </a:prstGeom>
        </p:spPr>
      </p:pic>
      <p:sp>
        <p:nvSpPr>
          <p:cNvPr id="33" name="Text 19">
            <a:extLst>
              <a:ext uri="{FF2B5EF4-FFF2-40B4-BE49-F238E27FC236}">
                <a16:creationId xmlns:a16="http://schemas.microsoft.com/office/drawing/2014/main" id="{A55615CC-9539-D14B-9933-C4EB5043C147}"/>
              </a:ext>
            </a:extLst>
          </p:cNvPr>
          <p:cNvSpPr txBox="1"/>
          <p:nvPr/>
        </p:nvSpPr>
        <p:spPr>
          <a:xfrm>
            <a:off x="1067105" y="4680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Validation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C275A000-5ACE-5D75-865B-9B77803E2446}"/>
              </a:ext>
            </a:extLst>
          </p:cNvPr>
          <p:cNvSpPr txBox="1"/>
          <p:nvPr/>
        </p:nvSpPr>
        <p:spPr>
          <a:xfrm>
            <a:off x="1067105" y="489170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Schema parsing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21">
            <a:extLst>
              <a:ext uri="{FF2B5EF4-FFF2-40B4-BE49-F238E27FC236}">
                <a16:creationId xmlns:a16="http://schemas.microsoft.com/office/drawing/2014/main" id="{1865745D-0222-00CF-8129-3BB51C5D5053}"/>
              </a:ext>
            </a:extLst>
          </p:cNvPr>
          <p:cNvSpPr/>
          <p:nvPr/>
        </p:nvSpPr>
        <p:spPr>
          <a:xfrm>
            <a:off x="609905" y="5295290"/>
            <a:ext cx="1867205" cy="418795"/>
          </a:xfrm>
          <a:prstGeom prst="roundRect">
            <a:avLst>
              <a:gd name="adj" fmla="val 59547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63583251-B0F7-5AD5-9F4E-A45F3F1F7526}"/>
              </a:ext>
            </a:extLst>
          </p:cNvPr>
          <p:cNvSpPr txBox="1"/>
          <p:nvPr/>
        </p:nvSpPr>
        <p:spPr>
          <a:xfrm>
            <a:off x="705002" y="537210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13E4F086-1240-86B9-AAEC-9BB0AB22C03C}"/>
              </a:ext>
            </a:extLst>
          </p:cNvPr>
          <p:cNvSpPr txBox="1"/>
          <p:nvPr/>
        </p:nvSpPr>
        <p:spPr>
          <a:xfrm>
            <a:off x="672478" y="5523890"/>
            <a:ext cx="16670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Upload → Blob → Functions→ Glue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Image 12" descr="preencoded.png">
            <a:extLst>
              <a:ext uri="{FF2B5EF4-FFF2-40B4-BE49-F238E27FC236}">
                <a16:creationId xmlns:a16="http://schemas.microsoft.com/office/drawing/2014/main" id="{78C9F205-3197-8BBA-1DDC-2CBFCF8D029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2735885" y="1361541"/>
            <a:ext cx="2164385" cy="4543654"/>
          </a:xfrm>
          <a:prstGeom prst="rect">
            <a:avLst/>
          </a:prstGeom>
        </p:spPr>
      </p:pic>
      <p:sp>
        <p:nvSpPr>
          <p:cNvPr id="39" name="Shape 24">
            <a:extLst>
              <a:ext uri="{FF2B5EF4-FFF2-40B4-BE49-F238E27FC236}">
                <a16:creationId xmlns:a16="http://schemas.microsoft.com/office/drawing/2014/main" id="{F79459BA-86FB-919A-60A0-FECA919435A5}"/>
              </a:ext>
            </a:extLst>
          </p:cNvPr>
          <p:cNvSpPr/>
          <p:nvPr/>
        </p:nvSpPr>
        <p:spPr>
          <a:xfrm>
            <a:off x="288767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Image 13" descr="preencoded.png">
            <a:extLst>
              <a:ext uri="{FF2B5EF4-FFF2-40B4-BE49-F238E27FC236}">
                <a16:creationId xmlns:a16="http://schemas.microsoft.com/office/drawing/2014/main" id="{C0FC2484-3420-3A55-8B4B-8B8700E2E44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887675" y="1552651"/>
            <a:ext cx="342900" cy="342900"/>
          </a:xfrm>
          <a:prstGeom prst="rect">
            <a:avLst/>
          </a:prstGeom>
        </p:spPr>
      </p:pic>
      <p:pic>
        <p:nvPicPr>
          <p:cNvPr id="41" name="Image 14" descr="preencoded.png">
            <a:extLst>
              <a:ext uri="{FF2B5EF4-FFF2-40B4-BE49-F238E27FC236}">
                <a16:creationId xmlns:a16="http://schemas.microsoft.com/office/drawing/2014/main" id="{AB5BB11B-C406-27F0-346E-5371F68A01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3001975" y="1678744"/>
            <a:ext cx="114300" cy="90714"/>
          </a:xfrm>
          <a:prstGeom prst="rect">
            <a:avLst/>
          </a:prstGeom>
        </p:spPr>
      </p:pic>
      <p:sp>
        <p:nvSpPr>
          <p:cNvPr id="42" name="Text 25">
            <a:extLst>
              <a:ext uri="{FF2B5EF4-FFF2-40B4-BE49-F238E27FC236}">
                <a16:creationId xmlns:a16="http://schemas.microsoft.com/office/drawing/2014/main" id="{55B4D8E4-FB5B-E321-6D8C-36FE76649174}"/>
              </a:ext>
            </a:extLst>
          </p:cNvPr>
          <p:cNvSpPr txBox="1"/>
          <p:nvPr/>
        </p:nvSpPr>
        <p:spPr>
          <a:xfrm>
            <a:off x="3325673" y="1637690"/>
            <a:ext cx="1038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ETL &amp; Query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26">
            <a:extLst>
              <a:ext uri="{FF2B5EF4-FFF2-40B4-BE49-F238E27FC236}">
                <a16:creationId xmlns:a16="http://schemas.microsoft.com/office/drawing/2014/main" id="{1EE5E418-C511-9DCD-C129-B652629457A9}"/>
              </a:ext>
            </a:extLst>
          </p:cNvPr>
          <p:cNvSpPr/>
          <p:nvPr/>
        </p:nvSpPr>
        <p:spPr>
          <a:xfrm>
            <a:off x="2887675" y="22000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27">
            <a:extLst>
              <a:ext uri="{FF2B5EF4-FFF2-40B4-BE49-F238E27FC236}">
                <a16:creationId xmlns:a16="http://schemas.microsoft.com/office/drawing/2014/main" id="{05E69FED-D595-56D4-211D-4724BEE73830}"/>
              </a:ext>
            </a:extLst>
          </p:cNvPr>
          <p:cNvSpPr/>
          <p:nvPr/>
        </p:nvSpPr>
        <p:spPr>
          <a:xfrm>
            <a:off x="2887675" y="22000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Image 15" descr="preencoded.png">
            <a:extLst>
              <a:ext uri="{FF2B5EF4-FFF2-40B4-BE49-F238E27FC236}">
                <a16:creationId xmlns:a16="http://schemas.microsoft.com/office/drawing/2014/main" id="{BE7CE9E8-3C5E-55D2-9CF8-81894A4193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2437790"/>
            <a:ext cx="228600" cy="228600"/>
          </a:xfrm>
          <a:prstGeom prst="rect">
            <a:avLst/>
          </a:prstGeom>
        </p:spPr>
      </p:pic>
      <p:pic>
        <p:nvPicPr>
          <p:cNvPr id="46" name="Image 16" descr="preencoded.png">
            <a:extLst>
              <a:ext uri="{FF2B5EF4-FFF2-40B4-BE49-F238E27FC236}">
                <a16:creationId xmlns:a16="http://schemas.microsoft.com/office/drawing/2014/main" id="{A0CBF1C2-EEF4-668C-9B4F-D851379CA79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3092501" y="2509570"/>
            <a:ext cx="85954" cy="85954"/>
          </a:xfrm>
          <a:prstGeom prst="rect">
            <a:avLst/>
          </a:prstGeom>
        </p:spPr>
      </p:pic>
      <p:sp>
        <p:nvSpPr>
          <p:cNvPr id="47" name="Text 28">
            <a:extLst>
              <a:ext uri="{FF2B5EF4-FFF2-40B4-BE49-F238E27FC236}">
                <a16:creationId xmlns:a16="http://schemas.microsoft.com/office/drawing/2014/main" id="{C21671FC-9269-C109-D110-1AF3114B9169}"/>
              </a:ext>
            </a:extLst>
          </p:cNvPr>
          <p:cNvSpPr txBox="1"/>
          <p:nvPr/>
        </p:nvSpPr>
        <p:spPr>
          <a:xfrm>
            <a:off x="3344875" y="2371152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Synapse Serverless SQL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29">
            <a:extLst>
              <a:ext uri="{FF2B5EF4-FFF2-40B4-BE49-F238E27FC236}">
                <a16:creationId xmlns:a16="http://schemas.microsoft.com/office/drawing/2014/main" id="{794A31F2-DF20-5371-260E-1F08A67303B8}"/>
              </a:ext>
            </a:extLst>
          </p:cNvPr>
          <p:cNvSpPr txBox="1"/>
          <p:nvPr/>
        </p:nvSpPr>
        <p:spPr>
          <a:xfrm>
            <a:off x="3337560" y="2685811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Query uploaded data, transaction stores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30">
            <a:extLst>
              <a:ext uri="{FF2B5EF4-FFF2-40B4-BE49-F238E27FC236}">
                <a16:creationId xmlns:a16="http://schemas.microsoft.com/office/drawing/2014/main" id="{4A14C20D-1317-3C11-2181-C6300DBEFA3A}"/>
              </a:ext>
            </a:extLst>
          </p:cNvPr>
          <p:cNvSpPr/>
          <p:nvPr/>
        </p:nvSpPr>
        <p:spPr>
          <a:xfrm>
            <a:off x="2887675" y="30001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31">
            <a:extLst>
              <a:ext uri="{FF2B5EF4-FFF2-40B4-BE49-F238E27FC236}">
                <a16:creationId xmlns:a16="http://schemas.microsoft.com/office/drawing/2014/main" id="{3FA383DE-0BA6-1A02-CE44-658DA641CE43}"/>
              </a:ext>
            </a:extLst>
          </p:cNvPr>
          <p:cNvSpPr/>
          <p:nvPr/>
        </p:nvSpPr>
        <p:spPr>
          <a:xfrm>
            <a:off x="2887675" y="30001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Image 17" descr="preencoded.png">
            <a:extLst>
              <a:ext uri="{FF2B5EF4-FFF2-40B4-BE49-F238E27FC236}">
                <a16:creationId xmlns:a16="http://schemas.microsoft.com/office/drawing/2014/main" id="{C55C9E72-3977-1AD8-C068-7524CDFED8F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3237890"/>
            <a:ext cx="228600" cy="228600"/>
          </a:xfrm>
          <a:prstGeom prst="rect">
            <a:avLst/>
          </a:prstGeom>
        </p:spPr>
      </p:pic>
      <p:pic>
        <p:nvPicPr>
          <p:cNvPr id="52" name="Image 18" descr="preencoded.png">
            <a:extLst>
              <a:ext uri="{FF2B5EF4-FFF2-40B4-BE49-F238E27FC236}">
                <a16:creationId xmlns:a16="http://schemas.microsoft.com/office/drawing/2014/main" id="{D8D467C4-6DB8-BD72-8D88-48376BD69F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3092501" y="3309670"/>
            <a:ext cx="85954" cy="85954"/>
          </a:xfrm>
          <a:prstGeom prst="rect">
            <a:avLst/>
          </a:prstGeom>
        </p:spPr>
      </p:pic>
      <p:sp>
        <p:nvSpPr>
          <p:cNvPr id="53" name="Text 32">
            <a:extLst>
              <a:ext uri="{FF2B5EF4-FFF2-40B4-BE49-F238E27FC236}">
                <a16:creationId xmlns:a16="http://schemas.microsoft.com/office/drawing/2014/main" id="{D8D606ED-F506-3A0C-A1D8-D70A65C14A9B}"/>
              </a:ext>
            </a:extLst>
          </p:cNvPr>
          <p:cNvSpPr txBox="1"/>
          <p:nvPr/>
        </p:nvSpPr>
        <p:spPr>
          <a:xfrm>
            <a:off x="3344875" y="32141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Cosmos DB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33">
            <a:extLst>
              <a:ext uri="{FF2B5EF4-FFF2-40B4-BE49-F238E27FC236}">
                <a16:creationId xmlns:a16="http://schemas.microsoft.com/office/drawing/2014/main" id="{2B05BD6B-7222-90BF-A883-5C8F9548B675}"/>
              </a:ext>
            </a:extLst>
          </p:cNvPr>
          <p:cNvSpPr txBox="1"/>
          <p:nvPr/>
        </p:nvSpPr>
        <p:spPr>
          <a:xfrm>
            <a:off x="3344875" y="3424093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metadata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34">
            <a:extLst>
              <a:ext uri="{FF2B5EF4-FFF2-40B4-BE49-F238E27FC236}">
                <a16:creationId xmlns:a16="http://schemas.microsoft.com/office/drawing/2014/main" id="{57EF5441-0305-C405-0EF9-652A7BB2E6AC}"/>
              </a:ext>
            </a:extLst>
          </p:cNvPr>
          <p:cNvSpPr/>
          <p:nvPr/>
        </p:nvSpPr>
        <p:spPr>
          <a:xfrm>
            <a:off x="2887675" y="38002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35">
            <a:extLst>
              <a:ext uri="{FF2B5EF4-FFF2-40B4-BE49-F238E27FC236}">
                <a16:creationId xmlns:a16="http://schemas.microsoft.com/office/drawing/2014/main" id="{6287D9E4-510D-D3D4-2454-0449ABAE9E28}"/>
              </a:ext>
            </a:extLst>
          </p:cNvPr>
          <p:cNvSpPr/>
          <p:nvPr/>
        </p:nvSpPr>
        <p:spPr>
          <a:xfrm>
            <a:off x="2887675" y="38002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Image 19" descr="preencoded.png">
            <a:extLst>
              <a:ext uri="{FF2B5EF4-FFF2-40B4-BE49-F238E27FC236}">
                <a16:creationId xmlns:a16="http://schemas.microsoft.com/office/drawing/2014/main" id="{471318AD-1DD0-A446-481C-74A6E736AA8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4037990"/>
            <a:ext cx="228600" cy="228600"/>
          </a:xfrm>
          <a:prstGeom prst="rect">
            <a:avLst/>
          </a:prstGeom>
        </p:spPr>
      </p:pic>
      <p:pic>
        <p:nvPicPr>
          <p:cNvPr id="58" name="Image 20" descr="preencoded.png">
            <a:extLst>
              <a:ext uri="{FF2B5EF4-FFF2-40B4-BE49-F238E27FC236}">
                <a16:creationId xmlns:a16="http://schemas.microsoft.com/office/drawing/2014/main" id="{0D1EF7B7-E8CD-978E-B0EF-93F508B182C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3092501" y="4109770"/>
            <a:ext cx="85954" cy="85954"/>
          </a:xfrm>
          <a:prstGeom prst="rect">
            <a:avLst/>
          </a:prstGeom>
        </p:spPr>
      </p:pic>
      <p:sp>
        <p:nvSpPr>
          <p:cNvPr id="59" name="Text 36">
            <a:extLst>
              <a:ext uri="{FF2B5EF4-FFF2-40B4-BE49-F238E27FC236}">
                <a16:creationId xmlns:a16="http://schemas.microsoft.com/office/drawing/2014/main" id="{E350CCB2-BFC2-FFBD-E94D-A3CE7C0361CF}"/>
              </a:ext>
            </a:extLst>
          </p:cNvPr>
          <p:cNvSpPr txBox="1"/>
          <p:nvPr/>
        </p:nvSpPr>
        <p:spPr>
          <a:xfrm>
            <a:off x="3344875" y="3985640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Data Factory / Databricks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4947220F-3E9A-CA54-2386-60A611BED41F}"/>
              </a:ext>
            </a:extLst>
          </p:cNvPr>
          <p:cNvSpPr txBox="1"/>
          <p:nvPr/>
        </p:nvSpPr>
        <p:spPr>
          <a:xfrm>
            <a:off x="3344875" y="4224193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Transform data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38">
            <a:extLst>
              <a:ext uri="{FF2B5EF4-FFF2-40B4-BE49-F238E27FC236}">
                <a16:creationId xmlns:a16="http://schemas.microsoft.com/office/drawing/2014/main" id="{958B3B4D-E198-09A2-91E9-0DA9BAD640CE}"/>
              </a:ext>
            </a:extLst>
          </p:cNvPr>
          <p:cNvSpPr/>
          <p:nvPr/>
        </p:nvSpPr>
        <p:spPr>
          <a:xfrm>
            <a:off x="2887675" y="46003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39">
            <a:extLst>
              <a:ext uri="{FF2B5EF4-FFF2-40B4-BE49-F238E27FC236}">
                <a16:creationId xmlns:a16="http://schemas.microsoft.com/office/drawing/2014/main" id="{37015EC9-EE03-03D5-4F21-EC10CC9CB78E}"/>
              </a:ext>
            </a:extLst>
          </p:cNvPr>
          <p:cNvSpPr/>
          <p:nvPr/>
        </p:nvSpPr>
        <p:spPr>
          <a:xfrm>
            <a:off x="2887675" y="46003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Image 21" descr="preencoded.png">
            <a:extLst>
              <a:ext uri="{FF2B5EF4-FFF2-40B4-BE49-F238E27FC236}">
                <a16:creationId xmlns:a16="http://schemas.microsoft.com/office/drawing/2014/main" id="{571A414B-FEAD-D82B-6757-A790FEEB48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4838090"/>
            <a:ext cx="228600" cy="228600"/>
          </a:xfrm>
          <a:prstGeom prst="rect">
            <a:avLst/>
          </a:prstGeom>
        </p:spPr>
      </p:pic>
      <p:pic>
        <p:nvPicPr>
          <p:cNvPr id="64" name="Image 22" descr="preencoded.png">
            <a:extLst>
              <a:ext uri="{FF2B5EF4-FFF2-40B4-BE49-F238E27FC236}">
                <a16:creationId xmlns:a16="http://schemas.microsoft.com/office/drawing/2014/main" id="{B3ADC9DB-6887-7C22-47A9-2FDE0245A97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3092501" y="4909870"/>
            <a:ext cx="85954" cy="85954"/>
          </a:xfrm>
          <a:prstGeom prst="rect">
            <a:avLst/>
          </a:prstGeom>
        </p:spPr>
      </p:pic>
      <p:sp>
        <p:nvSpPr>
          <p:cNvPr id="65" name="Text 40">
            <a:extLst>
              <a:ext uri="{FF2B5EF4-FFF2-40B4-BE49-F238E27FC236}">
                <a16:creationId xmlns:a16="http://schemas.microsoft.com/office/drawing/2014/main" id="{CFEA1E5E-B870-8410-2398-3BA596D1B9AE}"/>
              </a:ext>
            </a:extLst>
          </p:cNvPr>
          <p:cNvSpPr txBox="1"/>
          <p:nvPr/>
        </p:nvSpPr>
        <p:spPr>
          <a:xfrm>
            <a:off x="3344875" y="4785740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Data Factory Pipelines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A74F96BA-13FE-2F04-6A6E-B9EA0426745B}"/>
              </a:ext>
            </a:extLst>
          </p:cNvPr>
          <p:cNvSpPr txBox="1"/>
          <p:nvPr/>
        </p:nvSpPr>
        <p:spPr>
          <a:xfrm>
            <a:off x="3344875" y="5024293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Orchestration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42">
            <a:extLst>
              <a:ext uri="{FF2B5EF4-FFF2-40B4-BE49-F238E27FC236}">
                <a16:creationId xmlns:a16="http://schemas.microsoft.com/office/drawing/2014/main" id="{02E4B128-DD4F-8843-0B8E-080B00A8C346}"/>
              </a:ext>
            </a:extLst>
          </p:cNvPr>
          <p:cNvSpPr/>
          <p:nvPr/>
        </p:nvSpPr>
        <p:spPr>
          <a:xfrm>
            <a:off x="2887675" y="5447995"/>
            <a:ext cx="1867205" cy="267005"/>
          </a:xfrm>
          <a:prstGeom prst="roundRect">
            <a:avLst>
              <a:gd name="adj" fmla="val 146771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43">
            <a:extLst>
              <a:ext uri="{FF2B5EF4-FFF2-40B4-BE49-F238E27FC236}">
                <a16:creationId xmlns:a16="http://schemas.microsoft.com/office/drawing/2014/main" id="{5D16550D-8AC3-61F9-194A-E616E4984541}"/>
              </a:ext>
            </a:extLst>
          </p:cNvPr>
          <p:cNvSpPr txBox="1"/>
          <p:nvPr/>
        </p:nvSpPr>
        <p:spPr>
          <a:xfrm>
            <a:off x="2982773" y="552389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44">
            <a:extLst>
              <a:ext uri="{FF2B5EF4-FFF2-40B4-BE49-F238E27FC236}">
                <a16:creationId xmlns:a16="http://schemas.microsoft.com/office/drawing/2014/main" id="{F4FBFF33-14C1-1730-FDB9-9555ACCDDDAC}"/>
              </a:ext>
            </a:extLst>
          </p:cNvPr>
          <p:cNvSpPr txBox="1"/>
          <p:nvPr/>
        </p:nvSpPr>
        <p:spPr>
          <a:xfrm>
            <a:off x="3272638" y="5523890"/>
            <a:ext cx="142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factory → Synapse → CosmosDB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" name="Image 23" descr="preencoded.png">
            <a:extLst>
              <a:ext uri="{FF2B5EF4-FFF2-40B4-BE49-F238E27FC236}">
                <a16:creationId xmlns:a16="http://schemas.microsoft.com/office/drawing/2014/main" id="{14277413-87FA-3141-BEF4-1F9739E31B0A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5013655" y="1361541"/>
            <a:ext cx="2164385" cy="4543654"/>
          </a:xfrm>
          <a:prstGeom prst="rect">
            <a:avLst/>
          </a:prstGeom>
        </p:spPr>
      </p:pic>
      <p:sp>
        <p:nvSpPr>
          <p:cNvPr id="71" name="Shape 45">
            <a:extLst>
              <a:ext uri="{FF2B5EF4-FFF2-40B4-BE49-F238E27FC236}">
                <a16:creationId xmlns:a16="http://schemas.microsoft.com/office/drawing/2014/main" id="{CA84C293-3549-B94B-35A8-118503FDBE95}"/>
              </a:ext>
            </a:extLst>
          </p:cNvPr>
          <p:cNvSpPr/>
          <p:nvPr/>
        </p:nvSpPr>
        <p:spPr>
          <a:xfrm>
            <a:off x="5166360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2" name="Image 24" descr="preencoded.png">
            <a:extLst>
              <a:ext uri="{FF2B5EF4-FFF2-40B4-BE49-F238E27FC236}">
                <a16:creationId xmlns:a16="http://schemas.microsoft.com/office/drawing/2014/main" id="{6FB5A456-060B-2D2B-C460-FC12CB24F2D8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166360" y="1552651"/>
            <a:ext cx="342900" cy="342900"/>
          </a:xfrm>
          <a:prstGeom prst="rect">
            <a:avLst/>
          </a:prstGeom>
        </p:spPr>
      </p:pic>
      <p:pic>
        <p:nvPicPr>
          <p:cNvPr id="73" name="Image 25" descr="preencoded.png">
            <a:extLst>
              <a:ext uri="{FF2B5EF4-FFF2-40B4-BE49-F238E27FC236}">
                <a16:creationId xmlns:a16="http://schemas.microsoft.com/office/drawing/2014/main" id="{B37C3F55-DDC4-14D7-32FC-B7322D24C1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5280660" y="1678744"/>
            <a:ext cx="114300" cy="90714"/>
          </a:xfrm>
          <a:prstGeom prst="rect">
            <a:avLst/>
          </a:prstGeom>
        </p:spPr>
      </p:pic>
      <p:sp>
        <p:nvSpPr>
          <p:cNvPr id="74" name="Text 46">
            <a:extLst>
              <a:ext uri="{FF2B5EF4-FFF2-40B4-BE49-F238E27FC236}">
                <a16:creationId xmlns:a16="http://schemas.microsoft.com/office/drawing/2014/main" id="{02387CA5-96F3-2CBA-468B-F391FF80FBC5}"/>
              </a:ext>
            </a:extLst>
          </p:cNvPr>
          <p:cNvSpPr txBox="1"/>
          <p:nvPr/>
        </p:nvSpPr>
        <p:spPr>
          <a:xfrm>
            <a:off x="5604358" y="1637690"/>
            <a:ext cx="9372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Agentic AI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47">
            <a:extLst>
              <a:ext uri="{FF2B5EF4-FFF2-40B4-BE49-F238E27FC236}">
                <a16:creationId xmlns:a16="http://schemas.microsoft.com/office/drawing/2014/main" id="{9658DCFB-8A12-EA32-F9DA-078842FC0CDA}"/>
              </a:ext>
            </a:extLst>
          </p:cNvPr>
          <p:cNvSpPr/>
          <p:nvPr/>
        </p:nvSpPr>
        <p:spPr>
          <a:xfrm>
            <a:off x="5166360" y="2200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48">
            <a:extLst>
              <a:ext uri="{FF2B5EF4-FFF2-40B4-BE49-F238E27FC236}">
                <a16:creationId xmlns:a16="http://schemas.microsoft.com/office/drawing/2014/main" id="{BE772DA4-8E4C-818A-1EDC-03E0035D7031}"/>
              </a:ext>
            </a:extLst>
          </p:cNvPr>
          <p:cNvSpPr/>
          <p:nvPr/>
        </p:nvSpPr>
        <p:spPr>
          <a:xfrm>
            <a:off x="5166360" y="2200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Image 26" descr="preencoded.png">
            <a:extLst>
              <a:ext uri="{FF2B5EF4-FFF2-40B4-BE49-F238E27FC236}">
                <a16:creationId xmlns:a16="http://schemas.microsoft.com/office/drawing/2014/main" id="{70FE7CAA-7707-2139-8563-65D630015DC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2419502"/>
            <a:ext cx="228600" cy="228600"/>
          </a:xfrm>
          <a:prstGeom prst="rect">
            <a:avLst/>
          </a:prstGeom>
        </p:spPr>
      </p:pic>
      <p:pic>
        <p:nvPicPr>
          <p:cNvPr id="78" name="Image 27" descr="preencoded.png">
            <a:extLst>
              <a:ext uri="{FF2B5EF4-FFF2-40B4-BE49-F238E27FC236}">
                <a16:creationId xmlns:a16="http://schemas.microsoft.com/office/drawing/2014/main" id="{E23D8452-06F4-E516-C5C2-2E05CF03B0B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5371186" y="2490368"/>
            <a:ext cx="85954" cy="85954"/>
          </a:xfrm>
          <a:prstGeom prst="rect">
            <a:avLst/>
          </a:prstGeom>
        </p:spPr>
      </p:pic>
      <p:sp>
        <p:nvSpPr>
          <p:cNvPr id="79" name="Text 49">
            <a:extLst>
              <a:ext uri="{FF2B5EF4-FFF2-40B4-BE49-F238E27FC236}">
                <a16:creationId xmlns:a16="http://schemas.microsoft.com/office/drawing/2014/main" id="{D9C3D15C-D42F-D929-4C51-6F1476B6113C}"/>
              </a:ext>
            </a:extLst>
          </p:cNvPr>
          <p:cNvSpPr txBox="1"/>
          <p:nvPr/>
        </p:nvSpPr>
        <p:spPr>
          <a:xfrm>
            <a:off x="5623560" y="2366237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AI Foundry Agent Service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50">
            <a:extLst>
              <a:ext uri="{FF2B5EF4-FFF2-40B4-BE49-F238E27FC236}">
                <a16:creationId xmlns:a16="http://schemas.microsoft.com/office/drawing/2014/main" id="{CB0FAFD1-434A-B252-5262-600A5FB25371}"/>
              </a:ext>
            </a:extLst>
          </p:cNvPr>
          <p:cNvSpPr txBox="1"/>
          <p:nvPr/>
        </p:nvSpPr>
        <p:spPr>
          <a:xfrm>
            <a:off x="5623560" y="260570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Orchestration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51">
            <a:extLst>
              <a:ext uri="{FF2B5EF4-FFF2-40B4-BE49-F238E27FC236}">
                <a16:creationId xmlns:a16="http://schemas.microsoft.com/office/drawing/2014/main" id="{3D357413-0C92-8B1D-12F1-C89AA7F73265}"/>
              </a:ext>
            </a:extLst>
          </p:cNvPr>
          <p:cNvSpPr/>
          <p:nvPr/>
        </p:nvSpPr>
        <p:spPr>
          <a:xfrm>
            <a:off x="5166360" y="296174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52">
            <a:extLst>
              <a:ext uri="{FF2B5EF4-FFF2-40B4-BE49-F238E27FC236}">
                <a16:creationId xmlns:a16="http://schemas.microsoft.com/office/drawing/2014/main" id="{4A3F97CE-5822-84C2-A3C3-BE2B6FF8EF41}"/>
              </a:ext>
            </a:extLst>
          </p:cNvPr>
          <p:cNvSpPr/>
          <p:nvPr/>
        </p:nvSpPr>
        <p:spPr>
          <a:xfrm>
            <a:off x="5166360" y="296174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" name="Image 28" descr="preencoded.png">
            <a:extLst>
              <a:ext uri="{FF2B5EF4-FFF2-40B4-BE49-F238E27FC236}">
                <a16:creationId xmlns:a16="http://schemas.microsoft.com/office/drawing/2014/main" id="{0ABC5BF0-B505-F0B1-1E0A-F009A1CBAB9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3181197"/>
            <a:ext cx="228600" cy="228600"/>
          </a:xfrm>
          <a:prstGeom prst="rect">
            <a:avLst/>
          </a:prstGeom>
        </p:spPr>
      </p:pic>
      <p:pic>
        <p:nvPicPr>
          <p:cNvPr id="84" name="Image 29" descr="preencoded.png">
            <a:extLst>
              <a:ext uri="{FF2B5EF4-FFF2-40B4-BE49-F238E27FC236}">
                <a16:creationId xmlns:a16="http://schemas.microsoft.com/office/drawing/2014/main" id="{502438A9-B307-7627-7D78-0C9185C5E7E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5372052" y="3237890"/>
            <a:ext cx="84221" cy="114300"/>
          </a:xfrm>
          <a:prstGeom prst="rect">
            <a:avLst/>
          </a:prstGeom>
        </p:spPr>
      </p:pic>
      <p:sp>
        <p:nvSpPr>
          <p:cNvPr id="85" name="Text 53">
            <a:extLst>
              <a:ext uri="{FF2B5EF4-FFF2-40B4-BE49-F238E27FC236}">
                <a16:creationId xmlns:a16="http://schemas.microsoft.com/office/drawing/2014/main" id="{F56D7181-82F9-9008-300C-C59ABDB60B38}"/>
              </a:ext>
            </a:extLst>
          </p:cNvPr>
          <p:cNvSpPr txBox="1"/>
          <p:nvPr/>
        </p:nvSpPr>
        <p:spPr>
          <a:xfrm>
            <a:off x="5623560" y="315742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OpenAI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 54">
            <a:extLst>
              <a:ext uri="{FF2B5EF4-FFF2-40B4-BE49-F238E27FC236}">
                <a16:creationId xmlns:a16="http://schemas.microsoft.com/office/drawing/2014/main" id="{CDEBDD81-412F-ED76-E25F-06918C29FEC9}"/>
              </a:ext>
            </a:extLst>
          </p:cNvPr>
          <p:cNvSpPr txBox="1"/>
          <p:nvPr/>
        </p:nvSpPr>
        <p:spPr>
          <a:xfrm>
            <a:off x="5623560" y="3367400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Analysis &amp; recs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Shape 55">
            <a:extLst>
              <a:ext uri="{FF2B5EF4-FFF2-40B4-BE49-F238E27FC236}">
                <a16:creationId xmlns:a16="http://schemas.microsoft.com/office/drawing/2014/main" id="{B45C3972-6F42-3DE8-DF15-34BE333FFEDB}"/>
              </a:ext>
            </a:extLst>
          </p:cNvPr>
          <p:cNvSpPr/>
          <p:nvPr/>
        </p:nvSpPr>
        <p:spPr>
          <a:xfrm>
            <a:off x="5166360" y="372435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56">
            <a:extLst>
              <a:ext uri="{FF2B5EF4-FFF2-40B4-BE49-F238E27FC236}">
                <a16:creationId xmlns:a16="http://schemas.microsoft.com/office/drawing/2014/main" id="{44EBB1D3-402D-1952-6D0B-8509376CBFBD}"/>
              </a:ext>
            </a:extLst>
          </p:cNvPr>
          <p:cNvSpPr/>
          <p:nvPr/>
        </p:nvSpPr>
        <p:spPr>
          <a:xfrm>
            <a:off x="5166360" y="372435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9" name="Image 30" descr="preencoded.png">
            <a:extLst>
              <a:ext uri="{FF2B5EF4-FFF2-40B4-BE49-F238E27FC236}">
                <a16:creationId xmlns:a16="http://schemas.microsoft.com/office/drawing/2014/main" id="{3FD5507D-ACCA-E734-577A-C499C6E940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3942893"/>
            <a:ext cx="228600" cy="228600"/>
          </a:xfrm>
          <a:prstGeom prst="rect">
            <a:avLst/>
          </a:prstGeom>
        </p:spPr>
      </p:pic>
      <p:pic>
        <p:nvPicPr>
          <p:cNvPr id="90" name="Image 31" descr="preencoded.png">
            <a:extLst>
              <a:ext uri="{FF2B5EF4-FFF2-40B4-BE49-F238E27FC236}">
                <a16:creationId xmlns:a16="http://schemas.microsoft.com/office/drawing/2014/main" id="{35583F9C-7C0A-9A71-4555-2A9AD4D642B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5371186" y="4014673"/>
            <a:ext cx="85954" cy="85954"/>
          </a:xfrm>
          <a:prstGeom prst="rect">
            <a:avLst/>
          </a:prstGeom>
        </p:spPr>
      </p:pic>
      <p:sp>
        <p:nvSpPr>
          <p:cNvPr id="91" name="Text 57">
            <a:extLst>
              <a:ext uri="{FF2B5EF4-FFF2-40B4-BE49-F238E27FC236}">
                <a16:creationId xmlns:a16="http://schemas.microsoft.com/office/drawing/2014/main" id="{D7F247C2-5B65-2A08-353E-B8E5309211D5}"/>
              </a:ext>
            </a:extLst>
          </p:cNvPr>
          <p:cNvSpPr txBox="1"/>
          <p:nvPr/>
        </p:nvSpPr>
        <p:spPr>
          <a:xfrm>
            <a:off x="5623560" y="3919118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AI Search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 58">
            <a:extLst>
              <a:ext uri="{FF2B5EF4-FFF2-40B4-BE49-F238E27FC236}">
                <a16:creationId xmlns:a16="http://schemas.microsoft.com/office/drawing/2014/main" id="{388E4425-B6F4-7BB4-C1D7-D94D1A4E4EFF}"/>
              </a:ext>
            </a:extLst>
          </p:cNvPr>
          <p:cNvSpPr txBox="1"/>
          <p:nvPr/>
        </p:nvSpPr>
        <p:spPr>
          <a:xfrm>
            <a:off x="5623560" y="412909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Vector search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59">
            <a:extLst>
              <a:ext uri="{FF2B5EF4-FFF2-40B4-BE49-F238E27FC236}">
                <a16:creationId xmlns:a16="http://schemas.microsoft.com/office/drawing/2014/main" id="{006AE8EA-3CDE-5FD1-A356-A5DDF5791BC0}"/>
              </a:ext>
            </a:extLst>
          </p:cNvPr>
          <p:cNvSpPr/>
          <p:nvPr/>
        </p:nvSpPr>
        <p:spPr>
          <a:xfrm>
            <a:off x="5166360" y="4486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60">
            <a:extLst>
              <a:ext uri="{FF2B5EF4-FFF2-40B4-BE49-F238E27FC236}">
                <a16:creationId xmlns:a16="http://schemas.microsoft.com/office/drawing/2014/main" id="{4E253A8E-0C1B-0CD8-EC8F-8C8EF7EFB783}"/>
              </a:ext>
            </a:extLst>
          </p:cNvPr>
          <p:cNvSpPr/>
          <p:nvPr/>
        </p:nvSpPr>
        <p:spPr>
          <a:xfrm>
            <a:off x="5166360" y="4486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5" name="Image 32" descr="preencoded.png">
            <a:extLst>
              <a:ext uri="{FF2B5EF4-FFF2-40B4-BE49-F238E27FC236}">
                <a16:creationId xmlns:a16="http://schemas.microsoft.com/office/drawing/2014/main" id="{208BC9D8-9EED-AF5F-D341-525CCC0EC52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4705502"/>
            <a:ext cx="228600" cy="228600"/>
          </a:xfrm>
          <a:prstGeom prst="rect">
            <a:avLst/>
          </a:prstGeom>
        </p:spPr>
      </p:pic>
      <p:pic>
        <p:nvPicPr>
          <p:cNvPr id="96" name="Image 33" descr="preencoded.png">
            <a:extLst>
              <a:ext uri="{FF2B5EF4-FFF2-40B4-BE49-F238E27FC236}">
                <a16:creationId xmlns:a16="http://schemas.microsoft.com/office/drawing/2014/main" id="{CAB08C1C-6B6E-1D8F-23F7-AA8C372DDF4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5371186" y="4780461"/>
            <a:ext cx="85954" cy="77767"/>
          </a:xfrm>
          <a:prstGeom prst="rect">
            <a:avLst/>
          </a:prstGeom>
        </p:spPr>
      </p:pic>
      <p:sp>
        <p:nvSpPr>
          <p:cNvPr id="97" name="Text 61">
            <a:extLst>
              <a:ext uri="{FF2B5EF4-FFF2-40B4-BE49-F238E27FC236}">
                <a16:creationId xmlns:a16="http://schemas.microsoft.com/office/drawing/2014/main" id="{9381DDA2-80C8-4A12-931E-FEB166FCD0D2}"/>
              </a:ext>
            </a:extLst>
          </p:cNvPr>
          <p:cNvSpPr txBox="1"/>
          <p:nvPr/>
        </p:nvSpPr>
        <p:spPr>
          <a:xfrm>
            <a:off x="5623560" y="4680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Knowledge Base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62">
            <a:extLst>
              <a:ext uri="{FF2B5EF4-FFF2-40B4-BE49-F238E27FC236}">
                <a16:creationId xmlns:a16="http://schemas.microsoft.com/office/drawing/2014/main" id="{944113F6-1124-5424-9FDC-88D79DDF55A6}"/>
              </a:ext>
            </a:extLst>
          </p:cNvPr>
          <p:cNvSpPr txBox="1"/>
          <p:nvPr/>
        </p:nvSpPr>
        <p:spPr>
          <a:xfrm>
            <a:off x="5623560" y="489170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Memory store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63">
            <a:extLst>
              <a:ext uri="{FF2B5EF4-FFF2-40B4-BE49-F238E27FC236}">
                <a16:creationId xmlns:a16="http://schemas.microsoft.com/office/drawing/2014/main" id="{44B230EB-F569-B4C9-A001-2FE072782929}"/>
              </a:ext>
            </a:extLst>
          </p:cNvPr>
          <p:cNvSpPr/>
          <p:nvPr/>
        </p:nvSpPr>
        <p:spPr>
          <a:xfrm>
            <a:off x="5166360" y="5295290"/>
            <a:ext cx="1867205" cy="418795"/>
          </a:xfrm>
          <a:prstGeom prst="roundRect">
            <a:avLst>
              <a:gd name="adj" fmla="val 59547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64">
            <a:extLst>
              <a:ext uri="{FF2B5EF4-FFF2-40B4-BE49-F238E27FC236}">
                <a16:creationId xmlns:a16="http://schemas.microsoft.com/office/drawing/2014/main" id="{700DEE26-44EC-0706-1699-FC09BDBF44A3}"/>
              </a:ext>
            </a:extLst>
          </p:cNvPr>
          <p:cNvSpPr txBox="1"/>
          <p:nvPr/>
        </p:nvSpPr>
        <p:spPr>
          <a:xfrm>
            <a:off x="5261458" y="537210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65">
            <a:extLst>
              <a:ext uri="{FF2B5EF4-FFF2-40B4-BE49-F238E27FC236}">
                <a16:creationId xmlns:a16="http://schemas.microsoft.com/office/drawing/2014/main" id="{CEB1EF12-2EA3-FC08-73AE-C202C1700268}"/>
              </a:ext>
            </a:extLst>
          </p:cNvPr>
          <p:cNvSpPr txBox="1"/>
          <p:nvPr/>
        </p:nvSpPr>
        <p:spPr>
          <a:xfrm>
            <a:off x="5261458" y="5523890"/>
            <a:ext cx="166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AI Foundry → AI Search→ Agent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" name="Image 34" descr="preencoded.png">
            <a:extLst>
              <a:ext uri="{FF2B5EF4-FFF2-40B4-BE49-F238E27FC236}">
                <a16:creationId xmlns:a16="http://schemas.microsoft.com/office/drawing/2014/main" id="{138112EA-FB81-79F4-4F20-2683BFF34F1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7292340" y="1361541"/>
            <a:ext cx="2164385" cy="4543654"/>
          </a:xfrm>
          <a:prstGeom prst="rect">
            <a:avLst/>
          </a:prstGeom>
        </p:spPr>
      </p:pic>
      <p:sp>
        <p:nvSpPr>
          <p:cNvPr id="103" name="Shape 66">
            <a:extLst>
              <a:ext uri="{FF2B5EF4-FFF2-40B4-BE49-F238E27FC236}">
                <a16:creationId xmlns:a16="http://schemas.microsoft.com/office/drawing/2014/main" id="{A18C36F3-2B00-7702-963D-E396376362A6}"/>
              </a:ext>
            </a:extLst>
          </p:cNvPr>
          <p:cNvSpPr/>
          <p:nvPr/>
        </p:nvSpPr>
        <p:spPr>
          <a:xfrm>
            <a:off x="744504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" name="Image 35" descr="preencoded.png">
            <a:extLst>
              <a:ext uri="{FF2B5EF4-FFF2-40B4-BE49-F238E27FC236}">
                <a16:creationId xmlns:a16="http://schemas.microsoft.com/office/drawing/2014/main" id="{3548A360-0774-9080-AEE8-D707FB7D4BDD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7445045" y="1552651"/>
            <a:ext cx="342900" cy="342900"/>
          </a:xfrm>
          <a:prstGeom prst="rect">
            <a:avLst/>
          </a:prstGeom>
        </p:spPr>
      </p:pic>
      <p:pic>
        <p:nvPicPr>
          <p:cNvPr id="105" name="Image 36" descr="preencoded.png">
            <a:extLst>
              <a:ext uri="{FF2B5EF4-FFF2-40B4-BE49-F238E27FC236}">
                <a16:creationId xmlns:a16="http://schemas.microsoft.com/office/drawing/2014/main" id="{287E7EC6-AC03-C99C-02F0-5E86E39D5F34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7559345" y="1673075"/>
            <a:ext cx="114300" cy="102053"/>
          </a:xfrm>
          <a:prstGeom prst="rect">
            <a:avLst/>
          </a:prstGeom>
        </p:spPr>
      </p:pic>
      <p:sp>
        <p:nvSpPr>
          <p:cNvPr id="106" name="Text 67">
            <a:extLst>
              <a:ext uri="{FF2B5EF4-FFF2-40B4-BE49-F238E27FC236}">
                <a16:creationId xmlns:a16="http://schemas.microsoft.com/office/drawing/2014/main" id="{DFE9E3A7-DC20-F265-839A-3980CA75908A}"/>
              </a:ext>
            </a:extLst>
          </p:cNvPr>
          <p:cNvSpPr txBox="1"/>
          <p:nvPr/>
        </p:nvSpPr>
        <p:spPr>
          <a:xfrm>
            <a:off x="7883042" y="1637690"/>
            <a:ext cx="15032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Experience Layer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68">
            <a:extLst>
              <a:ext uri="{FF2B5EF4-FFF2-40B4-BE49-F238E27FC236}">
                <a16:creationId xmlns:a16="http://schemas.microsoft.com/office/drawing/2014/main" id="{08699BF1-B117-4D97-456B-C8279F0B1B1E}"/>
              </a:ext>
            </a:extLst>
          </p:cNvPr>
          <p:cNvSpPr/>
          <p:nvPr/>
        </p:nvSpPr>
        <p:spPr>
          <a:xfrm>
            <a:off x="7445045" y="22000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69">
            <a:extLst>
              <a:ext uri="{FF2B5EF4-FFF2-40B4-BE49-F238E27FC236}">
                <a16:creationId xmlns:a16="http://schemas.microsoft.com/office/drawing/2014/main" id="{CF37390B-ACE0-43A1-1E84-7052BB2B7C5F}"/>
              </a:ext>
            </a:extLst>
          </p:cNvPr>
          <p:cNvSpPr/>
          <p:nvPr/>
        </p:nvSpPr>
        <p:spPr>
          <a:xfrm>
            <a:off x="7445045" y="22000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9" name="Image 37" descr="preencoded.png">
            <a:extLst>
              <a:ext uri="{FF2B5EF4-FFF2-40B4-BE49-F238E27FC236}">
                <a16:creationId xmlns:a16="http://schemas.microsoft.com/office/drawing/2014/main" id="{707D2430-5FD3-07B4-684B-6C11EC818AD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2437790"/>
            <a:ext cx="228600" cy="228600"/>
          </a:xfrm>
          <a:prstGeom prst="rect">
            <a:avLst/>
          </a:prstGeom>
        </p:spPr>
      </p:pic>
      <p:pic>
        <p:nvPicPr>
          <p:cNvPr id="110" name="Image 38" descr="preencoded.png">
            <a:extLst>
              <a:ext uri="{FF2B5EF4-FFF2-40B4-BE49-F238E27FC236}">
                <a16:creationId xmlns:a16="http://schemas.microsoft.com/office/drawing/2014/main" id="{7534AC81-502A-6E47-F89A-90B4E337642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7649870" y="2509570"/>
            <a:ext cx="85954" cy="85954"/>
          </a:xfrm>
          <a:prstGeom prst="rect">
            <a:avLst/>
          </a:prstGeom>
        </p:spPr>
      </p:pic>
      <p:sp>
        <p:nvSpPr>
          <p:cNvPr id="111" name="Text 70">
            <a:extLst>
              <a:ext uri="{FF2B5EF4-FFF2-40B4-BE49-F238E27FC236}">
                <a16:creationId xmlns:a16="http://schemas.microsoft.com/office/drawing/2014/main" id="{F5272439-BE39-B81F-59C8-A03FE0B9C73C}"/>
              </a:ext>
            </a:extLst>
          </p:cNvPr>
          <p:cNvSpPr txBox="1"/>
          <p:nvPr/>
        </p:nvSpPr>
        <p:spPr>
          <a:xfrm>
            <a:off x="7902245" y="24140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Container Apps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 71">
            <a:extLst>
              <a:ext uri="{FF2B5EF4-FFF2-40B4-BE49-F238E27FC236}">
                <a16:creationId xmlns:a16="http://schemas.microsoft.com/office/drawing/2014/main" id="{C1892CFF-D698-074D-D16B-387B3F4CC901}"/>
              </a:ext>
            </a:extLst>
          </p:cNvPr>
          <p:cNvSpPr txBox="1"/>
          <p:nvPr/>
        </p:nvSpPr>
        <p:spPr>
          <a:xfrm>
            <a:off x="7902245" y="2623993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UI/backend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Shape 72">
            <a:extLst>
              <a:ext uri="{FF2B5EF4-FFF2-40B4-BE49-F238E27FC236}">
                <a16:creationId xmlns:a16="http://schemas.microsoft.com/office/drawing/2014/main" id="{F84EE1B6-B595-0C35-433E-5607373E537B}"/>
              </a:ext>
            </a:extLst>
          </p:cNvPr>
          <p:cNvSpPr/>
          <p:nvPr/>
        </p:nvSpPr>
        <p:spPr>
          <a:xfrm>
            <a:off x="7445045" y="30001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Shape 73">
            <a:extLst>
              <a:ext uri="{FF2B5EF4-FFF2-40B4-BE49-F238E27FC236}">
                <a16:creationId xmlns:a16="http://schemas.microsoft.com/office/drawing/2014/main" id="{F5009845-9A0B-9C70-22AE-36FA464CC352}"/>
              </a:ext>
            </a:extLst>
          </p:cNvPr>
          <p:cNvSpPr/>
          <p:nvPr/>
        </p:nvSpPr>
        <p:spPr>
          <a:xfrm>
            <a:off x="7445045" y="30001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5" name="Image 39" descr="preencoded.png">
            <a:extLst>
              <a:ext uri="{FF2B5EF4-FFF2-40B4-BE49-F238E27FC236}">
                <a16:creationId xmlns:a16="http://schemas.microsoft.com/office/drawing/2014/main" id="{5A74C710-E19D-6D3E-E37B-C946432EE23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3237890"/>
            <a:ext cx="228600" cy="228600"/>
          </a:xfrm>
          <a:prstGeom prst="rect">
            <a:avLst/>
          </a:prstGeom>
        </p:spPr>
      </p:pic>
      <p:pic>
        <p:nvPicPr>
          <p:cNvPr id="116" name="Image 40" descr="preencoded.png">
            <a:extLst>
              <a:ext uri="{FF2B5EF4-FFF2-40B4-BE49-F238E27FC236}">
                <a16:creationId xmlns:a16="http://schemas.microsoft.com/office/drawing/2014/main" id="{230781EA-E1F1-A55C-C9A0-AFCE6090E302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7649870" y="3317900"/>
            <a:ext cx="85954" cy="69494"/>
          </a:xfrm>
          <a:prstGeom prst="rect">
            <a:avLst/>
          </a:prstGeom>
        </p:spPr>
      </p:pic>
      <p:sp>
        <p:nvSpPr>
          <p:cNvPr id="117" name="Text 74">
            <a:extLst>
              <a:ext uri="{FF2B5EF4-FFF2-40B4-BE49-F238E27FC236}">
                <a16:creationId xmlns:a16="http://schemas.microsoft.com/office/drawing/2014/main" id="{F374F48B-3E8F-98C1-A753-D8C63CE0D4C3}"/>
              </a:ext>
            </a:extLst>
          </p:cNvPr>
          <p:cNvSpPr txBox="1"/>
          <p:nvPr/>
        </p:nvSpPr>
        <p:spPr>
          <a:xfrm>
            <a:off x="7902245" y="3185540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it-IT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Microsoft Entra ID (Azure AD)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75">
            <a:extLst>
              <a:ext uri="{FF2B5EF4-FFF2-40B4-BE49-F238E27FC236}">
                <a16:creationId xmlns:a16="http://schemas.microsoft.com/office/drawing/2014/main" id="{BB6D7EE7-F344-01E4-A5ED-61D30E93C2F3}"/>
              </a:ext>
            </a:extLst>
          </p:cNvPr>
          <p:cNvSpPr txBox="1"/>
          <p:nvPr/>
        </p:nvSpPr>
        <p:spPr>
          <a:xfrm>
            <a:off x="7902245" y="3424093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Authentication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Shape 76">
            <a:extLst>
              <a:ext uri="{FF2B5EF4-FFF2-40B4-BE49-F238E27FC236}">
                <a16:creationId xmlns:a16="http://schemas.microsoft.com/office/drawing/2014/main" id="{6295B2E4-80C1-D48E-0857-EB2C38B07857}"/>
              </a:ext>
            </a:extLst>
          </p:cNvPr>
          <p:cNvSpPr/>
          <p:nvPr/>
        </p:nvSpPr>
        <p:spPr>
          <a:xfrm>
            <a:off x="7445045" y="38002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Shape 77">
            <a:extLst>
              <a:ext uri="{FF2B5EF4-FFF2-40B4-BE49-F238E27FC236}">
                <a16:creationId xmlns:a16="http://schemas.microsoft.com/office/drawing/2014/main" id="{0C8F308B-BCDA-C87A-4240-66B55694F9F7}"/>
              </a:ext>
            </a:extLst>
          </p:cNvPr>
          <p:cNvSpPr/>
          <p:nvPr/>
        </p:nvSpPr>
        <p:spPr>
          <a:xfrm>
            <a:off x="7445045" y="38002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1" name="Image 41" descr="preencoded.png">
            <a:extLst>
              <a:ext uri="{FF2B5EF4-FFF2-40B4-BE49-F238E27FC236}">
                <a16:creationId xmlns:a16="http://schemas.microsoft.com/office/drawing/2014/main" id="{A4E031BB-28B1-DB44-302E-5DB5FACA87D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4037990"/>
            <a:ext cx="228600" cy="228600"/>
          </a:xfrm>
          <a:prstGeom prst="rect">
            <a:avLst/>
          </a:prstGeom>
        </p:spPr>
      </p:pic>
      <p:pic>
        <p:nvPicPr>
          <p:cNvPr id="122" name="Image 42" descr="preencoded.png">
            <a:extLst>
              <a:ext uri="{FF2B5EF4-FFF2-40B4-BE49-F238E27FC236}">
                <a16:creationId xmlns:a16="http://schemas.microsoft.com/office/drawing/2014/main" id="{36F541EB-1B64-40F7-77C1-17EB4D56DB7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7649870" y="4118000"/>
            <a:ext cx="85954" cy="69494"/>
          </a:xfrm>
          <a:prstGeom prst="rect">
            <a:avLst/>
          </a:prstGeom>
        </p:spPr>
      </p:pic>
      <p:sp>
        <p:nvSpPr>
          <p:cNvPr id="123" name="Text 78">
            <a:extLst>
              <a:ext uri="{FF2B5EF4-FFF2-40B4-BE49-F238E27FC236}">
                <a16:creationId xmlns:a16="http://schemas.microsoft.com/office/drawing/2014/main" id="{E06DA008-4A55-FD25-A106-140190CA3DE4}"/>
              </a:ext>
            </a:extLst>
          </p:cNvPr>
          <p:cNvSpPr txBox="1"/>
          <p:nvPr/>
        </p:nvSpPr>
        <p:spPr>
          <a:xfrm>
            <a:off x="7902245" y="40142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Co-Pilot UI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Text 79">
            <a:extLst>
              <a:ext uri="{FF2B5EF4-FFF2-40B4-BE49-F238E27FC236}">
                <a16:creationId xmlns:a16="http://schemas.microsoft.com/office/drawing/2014/main" id="{4C9D7D52-100D-F01B-4929-09D085D28DBF}"/>
              </a:ext>
            </a:extLst>
          </p:cNvPr>
          <p:cNvSpPr txBox="1"/>
          <p:nvPr/>
        </p:nvSpPr>
        <p:spPr>
          <a:xfrm>
            <a:off x="7902245" y="4224193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Chat interface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Shape 80">
            <a:extLst>
              <a:ext uri="{FF2B5EF4-FFF2-40B4-BE49-F238E27FC236}">
                <a16:creationId xmlns:a16="http://schemas.microsoft.com/office/drawing/2014/main" id="{7E574E21-2393-0C45-C9F4-60C9DA3692F1}"/>
              </a:ext>
            </a:extLst>
          </p:cNvPr>
          <p:cNvSpPr/>
          <p:nvPr/>
        </p:nvSpPr>
        <p:spPr>
          <a:xfrm>
            <a:off x="7445045" y="46003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Shape 81">
            <a:extLst>
              <a:ext uri="{FF2B5EF4-FFF2-40B4-BE49-F238E27FC236}">
                <a16:creationId xmlns:a16="http://schemas.microsoft.com/office/drawing/2014/main" id="{F5159149-B078-7B8A-9720-18F1DAB42BE3}"/>
              </a:ext>
            </a:extLst>
          </p:cNvPr>
          <p:cNvSpPr/>
          <p:nvPr/>
        </p:nvSpPr>
        <p:spPr>
          <a:xfrm>
            <a:off x="7445045" y="46003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7" name="Image 43" descr="preencoded.png">
            <a:extLst>
              <a:ext uri="{FF2B5EF4-FFF2-40B4-BE49-F238E27FC236}">
                <a16:creationId xmlns:a16="http://schemas.microsoft.com/office/drawing/2014/main" id="{608773E0-01A4-E774-7AE6-D6E59F30A1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4838090"/>
            <a:ext cx="228600" cy="228600"/>
          </a:xfrm>
          <a:prstGeom prst="rect">
            <a:avLst/>
          </a:prstGeom>
        </p:spPr>
      </p:pic>
      <p:pic>
        <p:nvPicPr>
          <p:cNvPr id="128" name="Image 44" descr="preencoded.png">
            <a:extLst>
              <a:ext uri="{FF2B5EF4-FFF2-40B4-BE49-F238E27FC236}">
                <a16:creationId xmlns:a16="http://schemas.microsoft.com/office/drawing/2014/main" id="{DD95919C-24C4-4CDD-B50F-729EB3F2A95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/>
        </p:blipFill>
        <p:spPr>
          <a:xfrm>
            <a:off x="7649870" y="4913963"/>
            <a:ext cx="85954" cy="77767"/>
          </a:xfrm>
          <a:prstGeom prst="rect">
            <a:avLst/>
          </a:prstGeom>
        </p:spPr>
      </p:pic>
      <p:sp>
        <p:nvSpPr>
          <p:cNvPr id="129" name="Text 82">
            <a:extLst>
              <a:ext uri="{FF2B5EF4-FFF2-40B4-BE49-F238E27FC236}">
                <a16:creationId xmlns:a16="http://schemas.microsoft.com/office/drawing/2014/main" id="{D7E89DF7-FC57-9170-1DE9-796322D8C10A}"/>
              </a:ext>
            </a:extLst>
          </p:cNvPr>
          <p:cNvSpPr txBox="1"/>
          <p:nvPr/>
        </p:nvSpPr>
        <p:spPr>
          <a:xfrm>
            <a:off x="7902245" y="48143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Dashboard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 83">
            <a:extLst>
              <a:ext uri="{FF2B5EF4-FFF2-40B4-BE49-F238E27FC236}">
                <a16:creationId xmlns:a16="http://schemas.microsoft.com/office/drawing/2014/main" id="{3399C0F4-DE95-60C3-63EC-56F18E1F8725}"/>
              </a:ext>
            </a:extLst>
          </p:cNvPr>
          <p:cNvSpPr txBox="1"/>
          <p:nvPr/>
        </p:nvSpPr>
        <p:spPr>
          <a:xfrm>
            <a:off x="7902245" y="5024293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Visualization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Shape 84">
            <a:extLst>
              <a:ext uri="{FF2B5EF4-FFF2-40B4-BE49-F238E27FC236}">
                <a16:creationId xmlns:a16="http://schemas.microsoft.com/office/drawing/2014/main" id="{DC9711F6-D53D-D29A-EC56-8FC9CD869FCB}"/>
              </a:ext>
            </a:extLst>
          </p:cNvPr>
          <p:cNvSpPr/>
          <p:nvPr/>
        </p:nvSpPr>
        <p:spPr>
          <a:xfrm>
            <a:off x="7445045" y="5447995"/>
            <a:ext cx="1867205" cy="267005"/>
          </a:xfrm>
          <a:prstGeom prst="roundRect">
            <a:avLst>
              <a:gd name="adj" fmla="val 146771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 85">
            <a:extLst>
              <a:ext uri="{FF2B5EF4-FFF2-40B4-BE49-F238E27FC236}">
                <a16:creationId xmlns:a16="http://schemas.microsoft.com/office/drawing/2014/main" id="{C5B000ED-6CC9-CECE-FAF0-BCA4E2467AFB}"/>
              </a:ext>
            </a:extLst>
          </p:cNvPr>
          <p:cNvSpPr txBox="1"/>
          <p:nvPr/>
        </p:nvSpPr>
        <p:spPr>
          <a:xfrm>
            <a:off x="7540142" y="552389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 86">
            <a:extLst>
              <a:ext uri="{FF2B5EF4-FFF2-40B4-BE49-F238E27FC236}">
                <a16:creationId xmlns:a16="http://schemas.microsoft.com/office/drawing/2014/main" id="{EFC4321F-1A1D-16AD-D60C-7D63F34619B3}"/>
              </a:ext>
            </a:extLst>
          </p:cNvPr>
          <p:cNvSpPr txBox="1"/>
          <p:nvPr/>
        </p:nvSpPr>
        <p:spPr>
          <a:xfrm>
            <a:off x="7830007" y="5523890"/>
            <a:ext cx="15873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Container Apps → Entra ID → </a:t>
            </a:r>
          </a:p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Co-Pilot UI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4" name="Image 45" descr="preencoded.png">
            <a:extLst>
              <a:ext uri="{FF2B5EF4-FFF2-40B4-BE49-F238E27FC236}">
                <a16:creationId xmlns:a16="http://schemas.microsoft.com/office/drawing/2014/main" id="{8916B4D3-2A49-6DE0-E896-AB16C040DF3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9571025" y="1409669"/>
            <a:ext cx="2164385" cy="4543654"/>
          </a:xfrm>
          <a:prstGeom prst="rect">
            <a:avLst/>
          </a:prstGeom>
        </p:spPr>
      </p:pic>
      <p:sp>
        <p:nvSpPr>
          <p:cNvPr id="135" name="Shape 87">
            <a:extLst>
              <a:ext uri="{FF2B5EF4-FFF2-40B4-BE49-F238E27FC236}">
                <a16:creationId xmlns:a16="http://schemas.microsoft.com/office/drawing/2014/main" id="{0D6C5B0A-91F9-0DAA-D748-C3EE1C999AD6}"/>
              </a:ext>
            </a:extLst>
          </p:cNvPr>
          <p:cNvSpPr/>
          <p:nvPr/>
        </p:nvSpPr>
        <p:spPr>
          <a:xfrm>
            <a:off x="972281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6" name="Image 46" descr="preencoded.png">
            <a:extLst>
              <a:ext uri="{FF2B5EF4-FFF2-40B4-BE49-F238E27FC236}">
                <a16:creationId xmlns:a16="http://schemas.microsoft.com/office/drawing/2014/main" id="{B6F75C6C-DBA1-97F5-BC2B-C93D80D86976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9722815" y="1552651"/>
            <a:ext cx="342900" cy="342900"/>
          </a:xfrm>
          <a:prstGeom prst="rect">
            <a:avLst/>
          </a:prstGeom>
        </p:spPr>
      </p:pic>
      <p:pic>
        <p:nvPicPr>
          <p:cNvPr id="137" name="Image 47" descr="preencoded.png">
            <a:extLst>
              <a:ext uri="{FF2B5EF4-FFF2-40B4-BE49-F238E27FC236}">
                <a16:creationId xmlns:a16="http://schemas.microsoft.com/office/drawing/2014/main" id="{5757F87D-7343-C482-034E-E007B6564EBC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/>
        </p:blipFill>
        <p:spPr>
          <a:xfrm>
            <a:off x="9837115" y="1673075"/>
            <a:ext cx="114300" cy="102053"/>
          </a:xfrm>
          <a:prstGeom prst="rect">
            <a:avLst/>
          </a:prstGeom>
        </p:spPr>
      </p:pic>
      <p:sp>
        <p:nvSpPr>
          <p:cNvPr id="138" name="Text 88">
            <a:extLst>
              <a:ext uri="{FF2B5EF4-FFF2-40B4-BE49-F238E27FC236}">
                <a16:creationId xmlns:a16="http://schemas.microsoft.com/office/drawing/2014/main" id="{4D345A9E-1E21-26FA-A5F7-E608911E0654}"/>
              </a:ext>
            </a:extLst>
          </p:cNvPr>
          <p:cNvSpPr txBox="1"/>
          <p:nvPr/>
        </p:nvSpPr>
        <p:spPr>
          <a:xfrm>
            <a:off x="10160813" y="1637690"/>
            <a:ext cx="12207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Orchestration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Shape 89">
            <a:extLst>
              <a:ext uri="{FF2B5EF4-FFF2-40B4-BE49-F238E27FC236}">
                <a16:creationId xmlns:a16="http://schemas.microsoft.com/office/drawing/2014/main" id="{AF3D1F3F-EA07-B315-A561-FE4B5E959A5F}"/>
              </a:ext>
            </a:extLst>
          </p:cNvPr>
          <p:cNvSpPr/>
          <p:nvPr/>
        </p:nvSpPr>
        <p:spPr>
          <a:xfrm>
            <a:off x="9722815" y="2200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Shape 90">
            <a:extLst>
              <a:ext uri="{FF2B5EF4-FFF2-40B4-BE49-F238E27FC236}">
                <a16:creationId xmlns:a16="http://schemas.microsoft.com/office/drawing/2014/main" id="{2E6A73DE-26C0-4D31-29FD-ADED230FA2C0}"/>
              </a:ext>
            </a:extLst>
          </p:cNvPr>
          <p:cNvSpPr/>
          <p:nvPr/>
        </p:nvSpPr>
        <p:spPr>
          <a:xfrm>
            <a:off x="9722815" y="2200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1" name="Image 48" descr="preencoded.png">
            <a:extLst>
              <a:ext uri="{FF2B5EF4-FFF2-40B4-BE49-F238E27FC236}">
                <a16:creationId xmlns:a16="http://schemas.microsoft.com/office/drawing/2014/main" id="{D3FDE7F1-F4F7-803D-F89E-C9E2EB58741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2419502"/>
            <a:ext cx="228600" cy="228600"/>
          </a:xfrm>
          <a:prstGeom prst="rect">
            <a:avLst/>
          </a:prstGeom>
        </p:spPr>
      </p:pic>
      <p:pic>
        <p:nvPicPr>
          <p:cNvPr id="142" name="Image 49" descr="preencoded.png">
            <a:extLst>
              <a:ext uri="{FF2B5EF4-FFF2-40B4-BE49-F238E27FC236}">
                <a16:creationId xmlns:a16="http://schemas.microsoft.com/office/drawing/2014/main" id="{F59C394D-8E50-13FB-9516-6FF67DE9D012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/>
        </p:blipFill>
        <p:spPr>
          <a:xfrm>
            <a:off x="9927641" y="2494461"/>
            <a:ext cx="85954" cy="77767"/>
          </a:xfrm>
          <a:prstGeom prst="rect">
            <a:avLst/>
          </a:prstGeom>
        </p:spPr>
      </p:pic>
      <p:sp>
        <p:nvSpPr>
          <p:cNvPr id="143" name="Text 91">
            <a:extLst>
              <a:ext uri="{FF2B5EF4-FFF2-40B4-BE49-F238E27FC236}">
                <a16:creationId xmlns:a16="http://schemas.microsoft.com/office/drawing/2014/main" id="{59F5DBD9-30B5-79EE-E3C5-5E24C96DE301}"/>
              </a:ext>
            </a:extLst>
          </p:cNvPr>
          <p:cNvSpPr txBox="1"/>
          <p:nvPr/>
        </p:nvSpPr>
        <p:spPr>
          <a:xfrm>
            <a:off x="10180015" y="2351949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Logic Apps / Durable Functions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Text 92">
            <a:extLst>
              <a:ext uri="{FF2B5EF4-FFF2-40B4-BE49-F238E27FC236}">
                <a16:creationId xmlns:a16="http://schemas.microsoft.com/office/drawing/2014/main" id="{B60529DE-2A18-1A97-EA65-37245BB3F2AC}"/>
              </a:ext>
            </a:extLst>
          </p:cNvPr>
          <p:cNvSpPr txBox="1"/>
          <p:nvPr/>
        </p:nvSpPr>
        <p:spPr>
          <a:xfrm>
            <a:off x="10180015" y="260570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Workflow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Shape 93">
            <a:extLst>
              <a:ext uri="{FF2B5EF4-FFF2-40B4-BE49-F238E27FC236}">
                <a16:creationId xmlns:a16="http://schemas.microsoft.com/office/drawing/2014/main" id="{6504983D-E341-17F2-7F35-6D1E7826BC02}"/>
              </a:ext>
            </a:extLst>
          </p:cNvPr>
          <p:cNvSpPr/>
          <p:nvPr/>
        </p:nvSpPr>
        <p:spPr>
          <a:xfrm>
            <a:off x="9722815" y="296174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Shape 94">
            <a:extLst>
              <a:ext uri="{FF2B5EF4-FFF2-40B4-BE49-F238E27FC236}">
                <a16:creationId xmlns:a16="http://schemas.microsoft.com/office/drawing/2014/main" id="{F56AB5E4-3080-E4BE-B7D7-583C4B80C485}"/>
              </a:ext>
            </a:extLst>
          </p:cNvPr>
          <p:cNvSpPr/>
          <p:nvPr/>
        </p:nvSpPr>
        <p:spPr>
          <a:xfrm>
            <a:off x="9722815" y="296174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7" name="Image 50" descr="preencoded.png">
            <a:extLst>
              <a:ext uri="{FF2B5EF4-FFF2-40B4-BE49-F238E27FC236}">
                <a16:creationId xmlns:a16="http://schemas.microsoft.com/office/drawing/2014/main" id="{831EA54F-C397-A1AF-6AE7-41F803CF087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3181197"/>
            <a:ext cx="228600" cy="228600"/>
          </a:xfrm>
          <a:prstGeom prst="rect">
            <a:avLst/>
          </a:prstGeom>
        </p:spPr>
      </p:pic>
      <p:pic>
        <p:nvPicPr>
          <p:cNvPr id="148" name="Image 51" descr="preencoded.png">
            <a:extLst>
              <a:ext uri="{FF2B5EF4-FFF2-40B4-BE49-F238E27FC236}">
                <a16:creationId xmlns:a16="http://schemas.microsoft.com/office/drawing/2014/main" id="{FA8C1177-07B0-995C-94F2-1640DC3E11C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/>
        </p:blipFill>
        <p:spPr>
          <a:xfrm>
            <a:off x="9927641" y="3252063"/>
            <a:ext cx="85954" cy="85954"/>
          </a:xfrm>
          <a:prstGeom prst="rect">
            <a:avLst/>
          </a:prstGeom>
        </p:spPr>
      </p:pic>
      <p:sp>
        <p:nvSpPr>
          <p:cNvPr id="149" name="Text 95">
            <a:extLst>
              <a:ext uri="{FF2B5EF4-FFF2-40B4-BE49-F238E27FC236}">
                <a16:creationId xmlns:a16="http://schemas.microsoft.com/office/drawing/2014/main" id="{390CC1DE-A9B9-7D5A-99EB-7AC7A4208D17}"/>
              </a:ext>
            </a:extLst>
          </p:cNvPr>
          <p:cNvSpPr txBox="1"/>
          <p:nvPr/>
        </p:nvSpPr>
        <p:spPr>
          <a:xfrm>
            <a:off x="10180015" y="3128847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Communication Services Email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Text 96">
            <a:extLst>
              <a:ext uri="{FF2B5EF4-FFF2-40B4-BE49-F238E27FC236}">
                <a16:creationId xmlns:a16="http://schemas.microsoft.com/office/drawing/2014/main" id="{286F1A5C-B099-3758-D85D-7EBD8CAB5BF5}"/>
              </a:ext>
            </a:extLst>
          </p:cNvPr>
          <p:cNvSpPr txBox="1"/>
          <p:nvPr/>
        </p:nvSpPr>
        <p:spPr>
          <a:xfrm>
            <a:off x="10180015" y="3367400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Email/Export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Shape 97">
            <a:extLst>
              <a:ext uri="{FF2B5EF4-FFF2-40B4-BE49-F238E27FC236}">
                <a16:creationId xmlns:a16="http://schemas.microsoft.com/office/drawing/2014/main" id="{6CE0B75D-16C6-FA79-54D0-3E86066E270C}"/>
              </a:ext>
            </a:extLst>
          </p:cNvPr>
          <p:cNvSpPr/>
          <p:nvPr/>
        </p:nvSpPr>
        <p:spPr>
          <a:xfrm>
            <a:off x="9722815" y="372435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Shape 98">
            <a:extLst>
              <a:ext uri="{FF2B5EF4-FFF2-40B4-BE49-F238E27FC236}">
                <a16:creationId xmlns:a16="http://schemas.microsoft.com/office/drawing/2014/main" id="{3E9DCDD5-F864-EF33-C7FA-9D0D43CACE50}"/>
              </a:ext>
            </a:extLst>
          </p:cNvPr>
          <p:cNvSpPr/>
          <p:nvPr/>
        </p:nvSpPr>
        <p:spPr>
          <a:xfrm>
            <a:off x="9722815" y="372435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" name="Image 52" descr="preencoded.png">
            <a:extLst>
              <a:ext uri="{FF2B5EF4-FFF2-40B4-BE49-F238E27FC236}">
                <a16:creationId xmlns:a16="http://schemas.microsoft.com/office/drawing/2014/main" id="{F0D4325E-2258-904F-465A-EED573BA33A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3942893"/>
            <a:ext cx="228600" cy="228600"/>
          </a:xfrm>
          <a:prstGeom prst="rect">
            <a:avLst/>
          </a:prstGeom>
        </p:spPr>
      </p:pic>
      <p:pic>
        <p:nvPicPr>
          <p:cNvPr id="154" name="Image 53" descr="preencoded.png">
            <a:extLst>
              <a:ext uri="{FF2B5EF4-FFF2-40B4-BE49-F238E27FC236}">
                <a16:creationId xmlns:a16="http://schemas.microsoft.com/office/drawing/2014/main" id="{E64EA4C8-BB95-1344-B928-C1E7113C3237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/>
        </p:blipFill>
        <p:spPr>
          <a:xfrm>
            <a:off x="9927641" y="4008161"/>
            <a:ext cx="85954" cy="98977"/>
          </a:xfrm>
          <a:prstGeom prst="rect">
            <a:avLst/>
          </a:prstGeom>
        </p:spPr>
      </p:pic>
      <p:sp>
        <p:nvSpPr>
          <p:cNvPr id="155" name="Text 99">
            <a:extLst>
              <a:ext uri="{FF2B5EF4-FFF2-40B4-BE49-F238E27FC236}">
                <a16:creationId xmlns:a16="http://schemas.microsoft.com/office/drawing/2014/main" id="{FF549928-6393-FDC6-8122-5257D658660E}"/>
              </a:ext>
            </a:extLst>
          </p:cNvPr>
          <p:cNvSpPr txBox="1"/>
          <p:nvPr/>
        </p:nvSpPr>
        <p:spPr>
          <a:xfrm>
            <a:off x="10180015" y="3919118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API Management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Text 100">
            <a:extLst>
              <a:ext uri="{FF2B5EF4-FFF2-40B4-BE49-F238E27FC236}">
                <a16:creationId xmlns:a16="http://schemas.microsoft.com/office/drawing/2014/main" id="{C523978C-C966-EFA0-774F-DE6E8A08AC7C}"/>
              </a:ext>
            </a:extLst>
          </p:cNvPr>
          <p:cNvSpPr txBox="1"/>
          <p:nvPr/>
        </p:nvSpPr>
        <p:spPr>
          <a:xfrm>
            <a:off x="10180015" y="412909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API exposure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Shape 101">
            <a:extLst>
              <a:ext uri="{FF2B5EF4-FFF2-40B4-BE49-F238E27FC236}">
                <a16:creationId xmlns:a16="http://schemas.microsoft.com/office/drawing/2014/main" id="{A1B3701C-2AFB-91A1-CFE5-D2D82C1FE1DE}"/>
              </a:ext>
            </a:extLst>
          </p:cNvPr>
          <p:cNvSpPr/>
          <p:nvPr/>
        </p:nvSpPr>
        <p:spPr>
          <a:xfrm>
            <a:off x="9722815" y="4486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Shape 102">
            <a:extLst>
              <a:ext uri="{FF2B5EF4-FFF2-40B4-BE49-F238E27FC236}">
                <a16:creationId xmlns:a16="http://schemas.microsoft.com/office/drawing/2014/main" id="{C0982476-BE2E-DA7B-70C4-2FDB2BEB0E49}"/>
              </a:ext>
            </a:extLst>
          </p:cNvPr>
          <p:cNvSpPr/>
          <p:nvPr/>
        </p:nvSpPr>
        <p:spPr>
          <a:xfrm>
            <a:off x="9722815" y="4486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9" name="Image 54" descr="preencoded.png">
            <a:extLst>
              <a:ext uri="{FF2B5EF4-FFF2-40B4-BE49-F238E27FC236}">
                <a16:creationId xmlns:a16="http://schemas.microsoft.com/office/drawing/2014/main" id="{5B02098D-2671-1096-504E-F251E38A7B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4705502"/>
            <a:ext cx="228600" cy="228600"/>
          </a:xfrm>
          <a:prstGeom prst="rect">
            <a:avLst/>
          </a:prstGeom>
        </p:spPr>
      </p:pic>
      <p:pic>
        <p:nvPicPr>
          <p:cNvPr id="160" name="Image 55" descr="preencoded.png">
            <a:extLst>
              <a:ext uri="{FF2B5EF4-FFF2-40B4-BE49-F238E27FC236}">
                <a16:creationId xmlns:a16="http://schemas.microsoft.com/office/drawing/2014/main" id="{5FB3D9A5-7B5B-F194-4436-45FD99596C5F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/>
        </p:blipFill>
        <p:spPr>
          <a:xfrm>
            <a:off x="9927641" y="4776368"/>
            <a:ext cx="85954" cy="85954"/>
          </a:xfrm>
          <a:prstGeom prst="rect">
            <a:avLst/>
          </a:prstGeom>
        </p:spPr>
      </p:pic>
      <p:sp>
        <p:nvSpPr>
          <p:cNvPr id="161" name="Text 103">
            <a:extLst>
              <a:ext uri="{FF2B5EF4-FFF2-40B4-BE49-F238E27FC236}">
                <a16:creationId xmlns:a16="http://schemas.microsoft.com/office/drawing/2014/main" id="{E0694C34-E9C0-1E51-24C7-D55128AB6610}"/>
              </a:ext>
            </a:extLst>
          </p:cNvPr>
          <p:cNvSpPr txBox="1"/>
          <p:nvPr/>
        </p:nvSpPr>
        <p:spPr>
          <a:xfrm>
            <a:off x="10180015" y="4642712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Monitor + Application Insights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ext 104">
            <a:extLst>
              <a:ext uri="{FF2B5EF4-FFF2-40B4-BE49-F238E27FC236}">
                <a16:creationId xmlns:a16="http://schemas.microsoft.com/office/drawing/2014/main" id="{3DB1C717-A269-4428-AAAE-70CF56ECEFBE}"/>
              </a:ext>
            </a:extLst>
          </p:cNvPr>
          <p:cNvSpPr txBox="1"/>
          <p:nvPr/>
        </p:nvSpPr>
        <p:spPr>
          <a:xfrm>
            <a:off x="10180015" y="489170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Monitoring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Shape 105">
            <a:extLst>
              <a:ext uri="{FF2B5EF4-FFF2-40B4-BE49-F238E27FC236}">
                <a16:creationId xmlns:a16="http://schemas.microsoft.com/office/drawing/2014/main" id="{7E685B43-FEB3-226E-6339-FC1D707A51FA}"/>
              </a:ext>
            </a:extLst>
          </p:cNvPr>
          <p:cNvSpPr/>
          <p:nvPr/>
        </p:nvSpPr>
        <p:spPr>
          <a:xfrm>
            <a:off x="9722815" y="5295290"/>
            <a:ext cx="1867205" cy="418795"/>
          </a:xfrm>
          <a:prstGeom prst="roundRect">
            <a:avLst>
              <a:gd name="adj" fmla="val 59547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Text 106">
            <a:extLst>
              <a:ext uri="{FF2B5EF4-FFF2-40B4-BE49-F238E27FC236}">
                <a16:creationId xmlns:a16="http://schemas.microsoft.com/office/drawing/2014/main" id="{BC5CD080-5401-20F4-C909-45567DB84647}"/>
              </a:ext>
            </a:extLst>
          </p:cNvPr>
          <p:cNvSpPr txBox="1"/>
          <p:nvPr/>
        </p:nvSpPr>
        <p:spPr>
          <a:xfrm>
            <a:off x="9817913" y="537210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Text 107">
            <a:extLst>
              <a:ext uri="{FF2B5EF4-FFF2-40B4-BE49-F238E27FC236}">
                <a16:creationId xmlns:a16="http://schemas.microsoft.com/office/drawing/2014/main" id="{DE371F26-92BB-707D-9A92-735DC8E4F7E4}"/>
              </a:ext>
            </a:extLst>
          </p:cNvPr>
          <p:cNvSpPr txBox="1"/>
          <p:nvPr/>
        </p:nvSpPr>
        <p:spPr>
          <a:xfrm>
            <a:off x="9817913" y="5523890"/>
            <a:ext cx="1715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Logic Apps/Functions → Comm services → Export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 113">
            <a:extLst>
              <a:ext uri="{FF2B5EF4-FFF2-40B4-BE49-F238E27FC236}">
                <a16:creationId xmlns:a16="http://schemas.microsoft.com/office/drawing/2014/main" id="{7AD004A2-E97A-FB20-9413-2B09B7DDDF39}"/>
              </a:ext>
            </a:extLst>
          </p:cNvPr>
          <p:cNvSpPr txBox="1"/>
          <p:nvPr/>
        </p:nvSpPr>
        <p:spPr>
          <a:xfrm>
            <a:off x="2364638" y="1438351"/>
            <a:ext cx="1874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01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Text 114">
            <a:extLst>
              <a:ext uri="{FF2B5EF4-FFF2-40B4-BE49-F238E27FC236}">
                <a16:creationId xmlns:a16="http://schemas.microsoft.com/office/drawing/2014/main" id="{D1BBAA6A-AC7F-9C21-FB5F-6190C0BD38E5}"/>
              </a:ext>
            </a:extLst>
          </p:cNvPr>
          <p:cNvSpPr txBox="1"/>
          <p:nvPr/>
        </p:nvSpPr>
        <p:spPr>
          <a:xfrm>
            <a:off x="4616806" y="143835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02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Text 115">
            <a:extLst>
              <a:ext uri="{FF2B5EF4-FFF2-40B4-BE49-F238E27FC236}">
                <a16:creationId xmlns:a16="http://schemas.microsoft.com/office/drawing/2014/main" id="{0A64773F-7D1C-03F9-199A-5443082C64C8}"/>
              </a:ext>
            </a:extLst>
          </p:cNvPr>
          <p:cNvSpPr txBox="1"/>
          <p:nvPr/>
        </p:nvSpPr>
        <p:spPr>
          <a:xfrm>
            <a:off x="6895490" y="143835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03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Text 116">
            <a:extLst>
              <a:ext uri="{FF2B5EF4-FFF2-40B4-BE49-F238E27FC236}">
                <a16:creationId xmlns:a16="http://schemas.microsoft.com/office/drawing/2014/main" id="{78F51B79-2CD3-4649-DF62-C5B302501B2A}"/>
              </a:ext>
            </a:extLst>
          </p:cNvPr>
          <p:cNvSpPr txBox="1"/>
          <p:nvPr/>
        </p:nvSpPr>
        <p:spPr>
          <a:xfrm>
            <a:off x="9159545" y="1438351"/>
            <a:ext cx="191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04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Text 117">
            <a:extLst>
              <a:ext uri="{FF2B5EF4-FFF2-40B4-BE49-F238E27FC236}">
                <a16:creationId xmlns:a16="http://schemas.microsoft.com/office/drawing/2014/main" id="{9E6DA2D2-6DBB-4900-1DA5-DC45C65BF568}"/>
              </a:ext>
            </a:extLst>
          </p:cNvPr>
          <p:cNvSpPr txBox="1"/>
          <p:nvPr/>
        </p:nvSpPr>
        <p:spPr>
          <a:xfrm>
            <a:off x="11450117" y="143835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05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Slide Number Placeholder 5">
            <a:extLst>
              <a:ext uri="{FF2B5EF4-FFF2-40B4-BE49-F238E27FC236}">
                <a16:creationId xmlns:a16="http://schemas.microsoft.com/office/drawing/2014/main" id="{D743CDB0-A5D8-E974-B96A-FDE7CFF134B3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11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C777A98-22E7-1975-6754-6A303C754AA0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endParaRPr lang="en-US" sz="600" noProof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F94381FB-AE0A-ED5C-2427-0B54CC6A17CB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E54C32E5-266C-FEBB-C0C3-57A7BC1470AC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70" name="Freeform: Shape 3">
              <a:extLst>
                <a:ext uri="{FF2B5EF4-FFF2-40B4-BE49-F238E27FC236}">
                  <a16:creationId xmlns:a16="http://schemas.microsoft.com/office/drawing/2014/main" id="{EF2C1823-622F-CF09-C198-441F3814CA84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4">
              <a:extLst>
                <a:ext uri="{FF2B5EF4-FFF2-40B4-BE49-F238E27FC236}">
                  <a16:creationId xmlns:a16="http://schemas.microsoft.com/office/drawing/2014/main" id="{10973852-BD2A-B081-81F8-22E841944AB9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2" name="Freeform: Shape 5">
              <a:extLst>
                <a:ext uri="{FF2B5EF4-FFF2-40B4-BE49-F238E27FC236}">
                  <a16:creationId xmlns:a16="http://schemas.microsoft.com/office/drawing/2014/main" id="{072F8C17-0C6A-FF26-3E2D-275FA22434F1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6">
              <a:extLst>
                <a:ext uri="{FF2B5EF4-FFF2-40B4-BE49-F238E27FC236}">
                  <a16:creationId xmlns:a16="http://schemas.microsoft.com/office/drawing/2014/main" id="{C0259F82-A487-BE56-2101-1899E361DDC1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7">
              <a:extLst>
                <a:ext uri="{FF2B5EF4-FFF2-40B4-BE49-F238E27FC236}">
                  <a16:creationId xmlns:a16="http://schemas.microsoft.com/office/drawing/2014/main" id="{C99F3CE6-462D-C341-427F-6B88DB28BFEB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0" name="Freeform: Shape 8">
              <a:extLst>
                <a:ext uri="{FF2B5EF4-FFF2-40B4-BE49-F238E27FC236}">
                  <a16:creationId xmlns:a16="http://schemas.microsoft.com/office/drawing/2014/main" id="{CA5CCD98-F940-37BD-E945-29DE7CF6FE15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1" name="Freeform: Shape 11">
              <a:extLst>
                <a:ext uri="{FF2B5EF4-FFF2-40B4-BE49-F238E27FC236}">
                  <a16:creationId xmlns:a16="http://schemas.microsoft.com/office/drawing/2014/main" id="{FB4AB284-374E-9B84-2966-A0EC38779B31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2" name="Freeform: Shape 12">
              <a:extLst>
                <a:ext uri="{FF2B5EF4-FFF2-40B4-BE49-F238E27FC236}">
                  <a16:creationId xmlns:a16="http://schemas.microsoft.com/office/drawing/2014/main" id="{BA833621-1408-0F4D-D810-76D13ED1A41B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87" name="TextBox 186">
            <a:extLst>
              <a:ext uri="{FF2B5EF4-FFF2-40B4-BE49-F238E27FC236}">
                <a16:creationId xmlns:a16="http://schemas.microsoft.com/office/drawing/2014/main" id="{4577B571-7770-F240-452D-27AEC0A00B0D}"/>
              </a:ext>
            </a:extLst>
          </p:cNvPr>
          <p:cNvSpPr txBox="1"/>
          <p:nvPr/>
        </p:nvSpPr>
        <p:spPr>
          <a:xfrm>
            <a:off x="471513" y="6245035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46145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9BBAF-F780-1C1C-173B-D1659B3E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21AA8C-1CE0-D4F3-17E9-F956B7D114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7F1E635-FC6A-48B5-A209-2114B5DFBA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66" name="Slide Number Placeholder 5">
            <a:extLst>
              <a:ext uri="{FF2B5EF4-FFF2-40B4-BE49-F238E27FC236}">
                <a16:creationId xmlns:a16="http://schemas.microsoft.com/office/drawing/2014/main" id="{9286929A-30F1-5FD4-DAA8-18342989C9ED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12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C74A933-9173-D4CA-4F2D-F57A38ED0662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endParaRPr lang="en-US" sz="600" noProof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06C8121F-27FF-C98A-36AA-606A45DF9057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0B0FEB2-3635-594C-801F-41B472BC1D6F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70" name="Freeform: Shape 3">
              <a:extLst>
                <a:ext uri="{FF2B5EF4-FFF2-40B4-BE49-F238E27FC236}">
                  <a16:creationId xmlns:a16="http://schemas.microsoft.com/office/drawing/2014/main" id="{BB996A60-395A-DC37-CFAB-E16969F93367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4">
              <a:extLst>
                <a:ext uri="{FF2B5EF4-FFF2-40B4-BE49-F238E27FC236}">
                  <a16:creationId xmlns:a16="http://schemas.microsoft.com/office/drawing/2014/main" id="{8C6B2034-F469-4A0E-DD4E-F8758D9F02CF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2" name="Freeform: Shape 5">
              <a:extLst>
                <a:ext uri="{FF2B5EF4-FFF2-40B4-BE49-F238E27FC236}">
                  <a16:creationId xmlns:a16="http://schemas.microsoft.com/office/drawing/2014/main" id="{9267848E-DE20-D1FF-8530-CB45E542E351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6">
              <a:extLst>
                <a:ext uri="{FF2B5EF4-FFF2-40B4-BE49-F238E27FC236}">
                  <a16:creationId xmlns:a16="http://schemas.microsoft.com/office/drawing/2014/main" id="{763C819C-64F9-40E9-0AEB-E79C03CEEE2C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7">
              <a:extLst>
                <a:ext uri="{FF2B5EF4-FFF2-40B4-BE49-F238E27FC236}">
                  <a16:creationId xmlns:a16="http://schemas.microsoft.com/office/drawing/2014/main" id="{6D87BA7A-DDD3-FC07-117F-47670B1035E2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0" name="Freeform: Shape 8">
              <a:extLst>
                <a:ext uri="{FF2B5EF4-FFF2-40B4-BE49-F238E27FC236}">
                  <a16:creationId xmlns:a16="http://schemas.microsoft.com/office/drawing/2014/main" id="{1333C0F6-F9CE-7C3A-F3B4-7B1D8F1D6D4F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1" name="Freeform: Shape 11">
              <a:extLst>
                <a:ext uri="{FF2B5EF4-FFF2-40B4-BE49-F238E27FC236}">
                  <a16:creationId xmlns:a16="http://schemas.microsoft.com/office/drawing/2014/main" id="{AC5B7C4D-AB8A-59F7-08DD-2802B8CC45C7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2" name="Freeform: Shape 12">
              <a:extLst>
                <a:ext uri="{FF2B5EF4-FFF2-40B4-BE49-F238E27FC236}">
                  <a16:creationId xmlns:a16="http://schemas.microsoft.com/office/drawing/2014/main" id="{495B3E3F-0B83-3B2C-2A40-45A81621DE2B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84" name="Text 0">
            <a:extLst>
              <a:ext uri="{FF2B5EF4-FFF2-40B4-BE49-F238E27FC236}">
                <a16:creationId xmlns:a16="http://schemas.microsoft.com/office/drawing/2014/main" id="{F7B29F5F-6868-5889-A91C-C19E077A30E1}"/>
              </a:ext>
            </a:extLst>
          </p:cNvPr>
          <p:cNvSpPr txBox="1"/>
          <p:nvPr/>
        </p:nvSpPr>
        <p:spPr>
          <a:xfrm>
            <a:off x="425450" y="458357"/>
            <a:ext cx="616214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Agent Orchestration Architecture (illustrative stack using Azure services)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Text 1">
            <a:extLst>
              <a:ext uri="{FF2B5EF4-FFF2-40B4-BE49-F238E27FC236}">
                <a16:creationId xmlns:a16="http://schemas.microsoft.com/office/drawing/2014/main" id="{26EEF05F-2306-C3D6-027E-28E461A28F3B}"/>
              </a:ext>
            </a:extLst>
          </p:cNvPr>
          <p:cNvSpPr txBox="1"/>
          <p:nvPr/>
        </p:nvSpPr>
        <p:spPr>
          <a:xfrm>
            <a:off x="425450" y="868008"/>
            <a:ext cx="63441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Proactive data pull replacing manual Excel upload with autonomous data acquisition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8" name="Image 1" descr="gen-dedup-64dad604931dd69f3ab194324ee3fd90.png">
            <a:extLst>
              <a:ext uri="{FF2B5EF4-FFF2-40B4-BE49-F238E27FC236}">
                <a16:creationId xmlns:a16="http://schemas.microsoft.com/office/drawing/2014/main" id="{88087992-30F7-1BFC-D7E7-32CD84D96B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425450" y="1286803"/>
            <a:ext cx="2667305" cy="4190695"/>
          </a:xfrm>
          <a:prstGeom prst="rect">
            <a:avLst/>
          </a:prstGeom>
        </p:spPr>
      </p:pic>
      <p:pic>
        <p:nvPicPr>
          <p:cNvPr id="190" name="Image 2" descr="gen-dedup-d9608fe55b551d83f658346d84a5ddab.png">
            <a:extLst>
              <a:ext uri="{FF2B5EF4-FFF2-40B4-BE49-F238E27FC236}">
                <a16:creationId xmlns:a16="http://schemas.microsoft.com/office/drawing/2014/main" id="{747EC350-A110-F9E1-0F13-56D5FDEF2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5645" y="1541443"/>
            <a:ext cx="114300" cy="129886"/>
          </a:xfrm>
          <a:prstGeom prst="rect">
            <a:avLst/>
          </a:prstGeom>
        </p:spPr>
      </p:pic>
      <p:sp>
        <p:nvSpPr>
          <p:cNvPr id="192" name="Text 2">
            <a:extLst>
              <a:ext uri="{FF2B5EF4-FFF2-40B4-BE49-F238E27FC236}">
                <a16:creationId xmlns:a16="http://schemas.microsoft.com/office/drawing/2014/main" id="{3F88B129-E5F0-ED00-ECB2-B5363937E68C}"/>
              </a:ext>
            </a:extLst>
          </p:cNvPr>
          <p:cNvSpPr txBox="1"/>
          <p:nvPr/>
        </p:nvSpPr>
        <p:spPr>
          <a:xfrm>
            <a:off x="825957" y="1515403"/>
            <a:ext cx="78272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Triggers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Shape 3">
            <a:extLst>
              <a:ext uri="{FF2B5EF4-FFF2-40B4-BE49-F238E27FC236}">
                <a16:creationId xmlns:a16="http://schemas.microsoft.com/office/drawing/2014/main" id="{D20EAFD9-2D3A-F895-E706-D43C2277257E}"/>
              </a:ext>
            </a:extLst>
          </p:cNvPr>
          <p:cNvSpPr/>
          <p:nvPr/>
        </p:nvSpPr>
        <p:spPr>
          <a:xfrm>
            <a:off x="615645" y="1886650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Shape 4">
            <a:extLst>
              <a:ext uri="{FF2B5EF4-FFF2-40B4-BE49-F238E27FC236}">
                <a16:creationId xmlns:a16="http://schemas.microsoft.com/office/drawing/2014/main" id="{EE8F1274-E02C-4560-A8EB-E36C3270134C}"/>
              </a:ext>
            </a:extLst>
          </p:cNvPr>
          <p:cNvSpPr/>
          <p:nvPr/>
        </p:nvSpPr>
        <p:spPr>
          <a:xfrm>
            <a:off x="615645" y="1886650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8" name="Image 3" descr="gen-dedup-b26fc2c7d1873e5f66057f1b99347aee.png">
            <a:extLst>
              <a:ext uri="{FF2B5EF4-FFF2-40B4-BE49-F238E27FC236}">
                <a16:creationId xmlns:a16="http://schemas.microsoft.com/office/drawing/2014/main" id="{9D0F2A9A-15AD-64C5-47CF-C0E2CB2E50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6755" y="2000950"/>
            <a:ext cx="304495" cy="304495"/>
          </a:xfrm>
          <a:prstGeom prst="rect">
            <a:avLst/>
          </a:prstGeom>
        </p:spPr>
      </p:pic>
      <p:sp>
        <p:nvSpPr>
          <p:cNvPr id="200" name="Text 5">
            <a:extLst>
              <a:ext uri="{FF2B5EF4-FFF2-40B4-BE49-F238E27FC236}">
                <a16:creationId xmlns:a16="http://schemas.microsoft.com/office/drawing/2014/main" id="{FB9DCED4-1D43-4EF7-CADA-A1D9D8A89F83}"/>
              </a:ext>
            </a:extLst>
          </p:cNvPr>
          <p:cNvSpPr txBox="1"/>
          <p:nvPr/>
        </p:nvSpPr>
        <p:spPr>
          <a:xfrm>
            <a:off x="1225550" y="2000950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Logic Apps Scheduler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Text 6">
            <a:extLst>
              <a:ext uri="{FF2B5EF4-FFF2-40B4-BE49-F238E27FC236}">
                <a16:creationId xmlns:a16="http://schemas.microsoft.com/office/drawing/2014/main" id="{0C591301-D9AB-098E-2954-876DD333AD85}"/>
              </a:ext>
            </a:extLst>
          </p:cNvPr>
          <p:cNvSpPr txBox="1"/>
          <p:nvPr/>
        </p:nvSpPr>
        <p:spPr>
          <a:xfrm>
            <a:off x="1225550" y="217285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Time-based triggers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73D27AD5-70B6-F0E2-DB65-1D3F12668276}"/>
              </a:ext>
            </a:extLst>
          </p:cNvPr>
          <p:cNvSpPr/>
          <p:nvPr/>
        </p:nvSpPr>
        <p:spPr>
          <a:xfrm>
            <a:off x="615645" y="2534959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Shape 8">
            <a:extLst>
              <a:ext uri="{FF2B5EF4-FFF2-40B4-BE49-F238E27FC236}">
                <a16:creationId xmlns:a16="http://schemas.microsoft.com/office/drawing/2014/main" id="{4952847B-9C23-DCB1-D79A-3889B21EDEF2}"/>
              </a:ext>
            </a:extLst>
          </p:cNvPr>
          <p:cNvSpPr/>
          <p:nvPr/>
        </p:nvSpPr>
        <p:spPr>
          <a:xfrm>
            <a:off x="615645" y="2534959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8" name="Image 4" descr="gen-dedup-be818896e6fb24162976f6523ac05c5e.png">
            <a:extLst>
              <a:ext uri="{FF2B5EF4-FFF2-40B4-BE49-F238E27FC236}">
                <a16:creationId xmlns:a16="http://schemas.microsoft.com/office/drawing/2014/main" id="{1904F84B-2609-B454-14BC-9A97413AEA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6755" y="2649259"/>
            <a:ext cx="304495" cy="304495"/>
          </a:xfrm>
          <a:prstGeom prst="rect">
            <a:avLst/>
          </a:prstGeom>
        </p:spPr>
      </p:pic>
      <p:pic>
        <p:nvPicPr>
          <p:cNvPr id="210" name="Image 5" descr="gen-dedup-852b36736a7de54127eb23d602d7f1b2.png">
            <a:extLst>
              <a:ext uri="{FF2B5EF4-FFF2-40B4-BE49-F238E27FC236}">
                <a16:creationId xmlns:a16="http://schemas.microsoft.com/office/drawing/2014/main" id="{A73B89A5-4D72-B117-A426-997B24024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06424" y="2748471"/>
            <a:ext cx="105156" cy="105156"/>
          </a:xfrm>
          <a:prstGeom prst="rect">
            <a:avLst/>
          </a:prstGeom>
        </p:spPr>
      </p:pic>
      <p:sp>
        <p:nvSpPr>
          <p:cNvPr id="212" name="Text 9">
            <a:extLst>
              <a:ext uri="{FF2B5EF4-FFF2-40B4-BE49-F238E27FC236}">
                <a16:creationId xmlns:a16="http://schemas.microsoft.com/office/drawing/2014/main" id="{797B0E6E-48A3-A9E7-F749-FA027CE6855D}"/>
              </a:ext>
            </a:extLst>
          </p:cNvPr>
          <p:cNvSpPr txBox="1"/>
          <p:nvPr/>
        </p:nvSpPr>
        <p:spPr>
          <a:xfrm>
            <a:off x="1225550" y="2649259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SafetyNet Event Grid / Event Hub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Text 10">
            <a:extLst>
              <a:ext uri="{FF2B5EF4-FFF2-40B4-BE49-F238E27FC236}">
                <a16:creationId xmlns:a16="http://schemas.microsoft.com/office/drawing/2014/main" id="{1FB8B1A5-761C-8A12-7589-4BEB5227D012}"/>
              </a:ext>
            </a:extLst>
          </p:cNvPr>
          <p:cNvSpPr txBox="1"/>
          <p:nvPr/>
        </p:nvSpPr>
        <p:spPr>
          <a:xfrm>
            <a:off x="1225550" y="2820252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stream signals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Shape 11">
            <a:extLst>
              <a:ext uri="{FF2B5EF4-FFF2-40B4-BE49-F238E27FC236}">
                <a16:creationId xmlns:a16="http://schemas.microsoft.com/office/drawing/2014/main" id="{10D92275-9447-E884-8DA3-16A4C3F7B2CF}"/>
              </a:ext>
            </a:extLst>
          </p:cNvPr>
          <p:cNvSpPr/>
          <p:nvPr/>
        </p:nvSpPr>
        <p:spPr>
          <a:xfrm>
            <a:off x="615645" y="3182354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" name="Shape 12">
            <a:extLst>
              <a:ext uri="{FF2B5EF4-FFF2-40B4-BE49-F238E27FC236}">
                <a16:creationId xmlns:a16="http://schemas.microsoft.com/office/drawing/2014/main" id="{5A951061-3769-CB21-6EA2-2BAE1DB87BA1}"/>
              </a:ext>
            </a:extLst>
          </p:cNvPr>
          <p:cNvSpPr/>
          <p:nvPr/>
        </p:nvSpPr>
        <p:spPr>
          <a:xfrm>
            <a:off x="615645" y="3182354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0" name="Image 6" descr="gen-dedup-3b2e84948980196448fbc017596c33d5.png">
            <a:extLst>
              <a:ext uri="{FF2B5EF4-FFF2-40B4-BE49-F238E27FC236}">
                <a16:creationId xmlns:a16="http://schemas.microsoft.com/office/drawing/2014/main" id="{AC447943-3080-702D-F818-083E4667E63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6755" y="3296654"/>
            <a:ext cx="304495" cy="304495"/>
          </a:xfrm>
          <a:prstGeom prst="rect">
            <a:avLst/>
          </a:prstGeom>
        </p:spPr>
      </p:pic>
      <p:pic>
        <p:nvPicPr>
          <p:cNvPr id="222" name="Image 7" descr="gen-dedup-a8754db6f5baf34b33440bb1ab5d515e.png">
            <a:extLst>
              <a:ext uri="{FF2B5EF4-FFF2-40B4-BE49-F238E27FC236}">
                <a16:creationId xmlns:a16="http://schemas.microsoft.com/office/drawing/2014/main" id="{D0EC73F3-F57B-F608-73A1-06ADF58D6D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906424" y="3396781"/>
            <a:ext cx="105156" cy="105156"/>
          </a:xfrm>
          <a:prstGeom prst="rect">
            <a:avLst/>
          </a:prstGeom>
        </p:spPr>
      </p:pic>
      <p:sp>
        <p:nvSpPr>
          <p:cNvPr id="224" name="Text 13">
            <a:extLst>
              <a:ext uri="{FF2B5EF4-FFF2-40B4-BE49-F238E27FC236}">
                <a16:creationId xmlns:a16="http://schemas.microsoft.com/office/drawing/2014/main" id="{08F6793D-3AF3-EE1B-6374-BBD2B8B38B32}"/>
              </a:ext>
            </a:extLst>
          </p:cNvPr>
          <p:cNvSpPr txBox="1"/>
          <p:nvPr/>
        </p:nvSpPr>
        <p:spPr>
          <a:xfrm>
            <a:off x="1225550" y="3296654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Monitor Alerts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Text 14">
            <a:extLst>
              <a:ext uri="{FF2B5EF4-FFF2-40B4-BE49-F238E27FC236}">
                <a16:creationId xmlns:a16="http://schemas.microsoft.com/office/drawing/2014/main" id="{07876264-073D-7687-EC62-CF79A39F8003}"/>
              </a:ext>
            </a:extLst>
          </p:cNvPr>
          <p:cNvSpPr txBox="1"/>
          <p:nvPr/>
        </p:nvSpPr>
        <p:spPr>
          <a:xfrm>
            <a:off x="1225550" y="346764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Gate proximity alerts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Shape 15">
            <a:extLst>
              <a:ext uri="{FF2B5EF4-FFF2-40B4-BE49-F238E27FC236}">
                <a16:creationId xmlns:a16="http://schemas.microsoft.com/office/drawing/2014/main" id="{7DCAC76F-E778-3819-181B-EAB1986C8AD0}"/>
              </a:ext>
            </a:extLst>
          </p:cNvPr>
          <p:cNvSpPr/>
          <p:nvPr/>
        </p:nvSpPr>
        <p:spPr>
          <a:xfrm>
            <a:off x="615645" y="3829750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Shape 16">
            <a:extLst>
              <a:ext uri="{FF2B5EF4-FFF2-40B4-BE49-F238E27FC236}">
                <a16:creationId xmlns:a16="http://schemas.microsoft.com/office/drawing/2014/main" id="{4365489D-C538-6F8D-0FB9-8B320F221EC5}"/>
              </a:ext>
            </a:extLst>
          </p:cNvPr>
          <p:cNvSpPr/>
          <p:nvPr/>
        </p:nvSpPr>
        <p:spPr>
          <a:xfrm>
            <a:off x="615645" y="3829750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2" name="Image 8" descr="gen-dedup-335d3597c03402871d25e53611d4bedc.png">
            <a:extLst>
              <a:ext uri="{FF2B5EF4-FFF2-40B4-BE49-F238E27FC236}">
                <a16:creationId xmlns:a16="http://schemas.microsoft.com/office/drawing/2014/main" id="{6D68C7DE-C208-93E7-BC9A-DE29758F4C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6755" y="3944050"/>
            <a:ext cx="304495" cy="304495"/>
          </a:xfrm>
          <a:prstGeom prst="rect">
            <a:avLst/>
          </a:prstGeom>
        </p:spPr>
      </p:pic>
      <p:pic>
        <p:nvPicPr>
          <p:cNvPr id="234" name="Image 9" descr="gen-dedup-a140dedaf14a1ef35c320248d4d7ab16.png">
            <a:extLst>
              <a:ext uri="{FF2B5EF4-FFF2-40B4-BE49-F238E27FC236}">
                <a16:creationId xmlns:a16="http://schemas.microsoft.com/office/drawing/2014/main" id="{66A4BF14-BEBE-3B6C-9AEF-7D0F83E4BF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06424" y="4035874"/>
            <a:ext cx="105156" cy="121759"/>
          </a:xfrm>
          <a:prstGeom prst="rect">
            <a:avLst/>
          </a:prstGeom>
        </p:spPr>
      </p:pic>
      <p:sp>
        <p:nvSpPr>
          <p:cNvPr id="236" name="Text 17">
            <a:extLst>
              <a:ext uri="{FF2B5EF4-FFF2-40B4-BE49-F238E27FC236}">
                <a16:creationId xmlns:a16="http://schemas.microsoft.com/office/drawing/2014/main" id="{5EB4DB6B-CD46-8F9E-4227-8C2A879EC27F}"/>
              </a:ext>
            </a:extLst>
          </p:cNvPr>
          <p:cNvSpPr txBox="1"/>
          <p:nvPr/>
        </p:nvSpPr>
        <p:spPr>
          <a:xfrm>
            <a:off x="1225550" y="3944050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Manual Kickoff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8" name="Text 18">
            <a:extLst>
              <a:ext uri="{FF2B5EF4-FFF2-40B4-BE49-F238E27FC236}">
                <a16:creationId xmlns:a16="http://schemas.microsoft.com/office/drawing/2014/main" id="{806F7845-B570-28B8-2232-BB8B3359B6C4}"/>
              </a:ext>
            </a:extLst>
          </p:cNvPr>
          <p:cNvSpPr txBox="1"/>
          <p:nvPr/>
        </p:nvSpPr>
        <p:spPr>
          <a:xfrm>
            <a:off x="1225550" y="411595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Analyst initiated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0" name="Image 10" descr="gen-dedup-d72ac35a79d59c0de3ac839ccd0228a0.png">
            <a:extLst>
              <a:ext uri="{FF2B5EF4-FFF2-40B4-BE49-F238E27FC236}">
                <a16:creationId xmlns:a16="http://schemas.microsoft.com/office/drawing/2014/main" id="{C9BDF7A3-E0F8-9150-F9F6-E282412EC04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4" r="-4"/>
          <a:stretch/>
        </p:blipFill>
        <p:spPr>
          <a:xfrm>
            <a:off x="3321355" y="1286803"/>
            <a:ext cx="5486400" cy="4190695"/>
          </a:xfrm>
          <a:prstGeom prst="rect">
            <a:avLst/>
          </a:prstGeom>
        </p:spPr>
      </p:pic>
      <p:sp>
        <p:nvSpPr>
          <p:cNvPr id="242" name="Shape 19">
            <a:extLst>
              <a:ext uri="{FF2B5EF4-FFF2-40B4-BE49-F238E27FC236}">
                <a16:creationId xmlns:a16="http://schemas.microsoft.com/office/drawing/2014/main" id="{6D0AF345-E6F0-4DD1-48EF-A77AB7A221D3}"/>
              </a:ext>
            </a:extLst>
          </p:cNvPr>
          <p:cNvSpPr/>
          <p:nvPr/>
        </p:nvSpPr>
        <p:spPr>
          <a:xfrm>
            <a:off x="3511550" y="1810754"/>
            <a:ext cx="510509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4" name="Image 11" descr="gen-dedup-7558e3ab6b10d34512ebdce3fb5e43a0.png">
            <a:extLst>
              <a:ext uri="{FF2B5EF4-FFF2-40B4-BE49-F238E27FC236}">
                <a16:creationId xmlns:a16="http://schemas.microsoft.com/office/drawing/2014/main" id="{C5B4AD50-2DC2-968B-009D-7FF17AD9D7B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3511550" y="1561029"/>
            <a:ext cx="114300" cy="90714"/>
          </a:xfrm>
          <a:prstGeom prst="rect">
            <a:avLst/>
          </a:prstGeom>
        </p:spPr>
      </p:pic>
      <p:sp>
        <p:nvSpPr>
          <p:cNvPr id="246" name="Text 20">
            <a:extLst>
              <a:ext uri="{FF2B5EF4-FFF2-40B4-BE49-F238E27FC236}">
                <a16:creationId xmlns:a16="http://schemas.microsoft.com/office/drawing/2014/main" id="{5568848A-BC8C-B1E3-02F8-EC0863EC05BC}"/>
              </a:ext>
            </a:extLst>
          </p:cNvPr>
          <p:cNvSpPr txBox="1"/>
          <p:nvPr/>
        </p:nvSpPr>
        <p:spPr>
          <a:xfrm>
            <a:off x="3720948" y="1515403"/>
            <a:ext cx="166969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Azure AI Foundry Agent service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Shape 21">
            <a:extLst>
              <a:ext uri="{FF2B5EF4-FFF2-40B4-BE49-F238E27FC236}">
                <a16:creationId xmlns:a16="http://schemas.microsoft.com/office/drawing/2014/main" id="{926C9174-29A1-6A02-24BD-75CDC8A3C5E4}"/>
              </a:ext>
            </a:extLst>
          </p:cNvPr>
          <p:cNvSpPr/>
          <p:nvPr/>
        </p:nvSpPr>
        <p:spPr>
          <a:xfrm>
            <a:off x="8132928" y="1567524"/>
            <a:ext cx="75895" cy="75895"/>
          </a:xfrm>
          <a:prstGeom prst="ellipse">
            <a:avLst/>
          </a:prstGeom>
          <a:solidFill>
            <a:srgbClr val="4CAF50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Text 22">
            <a:extLst>
              <a:ext uri="{FF2B5EF4-FFF2-40B4-BE49-F238E27FC236}">
                <a16:creationId xmlns:a16="http://schemas.microsoft.com/office/drawing/2014/main" id="{BF6B10DD-CEFA-83E1-1194-FEE1FBFC7807}"/>
              </a:ext>
            </a:extLst>
          </p:cNvPr>
          <p:cNvSpPr txBox="1"/>
          <p:nvPr/>
        </p:nvSpPr>
        <p:spPr>
          <a:xfrm>
            <a:off x="8266430" y="1534606"/>
            <a:ext cx="47823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CAF5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Active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Shape 23">
            <a:extLst>
              <a:ext uri="{FF2B5EF4-FFF2-40B4-BE49-F238E27FC236}">
                <a16:creationId xmlns:a16="http://schemas.microsoft.com/office/drawing/2014/main" id="{A512995E-62D2-EAB0-DCF9-F98516CF3586}"/>
              </a:ext>
            </a:extLst>
          </p:cNvPr>
          <p:cNvSpPr/>
          <p:nvPr/>
        </p:nvSpPr>
        <p:spPr>
          <a:xfrm>
            <a:off x="3511550" y="2020152"/>
            <a:ext cx="5105095" cy="1019556"/>
          </a:xfrm>
          <a:prstGeom prst="roundRect">
            <a:avLst>
              <a:gd name="adj" fmla="val 1121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4" name="Image 12" descr="gen-dedup-49f8f2f6de0626cee8679e9615489313.png">
            <a:extLst>
              <a:ext uri="{FF2B5EF4-FFF2-40B4-BE49-F238E27FC236}">
                <a16:creationId xmlns:a16="http://schemas.microsoft.com/office/drawing/2014/main" id="{2E75399E-569E-1529-7948-9E4C18D25F0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311650" y="2210347"/>
            <a:ext cx="418795" cy="418795"/>
          </a:xfrm>
          <a:prstGeom prst="rect">
            <a:avLst/>
          </a:prstGeom>
        </p:spPr>
      </p:pic>
      <p:pic>
        <p:nvPicPr>
          <p:cNvPr id="256" name="Image 13" descr="gen-dedup-bb94604638c0df84051921abd9e1ede4.png">
            <a:extLst>
              <a:ext uri="{FF2B5EF4-FFF2-40B4-BE49-F238E27FC236}">
                <a16:creationId xmlns:a16="http://schemas.microsoft.com/office/drawing/2014/main" id="{244087D3-FC59-0055-A0AC-5076B6C481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4464355" y="2363052"/>
            <a:ext cx="114300" cy="114300"/>
          </a:xfrm>
          <a:prstGeom prst="rect">
            <a:avLst/>
          </a:prstGeom>
        </p:spPr>
      </p:pic>
      <p:sp>
        <p:nvSpPr>
          <p:cNvPr id="258" name="Text 24">
            <a:extLst>
              <a:ext uri="{FF2B5EF4-FFF2-40B4-BE49-F238E27FC236}">
                <a16:creationId xmlns:a16="http://schemas.microsoft.com/office/drawing/2014/main" id="{676A328C-82CE-B957-6927-9F548016E0BC}"/>
              </a:ext>
            </a:extLst>
          </p:cNvPr>
          <p:cNvSpPr txBox="1"/>
          <p:nvPr/>
        </p:nvSpPr>
        <p:spPr>
          <a:xfrm>
            <a:off x="4324452" y="2705952"/>
            <a:ext cx="40325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Think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0" name="Image 14" descr="gen-dedup-24d926efd97231d9bbfe44daebff4577.png">
            <a:extLst>
              <a:ext uri="{FF2B5EF4-FFF2-40B4-BE49-F238E27FC236}">
                <a16:creationId xmlns:a16="http://schemas.microsoft.com/office/drawing/2014/main" id="{F1F1CAB1-FCB2-D46D-8109-CACF85B39BD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4959960" y="2451357"/>
            <a:ext cx="133502" cy="152573"/>
          </a:xfrm>
          <a:prstGeom prst="rect">
            <a:avLst/>
          </a:prstGeom>
        </p:spPr>
      </p:pic>
      <p:pic>
        <p:nvPicPr>
          <p:cNvPr id="262" name="Image 15" descr="gen-dedup-107989b913bbeb232000a410174f5b2e.png">
            <a:extLst>
              <a:ext uri="{FF2B5EF4-FFF2-40B4-BE49-F238E27FC236}">
                <a16:creationId xmlns:a16="http://schemas.microsoft.com/office/drawing/2014/main" id="{F01FFA43-380F-B578-2261-C7CEC9E71C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322062" y="2210347"/>
            <a:ext cx="418795" cy="418795"/>
          </a:xfrm>
          <a:prstGeom prst="rect">
            <a:avLst/>
          </a:prstGeom>
        </p:spPr>
      </p:pic>
      <p:pic>
        <p:nvPicPr>
          <p:cNvPr id="264" name="Image 16" descr="gen-dedup-c6f705109fd13c3af277680d7cc1d875.png">
            <a:extLst>
              <a:ext uri="{FF2B5EF4-FFF2-40B4-BE49-F238E27FC236}">
                <a16:creationId xmlns:a16="http://schemas.microsoft.com/office/drawing/2014/main" id="{0877A825-432C-95D3-203E-927B02D4AE2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5473852" y="2345005"/>
            <a:ext cx="114300" cy="150394"/>
          </a:xfrm>
          <a:prstGeom prst="rect">
            <a:avLst/>
          </a:prstGeom>
        </p:spPr>
      </p:pic>
      <p:sp>
        <p:nvSpPr>
          <p:cNvPr id="266" name="Text 25">
            <a:extLst>
              <a:ext uri="{FF2B5EF4-FFF2-40B4-BE49-F238E27FC236}">
                <a16:creationId xmlns:a16="http://schemas.microsoft.com/office/drawing/2014/main" id="{60E1F3BA-6DBC-BEB9-0362-1F2465364FA4}"/>
              </a:ext>
            </a:extLst>
          </p:cNvPr>
          <p:cNvSpPr txBox="1"/>
          <p:nvPr/>
        </p:nvSpPr>
        <p:spPr>
          <a:xfrm>
            <a:off x="5414416" y="2705952"/>
            <a:ext cx="24323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8" name="Image 17" descr="gen-dedup-24d926efd97231d9bbfe44daebff4577.png">
            <a:extLst>
              <a:ext uri="{FF2B5EF4-FFF2-40B4-BE49-F238E27FC236}">
                <a16:creationId xmlns:a16="http://schemas.microsoft.com/office/drawing/2014/main" id="{16BF373B-E5F4-4F6A-6E76-90069CCE129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5969457" y="2451357"/>
            <a:ext cx="133502" cy="152573"/>
          </a:xfrm>
          <a:prstGeom prst="rect">
            <a:avLst/>
          </a:prstGeom>
        </p:spPr>
      </p:pic>
      <p:pic>
        <p:nvPicPr>
          <p:cNvPr id="270" name="Image 18" descr="gen-dedup-816e1de341e3cceed1849e422bd742bc.png">
            <a:extLst>
              <a:ext uri="{FF2B5EF4-FFF2-40B4-BE49-F238E27FC236}">
                <a16:creationId xmlns:a16="http://schemas.microsoft.com/office/drawing/2014/main" id="{E3CA85E4-D91A-97D5-CD52-4BB50AD878C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358992" y="2210347"/>
            <a:ext cx="418795" cy="418795"/>
          </a:xfrm>
          <a:prstGeom prst="rect">
            <a:avLst/>
          </a:prstGeom>
        </p:spPr>
      </p:pic>
      <p:pic>
        <p:nvPicPr>
          <p:cNvPr id="272" name="Image 19" descr="gen-dedup-3093283b515c95b5f55dc13b30b2da46.png">
            <a:extLst>
              <a:ext uri="{FF2B5EF4-FFF2-40B4-BE49-F238E27FC236}">
                <a16:creationId xmlns:a16="http://schemas.microsoft.com/office/drawing/2014/main" id="{3E60A7D9-0944-29D7-BAAE-74781E150CD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6511696" y="2369176"/>
            <a:ext cx="114300" cy="102053"/>
          </a:xfrm>
          <a:prstGeom prst="rect">
            <a:avLst/>
          </a:prstGeom>
        </p:spPr>
      </p:pic>
      <p:sp>
        <p:nvSpPr>
          <p:cNvPr id="274" name="Text 26">
            <a:extLst>
              <a:ext uri="{FF2B5EF4-FFF2-40B4-BE49-F238E27FC236}">
                <a16:creationId xmlns:a16="http://schemas.microsoft.com/office/drawing/2014/main" id="{2BE476B8-3F22-CDBB-9D96-EB75EA53ABAB}"/>
              </a:ext>
            </a:extLst>
          </p:cNvPr>
          <p:cNvSpPr txBox="1"/>
          <p:nvPr/>
        </p:nvSpPr>
        <p:spPr>
          <a:xfrm>
            <a:off x="6285840" y="2705952"/>
            <a:ext cx="56784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Observe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6" name="Image 20" descr="gen-dedup-24d926efd97231d9bbfe44daebff4577.png">
            <a:extLst>
              <a:ext uri="{FF2B5EF4-FFF2-40B4-BE49-F238E27FC236}">
                <a16:creationId xmlns:a16="http://schemas.microsoft.com/office/drawing/2014/main" id="{5FFB7150-21D8-7652-4BE0-C9994A7B9E2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7035648" y="2451357"/>
            <a:ext cx="133502" cy="152573"/>
          </a:xfrm>
          <a:prstGeom prst="rect">
            <a:avLst/>
          </a:prstGeom>
        </p:spPr>
      </p:pic>
      <p:pic>
        <p:nvPicPr>
          <p:cNvPr id="278" name="Image 21" descr="gen-dedup-5ac6af7cc32e0ab5ee9dd90f81c220d6.png">
            <a:extLst>
              <a:ext uri="{FF2B5EF4-FFF2-40B4-BE49-F238E27FC236}">
                <a16:creationId xmlns:a16="http://schemas.microsoft.com/office/drawing/2014/main" id="{18DB8EBB-48A0-B8C1-086F-405B15128EF7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7396836" y="2210347"/>
            <a:ext cx="418795" cy="418795"/>
          </a:xfrm>
          <a:prstGeom prst="rect">
            <a:avLst/>
          </a:prstGeom>
        </p:spPr>
      </p:pic>
      <p:sp>
        <p:nvSpPr>
          <p:cNvPr id="280" name="Text 27">
            <a:extLst>
              <a:ext uri="{FF2B5EF4-FFF2-40B4-BE49-F238E27FC236}">
                <a16:creationId xmlns:a16="http://schemas.microsoft.com/office/drawing/2014/main" id="{7E3E3CB6-4515-40A6-2E5D-82A6BF198212}"/>
              </a:ext>
            </a:extLst>
          </p:cNvPr>
          <p:cNvSpPr txBox="1"/>
          <p:nvPr/>
        </p:nvSpPr>
        <p:spPr>
          <a:xfrm>
            <a:off x="7368489" y="2705952"/>
            <a:ext cx="48006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Refine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Shape 28">
            <a:extLst>
              <a:ext uri="{FF2B5EF4-FFF2-40B4-BE49-F238E27FC236}">
                <a16:creationId xmlns:a16="http://schemas.microsoft.com/office/drawing/2014/main" id="{10AE78B1-6FF3-E0E9-88BB-93BDEF93E9F3}"/>
              </a:ext>
            </a:extLst>
          </p:cNvPr>
          <p:cNvSpPr/>
          <p:nvPr/>
        </p:nvSpPr>
        <p:spPr>
          <a:xfrm>
            <a:off x="3511550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4" name="Image 22" descr="gen-dedup-49ca8a266a4ba2819bf6ef39a68134c2.png">
            <a:extLst>
              <a:ext uri="{FF2B5EF4-FFF2-40B4-BE49-F238E27FC236}">
                <a16:creationId xmlns:a16="http://schemas.microsoft.com/office/drawing/2014/main" id="{FDCE585A-37F4-1213-0B79-3324F424B45A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849878" y="3554515"/>
            <a:ext cx="267005" cy="267005"/>
          </a:xfrm>
          <a:prstGeom prst="rect">
            <a:avLst/>
          </a:prstGeom>
        </p:spPr>
      </p:pic>
      <p:pic>
        <p:nvPicPr>
          <p:cNvPr id="286" name="Image 23" descr="gen-dedup-935cbe4830734878aa8d4513ce6bd6ae.png">
            <a:extLst>
              <a:ext uri="{FF2B5EF4-FFF2-40B4-BE49-F238E27FC236}">
                <a16:creationId xmlns:a16="http://schemas.microsoft.com/office/drawing/2014/main" id="{BD59C7A5-51D8-403B-DB0F-F00FB506A7E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3940404" y="3638335"/>
            <a:ext cx="85954" cy="100279"/>
          </a:xfrm>
          <a:prstGeom prst="rect">
            <a:avLst/>
          </a:prstGeom>
        </p:spPr>
      </p:pic>
      <p:sp>
        <p:nvSpPr>
          <p:cNvPr id="288" name="Text 29">
            <a:extLst>
              <a:ext uri="{FF2B5EF4-FFF2-40B4-BE49-F238E27FC236}">
                <a16:creationId xmlns:a16="http://schemas.microsoft.com/office/drawing/2014/main" id="{222A6E8E-A2CF-6570-1E4F-307956D92EEA}"/>
              </a:ext>
            </a:extLst>
          </p:cNvPr>
          <p:cNvSpPr txBox="1"/>
          <p:nvPr/>
        </p:nvSpPr>
        <p:spPr>
          <a:xfrm>
            <a:off x="3597504" y="3916618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Query SafetyNet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0" name="Text 30">
            <a:extLst>
              <a:ext uri="{FF2B5EF4-FFF2-40B4-BE49-F238E27FC236}">
                <a16:creationId xmlns:a16="http://schemas.microsoft.com/office/drawing/2014/main" id="{A23B760D-22BA-43D3-4253-BDFC54B14F4D}"/>
              </a:ext>
            </a:extLst>
          </p:cNvPr>
          <p:cNvSpPr txBox="1"/>
          <p:nvPr/>
        </p:nvSpPr>
        <p:spPr>
          <a:xfrm>
            <a:off x="3517951" y="4212650"/>
            <a:ext cx="940918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Synapse  over </a:t>
            </a:r>
          </a:p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Factory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Shape 31">
            <a:extLst>
              <a:ext uri="{FF2B5EF4-FFF2-40B4-BE49-F238E27FC236}">
                <a16:creationId xmlns:a16="http://schemas.microsoft.com/office/drawing/2014/main" id="{9A47AB1C-9D05-8F1F-558D-C09A00999F39}"/>
              </a:ext>
            </a:extLst>
          </p:cNvPr>
          <p:cNvSpPr/>
          <p:nvPr/>
        </p:nvSpPr>
        <p:spPr>
          <a:xfrm>
            <a:off x="4551223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4" name="Image 24" descr="gen-dedup-be2a9dd0b851ca010e3ad75377430538.png">
            <a:extLst>
              <a:ext uri="{FF2B5EF4-FFF2-40B4-BE49-F238E27FC236}">
                <a16:creationId xmlns:a16="http://schemas.microsoft.com/office/drawing/2014/main" id="{077A0422-46AB-5D72-D397-02545A11CE8C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4891380" y="3612122"/>
            <a:ext cx="267005" cy="267005"/>
          </a:xfrm>
          <a:prstGeom prst="rect">
            <a:avLst/>
          </a:prstGeom>
        </p:spPr>
      </p:pic>
      <p:pic>
        <p:nvPicPr>
          <p:cNvPr id="296" name="Image 25" descr="gen-dedup-60f7c3179d7be417cc0c2bb993fb6f45.png">
            <a:extLst>
              <a:ext uri="{FF2B5EF4-FFF2-40B4-BE49-F238E27FC236}">
                <a16:creationId xmlns:a16="http://schemas.microsoft.com/office/drawing/2014/main" id="{1ADBE592-71CC-7AEA-332D-568A44F2888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4981905" y="3710187"/>
            <a:ext cx="85954" cy="69962"/>
          </a:xfrm>
          <a:prstGeom prst="rect">
            <a:avLst/>
          </a:prstGeom>
        </p:spPr>
      </p:pic>
      <p:sp>
        <p:nvSpPr>
          <p:cNvPr id="298" name="Text 32">
            <a:extLst>
              <a:ext uri="{FF2B5EF4-FFF2-40B4-BE49-F238E27FC236}">
                <a16:creationId xmlns:a16="http://schemas.microsoft.com/office/drawing/2014/main" id="{6F721311-87CB-8EE2-B287-D52DAD465A30}"/>
              </a:ext>
            </a:extLst>
          </p:cNvPr>
          <p:cNvSpPr txBox="1"/>
          <p:nvPr/>
        </p:nvSpPr>
        <p:spPr>
          <a:xfrm>
            <a:off x="4525620" y="3973310"/>
            <a:ext cx="10030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Parse/Normalize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" name="Text 33">
            <a:extLst>
              <a:ext uri="{FF2B5EF4-FFF2-40B4-BE49-F238E27FC236}">
                <a16:creationId xmlns:a16="http://schemas.microsoft.com/office/drawing/2014/main" id="{ABC20BE2-AFA3-05FC-3FE0-783ED3754101}"/>
              </a:ext>
            </a:extLst>
          </p:cNvPr>
          <p:cNvSpPr txBox="1"/>
          <p:nvPr/>
        </p:nvSpPr>
        <p:spPr>
          <a:xfrm>
            <a:off x="4637176" y="4180443"/>
            <a:ext cx="7818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Data </a:t>
            </a:r>
          </a:p>
          <a:p>
            <a:pPr algn="ctr"/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Factory / Databricks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2" name="Shape 34">
            <a:extLst>
              <a:ext uri="{FF2B5EF4-FFF2-40B4-BE49-F238E27FC236}">
                <a16:creationId xmlns:a16="http://schemas.microsoft.com/office/drawing/2014/main" id="{453C16A8-7D65-BAD6-A6B7-20B77B277211}"/>
              </a:ext>
            </a:extLst>
          </p:cNvPr>
          <p:cNvSpPr/>
          <p:nvPr/>
        </p:nvSpPr>
        <p:spPr>
          <a:xfrm>
            <a:off x="5593639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4" name="Image 26" descr="gen-dedup-6b13672911c3d5d4f14df7f91927e5e6.png">
            <a:extLst>
              <a:ext uri="{FF2B5EF4-FFF2-40B4-BE49-F238E27FC236}">
                <a16:creationId xmlns:a16="http://schemas.microsoft.com/office/drawing/2014/main" id="{709DAD81-ACCD-7BA7-0BCE-C4D1637BB28B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931967" y="3560002"/>
            <a:ext cx="267005" cy="267005"/>
          </a:xfrm>
          <a:prstGeom prst="rect">
            <a:avLst/>
          </a:prstGeom>
        </p:spPr>
      </p:pic>
      <p:pic>
        <p:nvPicPr>
          <p:cNvPr id="306" name="Image 27" descr="gen-dedup-89f701cfd83c22b39ed74b9fe848015d.png">
            <a:extLst>
              <a:ext uri="{FF2B5EF4-FFF2-40B4-BE49-F238E27FC236}">
                <a16:creationId xmlns:a16="http://schemas.microsoft.com/office/drawing/2014/main" id="{39132B6D-341A-3F68-EDC5-4415D92C8B8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6022492" y="3650984"/>
            <a:ext cx="85954" cy="85954"/>
          </a:xfrm>
          <a:prstGeom prst="rect">
            <a:avLst/>
          </a:prstGeom>
        </p:spPr>
      </p:pic>
      <p:sp>
        <p:nvSpPr>
          <p:cNvPr id="308" name="Text 35">
            <a:extLst>
              <a:ext uri="{FF2B5EF4-FFF2-40B4-BE49-F238E27FC236}">
                <a16:creationId xmlns:a16="http://schemas.microsoft.com/office/drawing/2014/main" id="{A0263F57-326F-C6BF-485A-8DB1EA72D3D9}"/>
              </a:ext>
            </a:extLst>
          </p:cNvPr>
          <p:cNvSpPr txBox="1"/>
          <p:nvPr/>
        </p:nvSpPr>
        <p:spPr>
          <a:xfrm>
            <a:off x="5678678" y="3922104"/>
            <a:ext cx="7818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Run Analytics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Text 36">
            <a:extLst>
              <a:ext uri="{FF2B5EF4-FFF2-40B4-BE49-F238E27FC236}">
                <a16:creationId xmlns:a16="http://schemas.microsoft.com/office/drawing/2014/main" id="{D2260BBB-61ED-3B98-50CF-72B4FF8F1CAB}"/>
              </a:ext>
            </a:extLst>
          </p:cNvPr>
          <p:cNvSpPr txBox="1"/>
          <p:nvPr/>
        </p:nvSpPr>
        <p:spPr>
          <a:xfrm>
            <a:off x="5678678" y="4074809"/>
            <a:ext cx="781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Metrics &amp; baselines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Shape 37">
            <a:extLst>
              <a:ext uri="{FF2B5EF4-FFF2-40B4-BE49-F238E27FC236}">
                <a16:creationId xmlns:a16="http://schemas.microsoft.com/office/drawing/2014/main" id="{D78C8D92-7E5B-8A78-0D7F-12FC5118720C}"/>
              </a:ext>
            </a:extLst>
          </p:cNvPr>
          <p:cNvSpPr/>
          <p:nvPr/>
        </p:nvSpPr>
        <p:spPr>
          <a:xfrm>
            <a:off x="6633312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4" name="Image 28" descr="gen-dedup-1c8c8ff20086cf99c29b6ae94e21952a.png">
            <a:extLst>
              <a:ext uri="{FF2B5EF4-FFF2-40B4-BE49-F238E27FC236}">
                <a16:creationId xmlns:a16="http://schemas.microsoft.com/office/drawing/2014/main" id="{809DFD16-6FF5-63FE-297F-EC07FA781448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6971640" y="3612122"/>
            <a:ext cx="267005" cy="267005"/>
          </a:xfrm>
          <a:prstGeom prst="rect">
            <a:avLst/>
          </a:prstGeom>
        </p:spPr>
      </p:pic>
      <p:pic>
        <p:nvPicPr>
          <p:cNvPr id="316" name="Image 29" descr="gen-dedup-22019a4691948cc4525f818ef824ae55.png">
            <a:extLst>
              <a:ext uri="{FF2B5EF4-FFF2-40B4-BE49-F238E27FC236}">
                <a16:creationId xmlns:a16="http://schemas.microsoft.com/office/drawing/2014/main" id="{BACE3136-31D8-6A90-C0E0-187720B1038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/>
        </p:blipFill>
        <p:spPr>
          <a:xfrm>
            <a:off x="7076796" y="3716364"/>
            <a:ext cx="57607" cy="57607"/>
          </a:xfrm>
          <a:prstGeom prst="rect">
            <a:avLst/>
          </a:prstGeom>
        </p:spPr>
      </p:pic>
      <p:sp>
        <p:nvSpPr>
          <p:cNvPr id="318" name="Text 38">
            <a:extLst>
              <a:ext uri="{FF2B5EF4-FFF2-40B4-BE49-F238E27FC236}">
                <a16:creationId xmlns:a16="http://schemas.microsoft.com/office/drawing/2014/main" id="{9B441A1C-0AB3-6530-5C68-E66944C97572}"/>
              </a:ext>
            </a:extLst>
          </p:cNvPr>
          <p:cNvSpPr txBox="1"/>
          <p:nvPr/>
        </p:nvSpPr>
        <p:spPr>
          <a:xfrm>
            <a:off x="6718351" y="3973310"/>
            <a:ext cx="7818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Search Memory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0" name="Text 39">
            <a:extLst>
              <a:ext uri="{FF2B5EF4-FFF2-40B4-BE49-F238E27FC236}">
                <a16:creationId xmlns:a16="http://schemas.microsoft.com/office/drawing/2014/main" id="{094A1B64-AC2A-E659-307B-F2F5EAECF193}"/>
              </a:ext>
            </a:extLst>
          </p:cNvPr>
          <p:cNvSpPr txBox="1"/>
          <p:nvPr/>
        </p:nvSpPr>
        <p:spPr>
          <a:xfrm>
            <a:off x="6718351" y="4126015"/>
            <a:ext cx="7818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Knowledge Bases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2" name="Shape 40">
            <a:extLst>
              <a:ext uri="{FF2B5EF4-FFF2-40B4-BE49-F238E27FC236}">
                <a16:creationId xmlns:a16="http://schemas.microsoft.com/office/drawing/2014/main" id="{1CB25F21-C5D5-081B-F3EB-147415FD77AC}"/>
              </a:ext>
            </a:extLst>
          </p:cNvPr>
          <p:cNvSpPr/>
          <p:nvPr/>
        </p:nvSpPr>
        <p:spPr>
          <a:xfrm>
            <a:off x="7672070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4" name="Image 30" descr="gen-dedup-8899667e770767a5bd315d3e903f7341.png">
            <a:extLst>
              <a:ext uri="{FF2B5EF4-FFF2-40B4-BE49-F238E27FC236}">
                <a16:creationId xmlns:a16="http://schemas.microsoft.com/office/drawing/2014/main" id="{1EEE62DB-2F6B-8DE1-E618-9ADC8646FF3F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8011312" y="3612122"/>
            <a:ext cx="267005" cy="267005"/>
          </a:xfrm>
          <a:prstGeom prst="rect">
            <a:avLst/>
          </a:prstGeom>
        </p:spPr>
      </p:pic>
      <p:pic>
        <p:nvPicPr>
          <p:cNvPr id="326" name="Image 31" descr="gen-dedup-fc88be6a5992841be87a7ab90e991538.png">
            <a:extLst>
              <a:ext uri="{FF2B5EF4-FFF2-40B4-BE49-F238E27FC236}">
                <a16:creationId xmlns:a16="http://schemas.microsoft.com/office/drawing/2014/main" id="{8F1B9F05-FB2C-FF52-C778-392B8FD526FA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/>
        </p:blipFill>
        <p:spPr>
          <a:xfrm>
            <a:off x="8106073" y="3692590"/>
            <a:ext cx="77483" cy="105156"/>
          </a:xfrm>
          <a:prstGeom prst="rect">
            <a:avLst/>
          </a:prstGeom>
        </p:spPr>
      </p:pic>
      <p:sp>
        <p:nvSpPr>
          <p:cNvPr id="328" name="Text 41">
            <a:extLst>
              <a:ext uri="{FF2B5EF4-FFF2-40B4-BE49-F238E27FC236}">
                <a16:creationId xmlns:a16="http://schemas.microsoft.com/office/drawing/2014/main" id="{5CDA1B9B-495F-9FD1-7641-DDB1DED01828}"/>
              </a:ext>
            </a:extLst>
          </p:cNvPr>
          <p:cNvSpPr txBox="1"/>
          <p:nvPr/>
        </p:nvSpPr>
        <p:spPr>
          <a:xfrm>
            <a:off x="7758024" y="3973310"/>
            <a:ext cx="7818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Draft Rec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Text 42">
            <a:extLst>
              <a:ext uri="{FF2B5EF4-FFF2-40B4-BE49-F238E27FC236}">
                <a16:creationId xmlns:a16="http://schemas.microsoft.com/office/drawing/2014/main" id="{E20A703E-E087-8954-0F9B-41BBB6E754C1}"/>
              </a:ext>
            </a:extLst>
          </p:cNvPr>
          <p:cNvSpPr txBox="1"/>
          <p:nvPr/>
        </p:nvSpPr>
        <p:spPr>
          <a:xfrm>
            <a:off x="7758024" y="4151415"/>
            <a:ext cx="7818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LLM via Azure </a:t>
            </a:r>
          </a:p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AI Foundry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Shape 43">
            <a:extLst>
              <a:ext uri="{FF2B5EF4-FFF2-40B4-BE49-F238E27FC236}">
                <a16:creationId xmlns:a16="http://schemas.microsoft.com/office/drawing/2014/main" id="{EE3F6B7E-8E78-D593-287E-EDEB3036AA11}"/>
              </a:ext>
            </a:extLst>
          </p:cNvPr>
          <p:cNvSpPr/>
          <p:nvPr/>
        </p:nvSpPr>
        <p:spPr>
          <a:xfrm>
            <a:off x="3511550" y="4839247"/>
            <a:ext cx="5105095" cy="409651"/>
          </a:xfrm>
          <a:prstGeom prst="roundRect">
            <a:avLst>
              <a:gd name="adj" fmla="val 23214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4" name="Image 32" descr="gen-dedup-2a4860cf039a263848e7a7ad82ef13b2.png">
            <a:extLst>
              <a:ext uri="{FF2B5EF4-FFF2-40B4-BE49-F238E27FC236}">
                <a16:creationId xmlns:a16="http://schemas.microsoft.com/office/drawing/2014/main" id="{AA37F25A-16E5-2F8D-083F-9C5C06C2D34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/>
        </p:blipFill>
        <p:spPr>
          <a:xfrm>
            <a:off x="3683457" y="5001553"/>
            <a:ext cx="85954" cy="85954"/>
          </a:xfrm>
          <a:prstGeom prst="rect">
            <a:avLst/>
          </a:prstGeom>
        </p:spPr>
      </p:pic>
      <p:sp>
        <p:nvSpPr>
          <p:cNvPr id="336" name="Text 44">
            <a:extLst>
              <a:ext uri="{FF2B5EF4-FFF2-40B4-BE49-F238E27FC236}">
                <a16:creationId xmlns:a16="http://schemas.microsoft.com/office/drawing/2014/main" id="{2F7CA464-2586-01BA-8504-874036B4495C}"/>
              </a:ext>
            </a:extLst>
          </p:cNvPr>
          <p:cNvSpPr txBox="1"/>
          <p:nvPr/>
        </p:nvSpPr>
        <p:spPr>
          <a:xfrm>
            <a:off x="3845305" y="4972750"/>
            <a:ext cx="1895551" cy="2162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Security: Microsoft Entra ID</a:t>
            </a:r>
          </a:p>
          <a:p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+ RBAC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" name="Text 45">
            <a:extLst>
              <a:ext uri="{FF2B5EF4-FFF2-40B4-BE49-F238E27FC236}">
                <a16:creationId xmlns:a16="http://schemas.microsoft.com/office/drawing/2014/main" id="{6434F08D-6D0E-A907-0A7F-BA164EED2D98}"/>
              </a:ext>
            </a:extLst>
          </p:cNvPr>
          <p:cNvSpPr txBox="1"/>
          <p:nvPr/>
        </p:nvSpPr>
        <p:spPr>
          <a:xfrm>
            <a:off x="5508915" y="4972750"/>
            <a:ext cx="176845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Encryption at rest/in transit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0" name="Text 46">
            <a:extLst>
              <a:ext uri="{FF2B5EF4-FFF2-40B4-BE49-F238E27FC236}">
                <a16:creationId xmlns:a16="http://schemas.microsoft.com/office/drawing/2014/main" id="{9770EC22-80B5-EA51-77C5-AAB91AAE1C9A}"/>
              </a:ext>
            </a:extLst>
          </p:cNvPr>
          <p:cNvSpPr txBox="1"/>
          <p:nvPr/>
        </p:nvSpPr>
        <p:spPr>
          <a:xfrm>
            <a:off x="7068566" y="4972750"/>
            <a:ext cx="7690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Audit logs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Text 47">
            <a:extLst>
              <a:ext uri="{FF2B5EF4-FFF2-40B4-BE49-F238E27FC236}">
                <a16:creationId xmlns:a16="http://schemas.microsoft.com/office/drawing/2014/main" id="{AA4EF9B7-BCC7-C447-9007-159321F4EAA3}"/>
              </a:ext>
            </a:extLst>
          </p:cNvPr>
          <p:cNvSpPr txBox="1"/>
          <p:nvPr/>
        </p:nvSpPr>
        <p:spPr>
          <a:xfrm>
            <a:off x="7660183" y="4972750"/>
            <a:ext cx="96926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RBAC enabled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4" name="Image 33" descr="gen-dedup-64dad604931dd69f3ab194324ee3fd90.png">
            <a:extLst>
              <a:ext uri="{FF2B5EF4-FFF2-40B4-BE49-F238E27FC236}">
                <a16:creationId xmlns:a16="http://schemas.microsoft.com/office/drawing/2014/main" id="{8B810CDD-2541-302C-4D52-1E6B2067DD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9036355" y="1286803"/>
            <a:ext cx="2667305" cy="4190695"/>
          </a:xfrm>
          <a:prstGeom prst="rect">
            <a:avLst/>
          </a:prstGeom>
        </p:spPr>
      </p:pic>
      <p:pic>
        <p:nvPicPr>
          <p:cNvPr id="346" name="Image 34" descr="gen-dedup-0f0d75fa47667f4d113b31859149b8bf.png">
            <a:extLst>
              <a:ext uri="{FF2B5EF4-FFF2-40B4-BE49-F238E27FC236}">
                <a16:creationId xmlns:a16="http://schemas.microsoft.com/office/drawing/2014/main" id="{8FDB7C9D-923A-1A53-451E-92FC7D17471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/>
        </p:blipFill>
        <p:spPr>
          <a:xfrm>
            <a:off x="9226550" y="1549236"/>
            <a:ext cx="114300" cy="114300"/>
          </a:xfrm>
          <a:prstGeom prst="rect">
            <a:avLst/>
          </a:prstGeom>
        </p:spPr>
      </p:pic>
      <p:sp>
        <p:nvSpPr>
          <p:cNvPr id="348" name="Text 48">
            <a:extLst>
              <a:ext uri="{FF2B5EF4-FFF2-40B4-BE49-F238E27FC236}">
                <a16:creationId xmlns:a16="http://schemas.microsoft.com/office/drawing/2014/main" id="{E24D8C19-7AB9-33FA-EF94-304D055D6A4A}"/>
              </a:ext>
            </a:extLst>
          </p:cNvPr>
          <p:cNvSpPr txBox="1"/>
          <p:nvPr/>
        </p:nvSpPr>
        <p:spPr>
          <a:xfrm>
            <a:off x="9435948" y="1515403"/>
            <a:ext cx="68854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Outputs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" name="Shape 49">
            <a:extLst>
              <a:ext uri="{FF2B5EF4-FFF2-40B4-BE49-F238E27FC236}">
                <a16:creationId xmlns:a16="http://schemas.microsoft.com/office/drawing/2014/main" id="{F211B66B-0121-45C5-313C-99CB3450E1DB}"/>
              </a:ext>
            </a:extLst>
          </p:cNvPr>
          <p:cNvSpPr/>
          <p:nvPr/>
        </p:nvSpPr>
        <p:spPr>
          <a:xfrm>
            <a:off x="9226550" y="1886650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Shape 50">
            <a:extLst>
              <a:ext uri="{FF2B5EF4-FFF2-40B4-BE49-F238E27FC236}">
                <a16:creationId xmlns:a16="http://schemas.microsoft.com/office/drawing/2014/main" id="{FCC9432C-2450-2A43-131B-BD0FC3389378}"/>
              </a:ext>
            </a:extLst>
          </p:cNvPr>
          <p:cNvSpPr/>
          <p:nvPr/>
        </p:nvSpPr>
        <p:spPr>
          <a:xfrm>
            <a:off x="9226550" y="1886650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4" name="Image 35" descr="gen-dedup-be818896e6fb24162976f6523ac05c5e.png">
            <a:extLst>
              <a:ext uri="{FF2B5EF4-FFF2-40B4-BE49-F238E27FC236}">
                <a16:creationId xmlns:a16="http://schemas.microsoft.com/office/drawing/2014/main" id="{CDF0D429-1425-FB6A-3F54-D2593D42C0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416745" y="2000950"/>
            <a:ext cx="304495" cy="304495"/>
          </a:xfrm>
          <a:prstGeom prst="rect">
            <a:avLst/>
          </a:prstGeom>
        </p:spPr>
      </p:pic>
      <p:pic>
        <p:nvPicPr>
          <p:cNvPr id="356" name="Image 36" descr="gen-dedup-892aa39e7805546dc604f5d7761cc3cb.png">
            <a:extLst>
              <a:ext uri="{FF2B5EF4-FFF2-40B4-BE49-F238E27FC236}">
                <a16:creationId xmlns:a16="http://schemas.microsoft.com/office/drawing/2014/main" id="{A7C10A56-67AF-B583-3CC5-5B613FF5792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/>
        </p:blipFill>
        <p:spPr>
          <a:xfrm>
            <a:off x="9521901" y="2105648"/>
            <a:ext cx="95098" cy="95098"/>
          </a:xfrm>
          <a:prstGeom prst="rect">
            <a:avLst/>
          </a:prstGeom>
        </p:spPr>
      </p:pic>
      <p:sp>
        <p:nvSpPr>
          <p:cNvPr id="358" name="Text 51">
            <a:extLst>
              <a:ext uri="{FF2B5EF4-FFF2-40B4-BE49-F238E27FC236}">
                <a16:creationId xmlns:a16="http://schemas.microsoft.com/office/drawing/2014/main" id="{5046D98A-35B2-D51E-A346-F41342FEDCE1}"/>
              </a:ext>
            </a:extLst>
          </p:cNvPr>
          <p:cNvSpPr txBox="1"/>
          <p:nvPr/>
        </p:nvSpPr>
        <p:spPr>
          <a:xfrm>
            <a:off x="9836455" y="2005522"/>
            <a:ext cx="176204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Prepared Event Dashboard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0" name="Text 52">
            <a:extLst>
              <a:ext uri="{FF2B5EF4-FFF2-40B4-BE49-F238E27FC236}">
                <a16:creationId xmlns:a16="http://schemas.microsoft.com/office/drawing/2014/main" id="{BAD8D471-E01A-5C2A-EB37-A2B428771D2B}"/>
              </a:ext>
            </a:extLst>
          </p:cNvPr>
          <p:cNvSpPr txBox="1"/>
          <p:nvPr/>
        </p:nvSpPr>
        <p:spPr>
          <a:xfrm>
            <a:off x="9836455" y="2167370"/>
            <a:ext cx="175839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Pre-analyzed incident ready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" name="Shape 53">
            <a:extLst>
              <a:ext uri="{FF2B5EF4-FFF2-40B4-BE49-F238E27FC236}">
                <a16:creationId xmlns:a16="http://schemas.microsoft.com/office/drawing/2014/main" id="{43FBE0B3-314F-430D-A91B-FFAF33B90C32}"/>
              </a:ext>
            </a:extLst>
          </p:cNvPr>
          <p:cNvSpPr/>
          <p:nvPr/>
        </p:nvSpPr>
        <p:spPr>
          <a:xfrm>
            <a:off x="9226550" y="2534959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4" name="Shape 54">
            <a:extLst>
              <a:ext uri="{FF2B5EF4-FFF2-40B4-BE49-F238E27FC236}">
                <a16:creationId xmlns:a16="http://schemas.microsoft.com/office/drawing/2014/main" id="{8D5CC20F-2C79-CF19-AEC5-ADA167DC01F8}"/>
              </a:ext>
            </a:extLst>
          </p:cNvPr>
          <p:cNvSpPr/>
          <p:nvPr/>
        </p:nvSpPr>
        <p:spPr>
          <a:xfrm>
            <a:off x="9226550" y="2534959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6" name="Image 37" descr="gen-dedup-b26fc2c7d1873e5f66057f1b99347aee.png">
            <a:extLst>
              <a:ext uri="{FF2B5EF4-FFF2-40B4-BE49-F238E27FC236}">
                <a16:creationId xmlns:a16="http://schemas.microsoft.com/office/drawing/2014/main" id="{D1822779-E9A1-B96A-D3FD-44B0C7F07B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16745" y="2649259"/>
            <a:ext cx="304495" cy="304495"/>
          </a:xfrm>
          <a:prstGeom prst="rect">
            <a:avLst/>
          </a:prstGeom>
        </p:spPr>
      </p:pic>
      <p:pic>
        <p:nvPicPr>
          <p:cNvPr id="368" name="Image 38" descr="gen-dedup-ab186984bb5d998e3ce7dc417b93ae49.png">
            <a:extLst>
              <a:ext uri="{FF2B5EF4-FFF2-40B4-BE49-F238E27FC236}">
                <a16:creationId xmlns:a16="http://schemas.microsoft.com/office/drawing/2014/main" id="{1DDB8793-0ABA-1D5E-F2B4-8CED287EF769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/>
        </p:blipFill>
        <p:spPr>
          <a:xfrm>
            <a:off x="9521901" y="2744892"/>
            <a:ext cx="95098" cy="111400"/>
          </a:xfrm>
          <a:prstGeom prst="rect">
            <a:avLst/>
          </a:prstGeom>
        </p:spPr>
      </p:pic>
      <p:sp>
        <p:nvSpPr>
          <p:cNvPr id="370" name="Text 55">
            <a:extLst>
              <a:ext uri="{FF2B5EF4-FFF2-40B4-BE49-F238E27FC236}">
                <a16:creationId xmlns:a16="http://schemas.microsoft.com/office/drawing/2014/main" id="{E915CC8E-09E0-7EC7-2C6B-3BB9E1D617A1}"/>
              </a:ext>
            </a:extLst>
          </p:cNvPr>
          <p:cNvSpPr txBox="1"/>
          <p:nvPr/>
        </p:nvSpPr>
        <p:spPr>
          <a:xfrm>
            <a:off x="9836455" y="2653831"/>
            <a:ext cx="169164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Notification to Analyst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2" name="Text 56">
            <a:extLst>
              <a:ext uri="{FF2B5EF4-FFF2-40B4-BE49-F238E27FC236}">
                <a16:creationId xmlns:a16="http://schemas.microsoft.com/office/drawing/2014/main" id="{86FDB82E-6206-85D0-F672-48D635C1F5D3}"/>
              </a:ext>
            </a:extLst>
          </p:cNvPr>
          <p:cNvSpPr txBox="1"/>
          <p:nvPr/>
        </p:nvSpPr>
        <p:spPr>
          <a:xfrm>
            <a:off x="9836455" y="2815680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Logic Apps + Email + Teams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4" name="Shape 57">
            <a:extLst>
              <a:ext uri="{FF2B5EF4-FFF2-40B4-BE49-F238E27FC236}">
                <a16:creationId xmlns:a16="http://schemas.microsoft.com/office/drawing/2014/main" id="{F534FBB8-15A3-C4CA-4607-237674B1C637}"/>
              </a:ext>
            </a:extLst>
          </p:cNvPr>
          <p:cNvSpPr/>
          <p:nvPr/>
        </p:nvSpPr>
        <p:spPr>
          <a:xfrm>
            <a:off x="9226550" y="3182354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6" name="Shape 58">
            <a:extLst>
              <a:ext uri="{FF2B5EF4-FFF2-40B4-BE49-F238E27FC236}">
                <a16:creationId xmlns:a16="http://schemas.microsoft.com/office/drawing/2014/main" id="{03CB33A1-907B-919A-1D74-A9D58901922A}"/>
              </a:ext>
            </a:extLst>
          </p:cNvPr>
          <p:cNvSpPr/>
          <p:nvPr/>
        </p:nvSpPr>
        <p:spPr>
          <a:xfrm>
            <a:off x="9226550" y="3182354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8" name="Image 39" descr="gen-dedup-3b2e84948980196448fbc017596c33d5.png">
            <a:extLst>
              <a:ext uri="{FF2B5EF4-FFF2-40B4-BE49-F238E27FC236}">
                <a16:creationId xmlns:a16="http://schemas.microsoft.com/office/drawing/2014/main" id="{3366DDB5-A785-E461-5428-646F3F2B695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16745" y="3296654"/>
            <a:ext cx="304495" cy="304495"/>
          </a:xfrm>
          <a:prstGeom prst="rect">
            <a:avLst/>
          </a:prstGeom>
        </p:spPr>
      </p:pic>
      <p:pic>
        <p:nvPicPr>
          <p:cNvPr id="380" name="Image 40" descr="gen-dedup-dc408230497e128077e36d5c78b13b6d.png">
            <a:extLst>
              <a:ext uri="{FF2B5EF4-FFF2-40B4-BE49-F238E27FC236}">
                <a16:creationId xmlns:a16="http://schemas.microsoft.com/office/drawing/2014/main" id="{615D7C71-47A4-D87E-FBE9-DA9120CEA178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/>
        </p:blipFill>
        <p:spPr>
          <a:xfrm>
            <a:off x="9521901" y="3393202"/>
            <a:ext cx="95098" cy="111400"/>
          </a:xfrm>
          <a:prstGeom prst="rect">
            <a:avLst/>
          </a:prstGeom>
        </p:spPr>
      </p:pic>
      <p:sp>
        <p:nvSpPr>
          <p:cNvPr id="382" name="Text 59">
            <a:extLst>
              <a:ext uri="{FF2B5EF4-FFF2-40B4-BE49-F238E27FC236}">
                <a16:creationId xmlns:a16="http://schemas.microsoft.com/office/drawing/2014/main" id="{EE6A4528-0CFC-039C-DE28-2FE51D80F336}"/>
              </a:ext>
            </a:extLst>
          </p:cNvPr>
          <p:cNvSpPr txBox="1"/>
          <p:nvPr/>
        </p:nvSpPr>
        <p:spPr>
          <a:xfrm>
            <a:off x="9836455" y="3301226"/>
            <a:ext cx="162031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Populated Memory Store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4" name="Text 60">
            <a:extLst>
              <a:ext uri="{FF2B5EF4-FFF2-40B4-BE49-F238E27FC236}">
                <a16:creationId xmlns:a16="http://schemas.microsoft.com/office/drawing/2014/main" id="{60BD21D3-3B0B-D2E0-7F01-964EF48164AA}"/>
              </a:ext>
            </a:extLst>
          </p:cNvPr>
          <p:cNvSpPr txBox="1"/>
          <p:nvPr/>
        </p:nvSpPr>
        <p:spPr>
          <a:xfrm>
            <a:off x="9836455" y="3463075"/>
            <a:ext cx="163311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+ decision tracking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3D7BAD-DF09-9ABB-1B66-BF85669BCABB}"/>
              </a:ext>
            </a:extLst>
          </p:cNvPr>
          <p:cNvSpPr/>
          <p:nvPr/>
        </p:nvSpPr>
        <p:spPr>
          <a:xfrm>
            <a:off x="502920" y="5760720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3B147-7B4B-8A50-DF11-F4DB62E5C5A8}"/>
              </a:ext>
            </a:extLst>
          </p:cNvPr>
          <p:cNvSpPr txBox="1"/>
          <p:nvPr/>
        </p:nvSpPr>
        <p:spPr>
          <a:xfrm>
            <a:off x="502920" y="5842570"/>
            <a:ext cx="11155680" cy="220347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⚡   The agent </a:t>
            </a:r>
            <a:r>
              <a:rPr lang="en-US" sz="1150" b="1" i="0">
                <a:solidFill>
                  <a:srgbClr val="FFFFFF"/>
                </a:solidFill>
                <a:latin typeface="Arial"/>
              </a:rPr>
              <a:t>monitors emails and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kicks off from the </a:t>
            </a:r>
            <a:r>
              <a:rPr lang="en-US" sz="1150" b="1" i="0">
                <a:solidFill>
                  <a:srgbClr val="FFFFFF"/>
                </a:solidFill>
                <a:latin typeface="Arial"/>
              </a:rPr>
              <a:t>SafetyNet Signals</a:t>
            </a:r>
            <a:r>
              <a:rPr sz="1150" b="1" i="0">
                <a:solidFill>
                  <a:srgbClr val="FFFFFF"/>
                </a:solidFill>
                <a:latin typeface="Arial"/>
              </a:rPr>
              <a:t> and does the data pull</a:t>
            </a:r>
            <a:r>
              <a:rPr lang="en-US" sz="1150" b="1" i="0">
                <a:solidFill>
                  <a:srgbClr val="FFFFFF"/>
                </a:solidFill>
                <a:latin typeface="Arial"/>
              </a:rPr>
              <a:t> from DB/</a:t>
            </a:r>
            <a:r>
              <a:rPr lang="en-US" sz="1150" b="1" i="0" err="1">
                <a:solidFill>
                  <a:srgbClr val="FFFFFF"/>
                </a:solidFill>
                <a:latin typeface="Arial"/>
              </a:rPr>
              <a:t>Datalake</a:t>
            </a:r>
            <a:endParaRPr sz="115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D5F984-987C-8E1C-7E44-5C5063D55096}"/>
              </a:ext>
            </a:extLst>
          </p:cNvPr>
          <p:cNvSpPr txBox="1"/>
          <p:nvPr/>
        </p:nvSpPr>
        <p:spPr>
          <a:xfrm>
            <a:off x="456999" y="6245035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999554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199" y="355600"/>
            <a:ext cx="840710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AWS Architecture for POC (illustrative AWS stack)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727761"/>
            <a:ext cx="6039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Complete Azure service architecture for TRT Analysis &amp; Operational Copilot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457200" y="1361541"/>
            <a:ext cx="2164385" cy="454365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905" y="1552651"/>
            <a:ext cx="342900" cy="3429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24205" y="1666951"/>
            <a:ext cx="114300" cy="1143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47902" y="1637690"/>
            <a:ext cx="13139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TRT Signal Detection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609905" y="2200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609905" y="2200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2419502"/>
            <a:ext cx="228600" cy="22860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14730" y="2483856"/>
            <a:ext cx="85954" cy="98977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067105" y="2394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Amazon S3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8"/>
          <p:cNvSpPr txBox="1"/>
          <p:nvPr/>
        </p:nvSpPr>
        <p:spPr>
          <a:xfrm>
            <a:off x="1067105" y="2557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TRT Excel storage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09905" y="296174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09905" y="296174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3181197"/>
            <a:ext cx="228600" cy="22860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814730" y="3260293"/>
            <a:ext cx="85954" cy="69494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067105" y="315742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Bridge &amp; Lambda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2"/>
          <p:cNvSpPr txBox="1"/>
          <p:nvPr/>
        </p:nvSpPr>
        <p:spPr>
          <a:xfrm>
            <a:off x="1058875" y="3350361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Signal routing and Agent activation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09905" y="372435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609905" y="372435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3942893"/>
            <a:ext cx="228600" cy="228600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15596" y="4000500"/>
            <a:ext cx="84221" cy="1143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1067105" y="3919118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Glue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6"/>
          <p:cNvSpPr txBox="1"/>
          <p:nvPr/>
        </p:nvSpPr>
        <p:spPr>
          <a:xfrm>
            <a:off x="1067105" y="408096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extraction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609905" y="4486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609905" y="4486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4705502"/>
            <a:ext cx="228600" cy="228600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814730" y="4776368"/>
            <a:ext cx="85954" cy="85954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1067105" y="4680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Validation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0"/>
          <p:cNvSpPr txBox="1"/>
          <p:nvPr/>
        </p:nvSpPr>
        <p:spPr>
          <a:xfrm>
            <a:off x="1067105" y="4843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Schema parsing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609905" y="5295290"/>
            <a:ext cx="1867205" cy="418795"/>
          </a:xfrm>
          <a:prstGeom prst="roundRect">
            <a:avLst>
              <a:gd name="adj" fmla="val 59547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22"/>
          <p:cNvSpPr txBox="1"/>
          <p:nvPr/>
        </p:nvSpPr>
        <p:spPr>
          <a:xfrm>
            <a:off x="705002" y="537210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23"/>
          <p:cNvSpPr txBox="1"/>
          <p:nvPr/>
        </p:nvSpPr>
        <p:spPr>
          <a:xfrm>
            <a:off x="705002" y="5523890"/>
            <a:ext cx="1602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Upload → S3 → Lambda → Glue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2735885" y="1361541"/>
            <a:ext cx="2164385" cy="4543654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288767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887675" y="1552651"/>
            <a:ext cx="342900" cy="342900"/>
          </a:xfrm>
          <a:prstGeom prst="rect">
            <a:avLst/>
          </a:prstGeom>
        </p:spPr>
      </p:pic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3001975" y="1678744"/>
            <a:ext cx="114300" cy="90714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3325673" y="1637690"/>
            <a:ext cx="1038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ETL &amp; Query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26"/>
          <p:cNvSpPr/>
          <p:nvPr/>
        </p:nvSpPr>
        <p:spPr>
          <a:xfrm>
            <a:off x="2887675" y="22000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2887675" y="22000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2437790"/>
            <a:ext cx="228600" cy="228600"/>
          </a:xfrm>
          <a:prstGeom prst="rect">
            <a:avLst/>
          </a:prstGeom>
        </p:spPr>
      </p:pic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3092501" y="2509570"/>
            <a:ext cx="85954" cy="85954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3344875" y="24140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Amazon Athena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29"/>
          <p:cNvSpPr txBox="1"/>
          <p:nvPr/>
        </p:nvSpPr>
        <p:spPr>
          <a:xfrm>
            <a:off x="3337560" y="260158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Query uploaded data, transaction stores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30"/>
          <p:cNvSpPr/>
          <p:nvPr/>
        </p:nvSpPr>
        <p:spPr>
          <a:xfrm>
            <a:off x="2887675" y="30001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31"/>
          <p:cNvSpPr/>
          <p:nvPr/>
        </p:nvSpPr>
        <p:spPr>
          <a:xfrm>
            <a:off x="2887675" y="30001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3237890"/>
            <a:ext cx="228600" cy="228600"/>
          </a:xfrm>
          <a:prstGeom prst="rect">
            <a:avLst/>
          </a:prstGeom>
        </p:spPr>
      </p:pic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3092501" y="3309670"/>
            <a:ext cx="85954" cy="85954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3344875" y="32141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DynamoDB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33"/>
          <p:cNvSpPr txBox="1"/>
          <p:nvPr/>
        </p:nvSpPr>
        <p:spPr>
          <a:xfrm>
            <a:off x="3344875" y="33759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metadata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34"/>
          <p:cNvSpPr/>
          <p:nvPr/>
        </p:nvSpPr>
        <p:spPr>
          <a:xfrm>
            <a:off x="2887675" y="38002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35"/>
          <p:cNvSpPr/>
          <p:nvPr/>
        </p:nvSpPr>
        <p:spPr>
          <a:xfrm>
            <a:off x="2887675" y="38002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Image 1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4037990"/>
            <a:ext cx="228600" cy="228600"/>
          </a:xfrm>
          <a:prstGeom prst="rect">
            <a:avLst/>
          </a:prstGeom>
        </p:spPr>
      </p:pic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3092501" y="4109770"/>
            <a:ext cx="85954" cy="85954"/>
          </a:xfrm>
          <a:prstGeom prst="rect">
            <a:avLst/>
          </a:prstGeom>
        </p:spPr>
      </p:pic>
      <p:sp>
        <p:nvSpPr>
          <p:cNvPr id="59" name="Text 36"/>
          <p:cNvSpPr txBox="1"/>
          <p:nvPr/>
        </p:nvSpPr>
        <p:spPr>
          <a:xfrm>
            <a:off x="3344875" y="40142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 Glue ETL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37"/>
          <p:cNvSpPr txBox="1"/>
          <p:nvPr/>
        </p:nvSpPr>
        <p:spPr>
          <a:xfrm>
            <a:off x="3344875" y="41760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Transform data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38"/>
          <p:cNvSpPr/>
          <p:nvPr/>
        </p:nvSpPr>
        <p:spPr>
          <a:xfrm>
            <a:off x="2887675" y="46003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39"/>
          <p:cNvSpPr/>
          <p:nvPr/>
        </p:nvSpPr>
        <p:spPr>
          <a:xfrm>
            <a:off x="2887675" y="46003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Image 2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4838090"/>
            <a:ext cx="228600" cy="228600"/>
          </a:xfrm>
          <a:prstGeom prst="rect">
            <a:avLst/>
          </a:prstGeom>
        </p:spPr>
      </p:pic>
      <p:pic>
        <p:nvPicPr>
          <p:cNvPr id="64" name="Image 22" descr="preencoded.png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3092501" y="4909870"/>
            <a:ext cx="85954" cy="85954"/>
          </a:xfrm>
          <a:prstGeom prst="rect">
            <a:avLst/>
          </a:prstGeom>
        </p:spPr>
      </p:pic>
      <p:sp>
        <p:nvSpPr>
          <p:cNvPr id="65" name="Text 40"/>
          <p:cNvSpPr txBox="1"/>
          <p:nvPr/>
        </p:nvSpPr>
        <p:spPr>
          <a:xfrm>
            <a:off x="3344875" y="48143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Pipeline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41"/>
          <p:cNvSpPr txBox="1"/>
          <p:nvPr/>
        </p:nvSpPr>
        <p:spPr>
          <a:xfrm>
            <a:off x="3344875" y="49761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Orchestration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42"/>
          <p:cNvSpPr/>
          <p:nvPr/>
        </p:nvSpPr>
        <p:spPr>
          <a:xfrm>
            <a:off x="2887675" y="5447995"/>
            <a:ext cx="1867205" cy="267005"/>
          </a:xfrm>
          <a:prstGeom prst="roundRect">
            <a:avLst>
              <a:gd name="adj" fmla="val 146771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43"/>
          <p:cNvSpPr txBox="1"/>
          <p:nvPr/>
        </p:nvSpPr>
        <p:spPr>
          <a:xfrm>
            <a:off x="2982773" y="552389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44"/>
          <p:cNvSpPr txBox="1"/>
          <p:nvPr/>
        </p:nvSpPr>
        <p:spPr>
          <a:xfrm>
            <a:off x="3272638" y="5523890"/>
            <a:ext cx="142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Glue → Athena → DynamoDB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" name="Image 23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5013655" y="1361541"/>
            <a:ext cx="2164385" cy="4543654"/>
          </a:xfrm>
          <a:prstGeom prst="rect">
            <a:avLst/>
          </a:prstGeom>
        </p:spPr>
      </p:pic>
      <p:sp>
        <p:nvSpPr>
          <p:cNvPr id="71" name="Shape 45"/>
          <p:cNvSpPr/>
          <p:nvPr/>
        </p:nvSpPr>
        <p:spPr>
          <a:xfrm>
            <a:off x="5166360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2" name="Image 24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166360" y="1552651"/>
            <a:ext cx="342900" cy="342900"/>
          </a:xfrm>
          <a:prstGeom prst="rect">
            <a:avLst/>
          </a:prstGeom>
        </p:spPr>
      </p:pic>
      <p:pic>
        <p:nvPicPr>
          <p:cNvPr id="73" name="Image 25" descr="preencoded.png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5280660" y="1678744"/>
            <a:ext cx="114300" cy="90714"/>
          </a:xfrm>
          <a:prstGeom prst="rect">
            <a:avLst/>
          </a:prstGeom>
        </p:spPr>
      </p:pic>
      <p:sp>
        <p:nvSpPr>
          <p:cNvPr id="74" name="Text 46"/>
          <p:cNvSpPr txBox="1"/>
          <p:nvPr/>
        </p:nvSpPr>
        <p:spPr>
          <a:xfrm>
            <a:off x="5604358" y="1637690"/>
            <a:ext cx="9372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Agentic AI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47"/>
          <p:cNvSpPr/>
          <p:nvPr/>
        </p:nvSpPr>
        <p:spPr>
          <a:xfrm>
            <a:off x="5166360" y="2200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48"/>
          <p:cNvSpPr/>
          <p:nvPr/>
        </p:nvSpPr>
        <p:spPr>
          <a:xfrm>
            <a:off x="5166360" y="2200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Image 2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2419502"/>
            <a:ext cx="228600" cy="228600"/>
          </a:xfrm>
          <a:prstGeom prst="rect">
            <a:avLst/>
          </a:prstGeom>
        </p:spPr>
      </p:pic>
      <p:pic>
        <p:nvPicPr>
          <p:cNvPr id="78" name="Image 27" descr="preencoded.png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5371186" y="2490368"/>
            <a:ext cx="85954" cy="85954"/>
          </a:xfrm>
          <a:prstGeom prst="rect">
            <a:avLst/>
          </a:prstGeom>
        </p:spPr>
      </p:pic>
      <p:sp>
        <p:nvSpPr>
          <p:cNvPr id="79" name="Text 49"/>
          <p:cNvSpPr txBox="1"/>
          <p:nvPr/>
        </p:nvSpPr>
        <p:spPr>
          <a:xfrm>
            <a:off x="5623560" y="2394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Bedrock </a:t>
            </a:r>
            <a:r>
              <a:rPr lang="en-US" sz="900" b="1" err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AgentCore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50"/>
          <p:cNvSpPr txBox="1"/>
          <p:nvPr/>
        </p:nvSpPr>
        <p:spPr>
          <a:xfrm>
            <a:off x="5623560" y="2557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Orchestration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51"/>
          <p:cNvSpPr/>
          <p:nvPr/>
        </p:nvSpPr>
        <p:spPr>
          <a:xfrm>
            <a:off x="5166360" y="296174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52"/>
          <p:cNvSpPr/>
          <p:nvPr/>
        </p:nvSpPr>
        <p:spPr>
          <a:xfrm>
            <a:off x="5166360" y="296174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" name="Image 2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3181197"/>
            <a:ext cx="228600" cy="228600"/>
          </a:xfrm>
          <a:prstGeom prst="rect">
            <a:avLst/>
          </a:prstGeom>
        </p:spPr>
      </p:pic>
      <p:pic>
        <p:nvPicPr>
          <p:cNvPr id="84" name="Image 29" descr="preencoded.png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5372052" y="3237890"/>
            <a:ext cx="84221" cy="114300"/>
          </a:xfrm>
          <a:prstGeom prst="rect">
            <a:avLst/>
          </a:prstGeom>
        </p:spPr>
      </p:pic>
      <p:sp>
        <p:nvSpPr>
          <p:cNvPr id="85" name="Text 53"/>
          <p:cNvSpPr txBox="1"/>
          <p:nvPr/>
        </p:nvSpPr>
        <p:spPr>
          <a:xfrm>
            <a:off x="5623560" y="315742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Bedrock FMs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 54"/>
          <p:cNvSpPr txBox="1"/>
          <p:nvPr/>
        </p:nvSpPr>
        <p:spPr>
          <a:xfrm>
            <a:off x="5623560" y="3319272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Analysis &amp; recs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Shape 55"/>
          <p:cNvSpPr/>
          <p:nvPr/>
        </p:nvSpPr>
        <p:spPr>
          <a:xfrm>
            <a:off x="5166360" y="372435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56"/>
          <p:cNvSpPr/>
          <p:nvPr/>
        </p:nvSpPr>
        <p:spPr>
          <a:xfrm>
            <a:off x="5166360" y="372435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9" name="Image 3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3942893"/>
            <a:ext cx="228600" cy="228600"/>
          </a:xfrm>
          <a:prstGeom prst="rect">
            <a:avLst/>
          </a:prstGeom>
        </p:spPr>
      </p:pic>
      <p:pic>
        <p:nvPicPr>
          <p:cNvPr id="90" name="Image 31" descr="preencoded.png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5371186" y="4014673"/>
            <a:ext cx="85954" cy="85954"/>
          </a:xfrm>
          <a:prstGeom prst="rect">
            <a:avLst/>
          </a:prstGeom>
        </p:spPr>
      </p:pic>
      <p:sp>
        <p:nvSpPr>
          <p:cNvPr id="91" name="Text 57"/>
          <p:cNvSpPr txBox="1"/>
          <p:nvPr/>
        </p:nvSpPr>
        <p:spPr>
          <a:xfrm>
            <a:off x="5623560" y="3919118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OpenSearch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 58"/>
          <p:cNvSpPr txBox="1"/>
          <p:nvPr/>
        </p:nvSpPr>
        <p:spPr>
          <a:xfrm>
            <a:off x="5623560" y="408096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Vector search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59"/>
          <p:cNvSpPr/>
          <p:nvPr/>
        </p:nvSpPr>
        <p:spPr>
          <a:xfrm>
            <a:off x="5166360" y="4486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60"/>
          <p:cNvSpPr/>
          <p:nvPr/>
        </p:nvSpPr>
        <p:spPr>
          <a:xfrm>
            <a:off x="5166360" y="4486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5" name="Image 3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4705502"/>
            <a:ext cx="228600" cy="228600"/>
          </a:xfrm>
          <a:prstGeom prst="rect">
            <a:avLst/>
          </a:prstGeom>
        </p:spPr>
      </p:pic>
      <p:pic>
        <p:nvPicPr>
          <p:cNvPr id="96" name="Image 33" descr="preencoded.png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5371186" y="4780461"/>
            <a:ext cx="85954" cy="77767"/>
          </a:xfrm>
          <a:prstGeom prst="rect">
            <a:avLst/>
          </a:prstGeom>
        </p:spPr>
      </p:pic>
      <p:sp>
        <p:nvSpPr>
          <p:cNvPr id="97" name="Text 61"/>
          <p:cNvSpPr txBox="1"/>
          <p:nvPr/>
        </p:nvSpPr>
        <p:spPr>
          <a:xfrm>
            <a:off x="5623560" y="4680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Knowledge Base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62"/>
          <p:cNvSpPr txBox="1"/>
          <p:nvPr/>
        </p:nvSpPr>
        <p:spPr>
          <a:xfrm>
            <a:off x="5623560" y="4843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Memory store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63"/>
          <p:cNvSpPr/>
          <p:nvPr/>
        </p:nvSpPr>
        <p:spPr>
          <a:xfrm>
            <a:off x="5166360" y="5295290"/>
            <a:ext cx="1867205" cy="418795"/>
          </a:xfrm>
          <a:prstGeom prst="roundRect">
            <a:avLst>
              <a:gd name="adj" fmla="val 59547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64"/>
          <p:cNvSpPr txBox="1"/>
          <p:nvPr/>
        </p:nvSpPr>
        <p:spPr>
          <a:xfrm>
            <a:off x="5261458" y="537210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65"/>
          <p:cNvSpPr txBox="1"/>
          <p:nvPr/>
        </p:nvSpPr>
        <p:spPr>
          <a:xfrm>
            <a:off x="5261458" y="5523890"/>
            <a:ext cx="166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Bedrock → OpenSearch → Agent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" name="Image 34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7292340" y="1361541"/>
            <a:ext cx="2164385" cy="4543654"/>
          </a:xfrm>
          <a:prstGeom prst="rect">
            <a:avLst/>
          </a:prstGeom>
        </p:spPr>
      </p:pic>
      <p:sp>
        <p:nvSpPr>
          <p:cNvPr id="103" name="Shape 66"/>
          <p:cNvSpPr/>
          <p:nvPr/>
        </p:nvSpPr>
        <p:spPr>
          <a:xfrm>
            <a:off x="744504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" name="Image 35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7445045" y="1552651"/>
            <a:ext cx="342900" cy="342900"/>
          </a:xfrm>
          <a:prstGeom prst="rect">
            <a:avLst/>
          </a:prstGeom>
        </p:spPr>
      </p:pic>
      <p:pic>
        <p:nvPicPr>
          <p:cNvPr id="105" name="Image 36" descr="preencoded.png"/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7559345" y="1673075"/>
            <a:ext cx="114300" cy="102053"/>
          </a:xfrm>
          <a:prstGeom prst="rect">
            <a:avLst/>
          </a:prstGeom>
        </p:spPr>
      </p:pic>
      <p:sp>
        <p:nvSpPr>
          <p:cNvPr id="106" name="Text 67"/>
          <p:cNvSpPr txBox="1"/>
          <p:nvPr/>
        </p:nvSpPr>
        <p:spPr>
          <a:xfrm>
            <a:off x="7883042" y="1637690"/>
            <a:ext cx="15032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Experience Layer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68"/>
          <p:cNvSpPr/>
          <p:nvPr/>
        </p:nvSpPr>
        <p:spPr>
          <a:xfrm>
            <a:off x="7445045" y="22000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69"/>
          <p:cNvSpPr/>
          <p:nvPr/>
        </p:nvSpPr>
        <p:spPr>
          <a:xfrm>
            <a:off x="7445045" y="22000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9" name="Image 3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2437790"/>
            <a:ext cx="228600" cy="228600"/>
          </a:xfrm>
          <a:prstGeom prst="rect">
            <a:avLst/>
          </a:prstGeom>
        </p:spPr>
      </p:pic>
      <p:pic>
        <p:nvPicPr>
          <p:cNvPr id="110" name="Image 38" descr="preencoded.png"/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7649870" y="2509570"/>
            <a:ext cx="85954" cy="85954"/>
          </a:xfrm>
          <a:prstGeom prst="rect">
            <a:avLst/>
          </a:prstGeom>
        </p:spPr>
      </p:pic>
      <p:sp>
        <p:nvSpPr>
          <p:cNvPr id="111" name="Text 70"/>
          <p:cNvSpPr txBox="1"/>
          <p:nvPr/>
        </p:nvSpPr>
        <p:spPr>
          <a:xfrm>
            <a:off x="7902245" y="24140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ECS Fargate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 71"/>
          <p:cNvSpPr txBox="1"/>
          <p:nvPr/>
        </p:nvSpPr>
        <p:spPr>
          <a:xfrm>
            <a:off x="7902245" y="25758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UI/backend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Shape 72"/>
          <p:cNvSpPr/>
          <p:nvPr/>
        </p:nvSpPr>
        <p:spPr>
          <a:xfrm>
            <a:off x="7445045" y="30001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Shape 73"/>
          <p:cNvSpPr/>
          <p:nvPr/>
        </p:nvSpPr>
        <p:spPr>
          <a:xfrm>
            <a:off x="7445045" y="30001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5" name="Image 3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3237890"/>
            <a:ext cx="228600" cy="228600"/>
          </a:xfrm>
          <a:prstGeom prst="rect">
            <a:avLst/>
          </a:prstGeom>
        </p:spPr>
      </p:pic>
      <p:pic>
        <p:nvPicPr>
          <p:cNvPr id="116" name="Image 40" descr="preencoded.png"/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7649870" y="3317900"/>
            <a:ext cx="85954" cy="69494"/>
          </a:xfrm>
          <a:prstGeom prst="rect">
            <a:avLst/>
          </a:prstGeom>
        </p:spPr>
      </p:pic>
      <p:sp>
        <p:nvSpPr>
          <p:cNvPr id="117" name="Text 74"/>
          <p:cNvSpPr txBox="1"/>
          <p:nvPr/>
        </p:nvSpPr>
        <p:spPr>
          <a:xfrm>
            <a:off x="7902245" y="32141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Cognito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75"/>
          <p:cNvSpPr txBox="1"/>
          <p:nvPr/>
        </p:nvSpPr>
        <p:spPr>
          <a:xfrm>
            <a:off x="7902245" y="33759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Authentication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Shape 76"/>
          <p:cNvSpPr/>
          <p:nvPr/>
        </p:nvSpPr>
        <p:spPr>
          <a:xfrm>
            <a:off x="7445045" y="38002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Shape 77"/>
          <p:cNvSpPr/>
          <p:nvPr/>
        </p:nvSpPr>
        <p:spPr>
          <a:xfrm>
            <a:off x="7445045" y="38002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1" name="Image 4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4037990"/>
            <a:ext cx="228600" cy="228600"/>
          </a:xfrm>
          <a:prstGeom prst="rect">
            <a:avLst/>
          </a:prstGeom>
        </p:spPr>
      </p:pic>
      <p:pic>
        <p:nvPicPr>
          <p:cNvPr id="122" name="Image 42" descr="preencoded.png"/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7649870" y="4118000"/>
            <a:ext cx="85954" cy="69494"/>
          </a:xfrm>
          <a:prstGeom prst="rect">
            <a:avLst/>
          </a:prstGeom>
        </p:spPr>
      </p:pic>
      <p:sp>
        <p:nvSpPr>
          <p:cNvPr id="123" name="Text 78"/>
          <p:cNvSpPr txBox="1"/>
          <p:nvPr/>
        </p:nvSpPr>
        <p:spPr>
          <a:xfrm>
            <a:off x="7902245" y="40142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Co-Pilot UI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Text 79"/>
          <p:cNvSpPr txBox="1"/>
          <p:nvPr/>
        </p:nvSpPr>
        <p:spPr>
          <a:xfrm>
            <a:off x="7902245" y="41760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Chat interface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Shape 80"/>
          <p:cNvSpPr/>
          <p:nvPr/>
        </p:nvSpPr>
        <p:spPr>
          <a:xfrm>
            <a:off x="7445045" y="46003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Shape 81"/>
          <p:cNvSpPr/>
          <p:nvPr/>
        </p:nvSpPr>
        <p:spPr>
          <a:xfrm>
            <a:off x="7445045" y="46003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7" name="Image 4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4838090"/>
            <a:ext cx="228600" cy="228600"/>
          </a:xfrm>
          <a:prstGeom prst="rect">
            <a:avLst/>
          </a:prstGeom>
        </p:spPr>
      </p:pic>
      <p:pic>
        <p:nvPicPr>
          <p:cNvPr id="128" name="Image 44" descr="preencoded.png"/>
          <p:cNvPicPr>
            <a:picLocks noChangeAspect="1"/>
          </p:cNvPicPr>
          <p:nvPr/>
        </p:nvPicPr>
        <p:blipFill>
          <a:blip r:embed="rId29"/>
          <a:stretch/>
        </p:blipFill>
        <p:spPr>
          <a:xfrm>
            <a:off x="7649870" y="4913963"/>
            <a:ext cx="85954" cy="77767"/>
          </a:xfrm>
          <a:prstGeom prst="rect">
            <a:avLst/>
          </a:prstGeom>
        </p:spPr>
      </p:pic>
      <p:sp>
        <p:nvSpPr>
          <p:cNvPr id="129" name="Text 82"/>
          <p:cNvSpPr txBox="1"/>
          <p:nvPr/>
        </p:nvSpPr>
        <p:spPr>
          <a:xfrm>
            <a:off x="7902245" y="48143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Dashboard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 83"/>
          <p:cNvSpPr txBox="1"/>
          <p:nvPr/>
        </p:nvSpPr>
        <p:spPr>
          <a:xfrm>
            <a:off x="7902245" y="49761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Visualization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Shape 84"/>
          <p:cNvSpPr/>
          <p:nvPr/>
        </p:nvSpPr>
        <p:spPr>
          <a:xfrm>
            <a:off x="7445045" y="5447995"/>
            <a:ext cx="1867205" cy="267005"/>
          </a:xfrm>
          <a:prstGeom prst="roundRect">
            <a:avLst>
              <a:gd name="adj" fmla="val 146771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 85"/>
          <p:cNvSpPr txBox="1"/>
          <p:nvPr/>
        </p:nvSpPr>
        <p:spPr>
          <a:xfrm>
            <a:off x="7540142" y="552389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 86"/>
          <p:cNvSpPr txBox="1"/>
          <p:nvPr/>
        </p:nvSpPr>
        <p:spPr>
          <a:xfrm>
            <a:off x="7830007" y="5523890"/>
            <a:ext cx="15873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ECS → Cognito → Co-Pilot UI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4" name="Image 45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9571025" y="1361541"/>
            <a:ext cx="2164385" cy="4543654"/>
          </a:xfrm>
          <a:prstGeom prst="rect">
            <a:avLst/>
          </a:prstGeom>
        </p:spPr>
      </p:pic>
      <p:sp>
        <p:nvSpPr>
          <p:cNvPr id="135" name="Shape 87"/>
          <p:cNvSpPr/>
          <p:nvPr/>
        </p:nvSpPr>
        <p:spPr>
          <a:xfrm>
            <a:off x="972281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6" name="Image 46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9722815" y="1552651"/>
            <a:ext cx="342900" cy="342900"/>
          </a:xfrm>
          <a:prstGeom prst="rect">
            <a:avLst/>
          </a:prstGeom>
        </p:spPr>
      </p:pic>
      <p:pic>
        <p:nvPicPr>
          <p:cNvPr id="137" name="Image 47" descr="preencoded.png"/>
          <p:cNvPicPr>
            <a:picLocks noChangeAspect="1"/>
          </p:cNvPicPr>
          <p:nvPr/>
        </p:nvPicPr>
        <p:blipFill>
          <a:blip r:embed="rId31"/>
          <a:stretch/>
        </p:blipFill>
        <p:spPr>
          <a:xfrm>
            <a:off x="9837115" y="1673075"/>
            <a:ext cx="114300" cy="102053"/>
          </a:xfrm>
          <a:prstGeom prst="rect">
            <a:avLst/>
          </a:prstGeom>
        </p:spPr>
      </p:pic>
      <p:sp>
        <p:nvSpPr>
          <p:cNvPr id="138" name="Text 88"/>
          <p:cNvSpPr txBox="1"/>
          <p:nvPr/>
        </p:nvSpPr>
        <p:spPr>
          <a:xfrm>
            <a:off x="10160813" y="1637690"/>
            <a:ext cx="12207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Orchestration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Shape 89"/>
          <p:cNvSpPr/>
          <p:nvPr/>
        </p:nvSpPr>
        <p:spPr>
          <a:xfrm>
            <a:off x="9722815" y="2200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Shape 90"/>
          <p:cNvSpPr/>
          <p:nvPr/>
        </p:nvSpPr>
        <p:spPr>
          <a:xfrm>
            <a:off x="9722815" y="2200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1" name="Image 4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2419502"/>
            <a:ext cx="228600" cy="228600"/>
          </a:xfrm>
          <a:prstGeom prst="rect">
            <a:avLst/>
          </a:prstGeom>
        </p:spPr>
      </p:pic>
      <p:pic>
        <p:nvPicPr>
          <p:cNvPr id="142" name="Image 49" descr="preencoded.png"/>
          <p:cNvPicPr>
            <a:picLocks noChangeAspect="1"/>
          </p:cNvPicPr>
          <p:nvPr/>
        </p:nvPicPr>
        <p:blipFill>
          <a:blip r:embed="rId32"/>
          <a:stretch/>
        </p:blipFill>
        <p:spPr>
          <a:xfrm>
            <a:off x="9927641" y="2494461"/>
            <a:ext cx="85954" cy="77767"/>
          </a:xfrm>
          <a:prstGeom prst="rect">
            <a:avLst/>
          </a:prstGeom>
        </p:spPr>
      </p:pic>
      <p:sp>
        <p:nvSpPr>
          <p:cNvPr id="143" name="Text 91"/>
          <p:cNvSpPr txBox="1"/>
          <p:nvPr/>
        </p:nvSpPr>
        <p:spPr>
          <a:xfrm>
            <a:off x="10180015" y="2394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Functions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Text 92"/>
          <p:cNvSpPr txBox="1"/>
          <p:nvPr/>
        </p:nvSpPr>
        <p:spPr>
          <a:xfrm>
            <a:off x="10180015" y="2557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Workflow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Shape 93"/>
          <p:cNvSpPr/>
          <p:nvPr/>
        </p:nvSpPr>
        <p:spPr>
          <a:xfrm>
            <a:off x="9722815" y="296174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Shape 94"/>
          <p:cNvSpPr/>
          <p:nvPr/>
        </p:nvSpPr>
        <p:spPr>
          <a:xfrm>
            <a:off x="9722815" y="296174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7" name="Image 5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3181197"/>
            <a:ext cx="228600" cy="228600"/>
          </a:xfrm>
          <a:prstGeom prst="rect">
            <a:avLst/>
          </a:prstGeom>
        </p:spPr>
      </p:pic>
      <p:pic>
        <p:nvPicPr>
          <p:cNvPr id="148" name="Image 51" descr="preencoded.png"/>
          <p:cNvPicPr>
            <a:picLocks noChangeAspect="1"/>
          </p:cNvPicPr>
          <p:nvPr/>
        </p:nvPicPr>
        <p:blipFill>
          <a:blip r:embed="rId33"/>
          <a:stretch/>
        </p:blipFill>
        <p:spPr>
          <a:xfrm>
            <a:off x="9927641" y="3252063"/>
            <a:ext cx="85954" cy="85954"/>
          </a:xfrm>
          <a:prstGeom prst="rect">
            <a:avLst/>
          </a:prstGeom>
        </p:spPr>
      </p:pic>
      <p:sp>
        <p:nvSpPr>
          <p:cNvPr id="149" name="Text 95"/>
          <p:cNvSpPr txBox="1"/>
          <p:nvPr/>
        </p:nvSpPr>
        <p:spPr>
          <a:xfrm>
            <a:off x="10180015" y="315742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Text 96"/>
          <p:cNvSpPr txBox="1"/>
          <p:nvPr/>
        </p:nvSpPr>
        <p:spPr>
          <a:xfrm>
            <a:off x="10180015" y="3319272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Email/Export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Shape 97"/>
          <p:cNvSpPr/>
          <p:nvPr/>
        </p:nvSpPr>
        <p:spPr>
          <a:xfrm>
            <a:off x="9722815" y="372435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Shape 98"/>
          <p:cNvSpPr/>
          <p:nvPr/>
        </p:nvSpPr>
        <p:spPr>
          <a:xfrm>
            <a:off x="9722815" y="372435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" name="Image 5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3942893"/>
            <a:ext cx="228600" cy="228600"/>
          </a:xfrm>
          <a:prstGeom prst="rect">
            <a:avLst/>
          </a:prstGeom>
        </p:spPr>
      </p:pic>
      <p:pic>
        <p:nvPicPr>
          <p:cNvPr id="154" name="Image 53" descr="preencoded.png"/>
          <p:cNvPicPr>
            <a:picLocks noChangeAspect="1"/>
          </p:cNvPicPr>
          <p:nvPr/>
        </p:nvPicPr>
        <p:blipFill>
          <a:blip r:embed="rId34"/>
          <a:stretch/>
        </p:blipFill>
        <p:spPr>
          <a:xfrm>
            <a:off x="9927641" y="4008161"/>
            <a:ext cx="85954" cy="98977"/>
          </a:xfrm>
          <a:prstGeom prst="rect">
            <a:avLst/>
          </a:prstGeom>
        </p:spPr>
      </p:pic>
      <p:sp>
        <p:nvSpPr>
          <p:cNvPr id="155" name="Text 99"/>
          <p:cNvSpPr txBox="1"/>
          <p:nvPr/>
        </p:nvSpPr>
        <p:spPr>
          <a:xfrm>
            <a:off x="10180015" y="3919118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API Gateway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Text 100"/>
          <p:cNvSpPr txBox="1"/>
          <p:nvPr/>
        </p:nvSpPr>
        <p:spPr>
          <a:xfrm>
            <a:off x="10180015" y="408096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API exposure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Shape 101"/>
          <p:cNvSpPr/>
          <p:nvPr/>
        </p:nvSpPr>
        <p:spPr>
          <a:xfrm>
            <a:off x="9722815" y="4486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Shape 102"/>
          <p:cNvSpPr/>
          <p:nvPr/>
        </p:nvSpPr>
        <p:spPr>
          <a:xfrm>
            <a:off x="9722815" y="4486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9" name="Image 5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4705502"/>
            <a:ext cx="228600" cy="228600"/>
          </a:xfrm>
          <a:prstGeom prst="rect">
            <a:avLst/>
          </a:prstGeom>
        </p:spPr>
      </p:pic>
      <p:pic>
        <p:nvPicPr>
          <p:cNvPr id="160" name="Image 55" descr="preencoded.png"/>
          <p:cNvPicPr>
            <a:picLocks noChangeAspect="1"/>
          </p:cNvPicPr>
          <p:nvPr/>
        </p:nvPicPr>
        <p:blipFill>
          <a:blip r:embed="rId35"/>
          <a:stretch/>
        </p:blipFill>
        <p:spPr>
          <a:xfrm>
            <a:off x="9927641" y="4776368"/>
            <a:ext cx="85954" cy="85954"/>
          </a:xfrm>
          <a:prstGeom prst="rect">
            <a:avLst/>
          </a:prstGeom>
        </p:spPr>
      </p:pic>
      <p:sp>
        <p:nvSpPr>
          <p:cNvPr id="161" name="Text 103"/>
          <p:cNvSpPr txBox="1"/>
          <p:nvPr/>
        </p:nvSpPr>
        <p:spPr>
          <a:xfrm>
            <a:off x="10180015" y="4680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CloudWatch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ext 104"/>
          <p:cNvSpPr txBox="1"/>
          <p:nvPr/>
        </p:nvSpPr>
        <p:spPr>
          <a:xfrm>
            <a:off x="10180015" y="4843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Monitoring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Shape 105"/>
          <p:cNvSpPr/>
          <p:nvPr/>
        </p:nvSpPr>
        <p:spPr>
          <a:xfrm>
            <a:off x="9722815" y="5295290"/>
            <a:ext cx="1867205" cy="418795"/>
          </a:xfrm>
          <a:prstGeom prst="roundRect">
            <a:avLst>
              <a:gd name="adj" fmla="val 59547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Text 106"/>
          <p:cNvSpPr txBox="1"/>
          <p:nvPr/>
        </p:nvSpPr>
        <p:spPr>
          <a:xfrm>
            <a:off x="9817913" y="537210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Text 107"/>
          <p:cNvSpPr txBox="1"/>
          <p:nvPr/>
        </p:nvSpPr>
        <p:spPr>
          <a:xfrm>
            <a:off x="9817913" y="5523890"/>
            <a:ext cx="1715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Functions → SES → Export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 113"/>
          <p:cNvSpPr txBox="1"/>
          <p:nvPr/>
        </p:nvSpPr>
        <p:spPr>
          <a:xfrm>
            <a:off x="2364638" y="1438351"/>
            <a:ext cx="1874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01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Text 114"/>
          <p:cNvSpPr txBox="1"/>
          <p:nvPr/>
        </p:nvSpPr>
        <p:spPr>
          <a:xfrm>
            <a:off x="4616806" y="143835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02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Text 115"/>
          <p:cNvSpPr txBox="1"/>
          <p:nvPr/>
        </p:nvSpPr>
        <p:spPr>
          <a:xfrm>
            <a:off x="6895490" y="143835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03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Text 116"/>
          <p:cNvSpPr txBox="1"/>
          <p:nvPr/>
        </p:nvSpPr>
        <p:spPr>
          <a:xfrm>
            <a:off x="9159545" y="1438351"/>
            <a:ext cx="191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04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Text 117"/>
          <p:cNvSpPr txBox="1"/>
          <p:nvPr/>
        </p:nvSpPr>
        <p:spPr>
          <a:xfrm>
            <a:off x="11450117" y="143835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05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Slide Number Placeholder 5">
            <a:extLst>
              <a:ext uri="{FF2B5EF4-FFF2-40B4-BE49-F238E27FC236}">
                <a16:creationId xmlns:a16="http://schemas.microsoft.com/office/drawing/2014/main" id="{CADDFB2A-FC00-0E67-38A4-533ABA298B03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13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6A802A0-0CEC-5451-5C6E-7DD92050C947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</a:t>
            </a:r>
            <a:r>
              <a:rPr lang="en-US" sz="600" noProof="0" err="1">
                <a:solidFill>
                  <a:schemeClr val="bg1"/>
                </a:solidFill>
                <a:latin typeface="Arial" panose="020B0604020202020204" pitchFamily="34" charset="0"/>
              </a:rPr>
              <a:t>Apexon</a:t>
            </a:r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, Copyright © 2026 All rights reserved.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6717E1B-A38F-8203-FB6D-A4107AB60982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E4B3FDD-1239-E586-C38B-3F6867A2D655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70" name="Freeform: Shape 3">
              <a:extLst>
                <a:ext uri="{FF2B5EF4-FFF2-40B4-BE49-F238E27FC236}">
                  <a16:creationId xmlns:a16="http://schemas.microsoft.com/office/drawing/2014/main" id="{3A9C8DB0-C5A5-8CD1-539F-C457674CB728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4">
              <a:extLst>
                <a:ext uri="{FF2B5EF4-FFF2-40B4-BE49-F238E27FC236}">
                  <a16:creationId xmlns:a16="http://schemas.microsoft.com/office/drawing/2014/main" id="{D700E43C-88BF-840E-A314-9C8A533B1451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2" name="Freeform: Shape 5">
              <a:extLst>
                <a:ext uri="{FF2B5EF4-FFF2-40B4-BE49-F238E27FC236}">
                  <a16:creationId xmlns:a16="http://schemas.microsoft.com/office/drawing/2014/main" id="{C6A8DBC1-FAF8-AFA6-8ED6-35A1EED1C220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6">
              <a:extLst>
                <a:ext uri="{FF2B5EF4-FFF2-40B4-BE49-F238E27FC236}">
                  <a16:creationId xmlns:a16="http://schemas.microsoft.com/office/drawing/2014/main" id="{F922CABD-000E-3A4B-FB5A-F1AEC740C0F3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7">
              <a:extLst>
                <a:ext uri="{FF2B5EF4-FFF2-40B4-BE49-F238E27FC236}">
                  <a16:creationId xmlns:a16="http://schemas.microsoft.com/office/drawing/2014/main" id="{F3C97C49-25DB-7131-6AEA-B4B8949FBFC3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0" name="Freeform: Shape 8">
              <a:extLst>
                <a:ext uri="{FF2B5EF4-FFF2-40B4-BE49-F238E27FC236}">
                  <a16:creationId xmlns:a16="http://schemas.microsoft.com/office/drawing/2014/main" id="{B69078BE-35E6-F6E7-A647-C1A762D56765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1" name="Freeform: Shape 11">
              <a:extLst>
                <a:ext uri="{FF2B5EF4-FFF2-40B4-BE49-F238E27FC236}">
                  <a16:creationId xmlns:a16="http://schemas.microsoft.com/office/drawing/2014/main" id="{7296BC8A-6D89-CEDE-1B73-65C1745D71D3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2" name="Freeform: Shape 12">
              <a:extLst>
                <a:ext uri="{FF2B5EF4-FFF2-40B4-BE49-F238E27FC236}">
                  <a16:creationId xmlns:a16="http://schemas.microsoft.com/office/drawing/2014/main" id="{CA143173-7616-A51A-FED5-852FDF085FF8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94957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9BBAF-F780-1C1C-173B-D1659B3E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21AA8C-1CE0-D4F3-17E9-F956B7D114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7F1E635-FC6A-48B5-A209-2114B5DFBA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66" name="Slide Number Placeholder 5">
            <a:extLst>
              <a:ext uri="{FF2B5EF4-FFF2-40B4-BE49-F238E27FC236}">
                <a16:creationId xmlns:a16="http://schemas.microsoft.com/office/drawing/2014/main" id="{9286929A-30F1-5FD4-DAA8-18342989C9ED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14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C74A933-9173-D4CA-4F2D-F57A38ED0662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06C8121F-27FF-C98A-36AA-606A45DF9057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0B0FEB2-3635-594C-801F-41B472BC1D6F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70" name="Freeform: Shape 3">
              <a:extLst>
                <a:ext uri="{FF2B5EF4-FFF2-40B4-BE49-F238E27FC236}">
                  <a16:creationId xmlns:a16="http://schemas.microsoft.com/office/drawing/2014/main" id="{BB996A60-395A-DC37-CFAB-E16969F93367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4">
              <a:extLst>
                <a:ext uri="{FF2B5EF4-FFF2-40B4-BE49-F238E27FC236}">
                  <a16:creationId xmlns:a16="http://schemas.microsoft.com/office/drawing/2014/main" id="{8C6B2034-F469-4A0E-DD4E-F8758D9F02CF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2" name="Freeform: Shape 5">
              <a:extLst>
                <a:ext uri="{FF2B5EF4-FFF2-40B4-BE49-F238E27FC236}">
                  <a16:creationId xmlns:a16="http://schemas.microsoft.com/office/drawing/2014/main" id="{9267848E-DE20-D1FF-8530-CB45E542E351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6">
              <a:extLst>
                <a:ext uri="{FF2B5EF4-FFF2-40B4-BE49-F238E27FC236}">
                  <a16:creationId xmlns:a16="http://schemas.microsoft.com/office/drawing/2014/main" id="{763C819C-64F9-40E9-0AEB-E79C03CEEE2C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7">
              <a:extLst>
                <a:ext uri="{FF2B5EF4-FFF2-40B4-BE49-F238E27FC236}">
                  <a16:creationId xmlns:a16="http://schemas.microsoft.com/office/drawing/2014/main" id="{6D87BA7A-DDD3-FC07-117F-47670B1035E2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0" name="Freeform: Shape 8">
              <a:extLst>
                <a:ext uri="{FF2B5EF4-FFF2-40B4-BE49-F238E27FC236}">
                  <a16:creationId xmlns:a16="http://schemas.microsoft.com/office/drawing/2014/main" id="{1333C0F6-F9CE-7C3A-F3B4-7B1D8F1D6D4F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1" name="Freeform: Shape 11">
              <a:extLst>
                <a:ext uri="{FF2B5EF4-FFF2-40B4-BE49-F238E27FC236}">
                  <a16:creationId xmlns:a16="http://schemas.microsoft.com/office/drawing/2014/main" id="{AC5B7C4D-AB8A-59F7-08DD-2802B8CC45C7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2" name="Freeform: Shape 12">
              <a:extLst>
                <a:ext uri="{FF2B5EF4-FFF2-40B4-BE49-F238E27FC236}">
                  <a16:creationId xmlns:a16="http://schemas.microsoft.com/office/drawing/2014/main" id="{495B3E3F-0B83-3B2C-2A40-45A81621DE2B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84" name="Text 0">
            <a:extLst>
              <a:ext uri="{FF2B5EF4-FFF2-40B4-BE49-F238E27FC236}">
                <a16:creationId xmlns:a16="http://schemas.microsoft.com/office/drawing/2014/main" id="{F7B29F5F-6868-5889-A91C-C19E077A30E1}"/>
              </a:ext>
            </a:extLst>
          </p:cNvPr>
          <p:cNvSpPr txBox="1"/>
          <p:nvPr/>
        </p:nvSpPr>
        <p:spPr>
          <a:xfrm>
            <a:off x="425450" y="458357"/>
            <a:ext cx="616214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Agent Orchestration Architecture (illustrative stack using AWS Services)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Text 1">
            <a:extLst>
              <a:ext uri="{FF2B5EF4-FFF2-40B4-BE49-F238E27FC236}">
                <a16:creationId xmlns:a16="http://schemas.microsoft.com/office/drawing/2014/main" id="{26EEF05F-2306-C3D6-027E-28E461A28F3B}"/>
              </a:ext>
            </a:extLst>
          </p:cNvPr>
          <p:cNvSpPr txBox="1"/>
          <p:nvPr/>
        </p:nvSpPr>
        <p:spPr>
          <a:xfrm>
            <a:off x="425450" y="868008"/>
            <a:ext cx="63441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Proactive data pull replacing manual Excel upload with autonomous data acquisition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8" name="Image 1" descr="gen-dedup-64dad604931dd69f3ab194324ee3fd90.png">
            <a:extLst>
              <a:ext uri="{FF2B5EF4-FFF2-40B4-BE49-F238E27FC236}">
                <a16:creationId xmlns:a16="http://schemas.microsoft.com/office/drawing/2014/main" id="{88087992-30F7-1BFC-D7E7-32CD84D96B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425450" y="1286803"/>
            <a:ext cx="2667305" cy="4190695"/>
          </a:xfrm>
          <a:prstGeom prst="rect">
            <a:avLst/>
          </a:prstGeom>
        </p:spPr>
      </p:pic>
      <p:pic>
        <p:nvPicPr>
          <p:cNvPr id="190" name="Image 2" descr="gen-dedup-d9608fe55b551d83f658346d84a5ddab.png">
            <a:extLst>
              <a:ext uri="{FF2B5EF4-FFF2-40B4-BE49-F238E27FC236}">
                <a16:creationId xmlns:a16="http://schemas.microsoft.com/office/drawing/2014/main" id="{747EC350-A110-F9E1-0F13-56D5FDEF2E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15645" y="1541443"/>
            <a:ext cx="114300" cy="129886"/>
          </a:xfrm>
          <a:prstGeom prst="rect">
            <a:avLst/>
          </a:prstGeom>
        </p:spPr>
      </p:pic>
      <p:sp>
        <p:nvSpPr>
          <p:cNvPr id="192" name="Text 2">
            <a:extLst>
              <a:ext uri="{FF2B5EF4-FFF2-40B4-BE49-F238E27FC236}">
                <a16:creationId xmlns:a16="http://schemas.microsoft.com/office/drawing/2014/main" id="{3F88B129-E5F0-ED00-ECB2-B5363937E68C}"/>
              </a:ext>
            </a:extLst>
          </p:cNvPr>
          <p:cNvSpPr txBox="1"/>
          <p:nvPr/>
        </p:nvSpPr>
        <p:spPr>
          <a:xfrm>
            <a:off x="825957" y="1515403"/>
            <a:ext cx="78272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Triggers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Shape 3">
            <a:extLst>
              <a:ext uri="{FF2B5EF4-FFF2-40B4-BE49-F238E27FC236}">
                <a16:creationId xmlns:a16="http://schemas.microsoft.com/office/drawing/2014/main" id="{D20EAFD9-2D3A-F895-E706-D43C2277257E}"/>
              </a:ext>
            </a:extLst>
          </p:cNvPr>
          <p:cNvSpPr/>
          <p:nvPr/>
        </p:nvSpPr>
        <p:spPr>
          <a:xfrm>
            <a:off x="615645" y="1886650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Shape 4">
            <a:extLst>
              <a:ext uri="{FF2B5EF4-FFF2-40B4-BE49-F238E27FC236}">
                <a16:creationId xmlns:a16="http://schemas.microsoft.com/office/drawing/2014/main" id="{EE8F1274-E02C-4560-A8EB-E36C3270134C}"/>
              </a:ext>
            </a:extLst>
          </p:cNvPr>
          <p:cNvSpPr/>
          <p:nvPr/>
        </p:nvSpPr>
        <p:spPr>
          <a:xfrm>
            <a:off x="615645" y="1886650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8" name="Image 3" descr="gen-dedup-b26fc2c7d1873e5f66057f1b99347aee.png">
            <a:extLst>
              <a:ext uri="{FF2B5EF4-FFF2-40B4-BE49-F238E27FC236}">
                <a16:creationId xmlns:a16="http://schemas.microsoft.com/office/drawing/2014/main" id="{9D0F2A9A-15AD-64C5-47CF-C0E2CB2E50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6755" y="2000950"/>
            <a:ext cx="304495" cy="304495"/>
          </a:xfrm>
          <a:prstGeom prst="rect">
            <a:avLst/>
          </a:prstGeom>
        </p:spPr>
      </p:pic>
      <p:sp>
        <p:nvSpPr>
          <p:cNvPr id="200" name="Text 5">
            <a:extLst>
              <a:ext uri="{FF2B5EF4-FFF2-40B4-BE49-F238E27FC236}">
                <a16:creationId xmlns:a16="http://schemas.microsoft.com/office/drawing/2014/main" id="{FB9DCED4-1D43-4EF7-CADA-A1D9D8A89F83}"/>
              </a:ext>
            </a:extLst>
          </p:cNvPr>
          <p:cNvSpPr txBox="1"/>
          <p:nvPr/>
        </p:nvSpPr>
        <p:spPr>
          <a:xfrm>
            <a:off x="1225550" y="2000950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Scheduled Cron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Text 6">
            <a:extLst>
              <a:ext uri="{FF2B5EF4-FFF2-40B4-BE49-F238E27FC236}">
                <a16:creationId xmlns:a16="http://schemas.microsoft.com/office/drawing/2014/main" id="{0C591301-D9AB-098E-2954-876DD333AD85}"/>
              </a:ext>
            </a:extLst>
          </p:cNvPr>
          <p:cNvSpPr txBox="1"/>
          <p:nvPr/>
        </p:nvSpPr>
        <p:spPr>
          <a:xfrm>
            <a:off x="1225550" y="217285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Time-based triggers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73D27AD5-70B6-F0E2-DB65-1D3F12668276}"/>
              </a:ext>
            </a:extLst>
          </p:cNvPr>
          <p:cNvSpPr/>
          <p:nvPr/>
        </p:nvSpPr>
        <p:spPr>
          <a:xfrm>
            <a:off x="615645" y="2534959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Shape 8">
            <a:extLst>
              <a:ext uri="{FF2B5EF4-FFF2-40B4-BE49-F238E27FC236}">
                <a16:creationId xmlns:a16="http://schemas.microsoft.com/office/drawing/2014/main" id="{4952847B-9C23-DCB1-D79A-3889B21EDEF2}"/>
              </a:ext>
            </a:extLst>
          </p:cNvPr>
          <p:cNvSpPr/>
          <p:nvPr/>
        </p:nvSpPr>
        <p:spPr>
          <a:xfrm>
            <a:off x="615645" y="2534959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8" name="Image 4" descr="gen-dedup-be818896e6fb24162976f6523ac05c5e.png">
            <a:extLst>
              <a:ext uri="{FF2B5EF4-FFF2-40B4-BE49-F238E27FC236}">
                <a16:creationId xmlns:a16="http://schemas.microsoft.com/office/drawing/2014/main" id="{1904F84B-2609-B454-14BC-9A97413AEA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6755" y="2649259"/>
            <a:ext cx="304495" cy="304495"/>
          </a:xfrm>
          <a:prstGeom prst="rect">
            <a:avLst/>
          </a:prstGeom>
        </p:spPr>
      </p:pic>
      <p:pic>
        <p:nvPicPr>
          <p:cNvPr id="210" name="Image 5" descr="gen-dedup-852b36736a7de54127eb23d602d7f1b2.png">
            <a:extLst>
              <a:ext uri="{FF2B5EF4-FFF2-40B4-BE49-F238E27FC236}">
                <a16:creationId xmlns:a16="http://schemas.microsoft.com/office/drawing/2014/main" id="{A73B89A5-4D72-B117-A426-997B24024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06424" y="2748471"/>
            <a:ext cx="105156" cy="105156"/>
          </a:xfrm>
          <a:prstGeom prst="rect">
            <a:avLst/>
          </a:prstGeom>
        </p:spPr>
      </p:pic>
      <p:sp>
        <p:nvSpPr>
          <p:cNvPr id="212" name="Text 9">
            <a:extLst>
              <a:ext uri="{FF2B5EF4-FFF2-40B4-BE49-F238E27FC236}">
                <a16:creationId xmlns:a16="http://schemas.microsoft.com/office/drawing/2014/main" id="{797B0E6E-48A3-A9E7-F749-FA027CE6855D}"/>
              </a:ext>
            </a:extLst>
          </p:cNvPr>
          <p:cNvSpPr txBox="1"/>
          <p:nvPr/>
        </p:nvSpPr>
        <p:spPr>
          <a:xfrm>
            <a:off x="1225550" y="2649259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SafetyNet Event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Text 10">
            <a:extLst>
              <a:ext uri="{FF2B5EF4-FFF2-40B4-BE49-F238E27FC236}">
                <a16:creationId xmlns:a16="http://schemas.microsoft.com/office/drawing/2014/main" id="{1FB8B1A5-761C-8A12-7589-4BEB5227D012}"/>
              </a:ext>
            </a:extLst>
          </p:cNvPr>
          <p:cNvSpPr txBox="1"/>
          <p:nvPr/>
        </p:nvSpPr>
        <p:spPr>
          <a:xfrm>
            <a:off x="1225550" y="2820252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stream signals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Shape 11">
            <a:extLst>
              <a:ext uri="{FF2B5EF4-FFF2-40B4-BE49-F238E27FC236}">
                <a16:creationId xmlns:a16="http://schemas.microsoft.com/office/drawing/2014/main" id="{10D92275-9447-E884-8DA3-16A4C3F7B2CF}"/>
              </a:ext>
            </a:extLst>
          </p:cNvPr>
          <p:cNvSpPr/>
          <p:nvPr/>
        </p:nvSpPr>
        <p:spPr>
          <a:xfrm>
            <a:off x="615645" y="3182354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" name="Shape 12">
            <a:extLst>
              <a:ext uri="{FF2B5EF4-FFF2-40B4-BE49-F238E27FC236}">
                <a16:creationId xmlns:a16="http://schemas.microsoft.com/office/drawing/2014/main" id="{5A951061-3769-CB21-6EA2-2BAE1DB87BA1}"/>
              </a:ext>
            </a:extLst>
          </p:cNvPr>
          <p:cNvSpPr/>
          <p:nvPr/>
        </p:nvSpPr>
        <p:spPr>
          <a:xfrm>
            <a:off x="615645" y="3182354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0" name="Image 6" descr="gen-dedup-3b2e84948980196448fbc017596c33d5.png">
            <a:extLst>
              <a:ext uri="{FF2B5EF4-FFF2-40B4-BE49-F238E27FC236}">
                <a16:creationId xmlns:a16="http://schemas.microsoft.com/office/drawing/2014/main" id="{AC447943-3080-702D-F818-083E4667E63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6755" y="3296654"/>
            <a:ext cx="304495" cy="304495"/>
          </a:xfrm>
          <a:prstGeom prst="rect">
            <a:avLst/>
          </a:prstGeom>
        </p:spPr>
      </p:pic>
      <p:pic>
        <p:nvPicPr>
          <p:cNvPr id="222" name="Image 7" descr="gen-dedup-a8754db6f5baf34b33440bb1ab5d515e.png">
            <a:extLst>
              <a:ext uri="{FF2B5EF4-FFF2-40B4-BE49-F238E27FC236}">
                <a16:creationId xmlns:a16="http://schemas.microsoft.com/office/drawing/2014/main" id="{D0EC73F3-F57B-F608-73A1-06ADF58D6D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906424" y="3396781"/>
            <a:ext cx="105156" cy="105156"/>
          </a:xfrm>
          <a:prstGeom prst="rect">
            <a:avLst/>
          </a:prstGeom>
        </p:spPr>
      </p:pic>
      <p:sp>
        <p:nvSpPr>
          <p:cNvPr id="224" name="Text 13">
            <a:extLst>
              <a:ext uri="{FF2B5EF4-FFF2-40B4-BE49-F238E27FC236}">
                <a16:creationId xmlns:a16="http://schemas.microsoft.com/office/drawing/2014/main" id="{08F6793D-3AF3-EE1B-6374-BBD2B8B38B32}"/>
              </a:ext>
            </a:extLst>
          </p:cNvPr>
          <p:cNvSpPr txBox="1"/>
          <p:nvPr/>
        </p:nvSpPr>
        <p:spPr>
          <a:xfrm>
            <a:off x="1225550" y="3296654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Threshold Breach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Text 14">
            <a:extLst>
              <a:ext uri="{FF2B5EF4-FFF2-40B4-BE49-F238E27FC236}">
                <a16:creationId xmlns:a16="http://schemas.microsoft.com/office/drawing/2014/main" id="{07876264-073D-7687-EC62-CF79A39F8003}"/>
              </a:ext>
            </a:extLst>
          </p:cNvPr>
          <p:cNvSpPr txBox="1"/>
          <p:nvPr/>
        </p:nvSpPr>
        <p:spPr>
          <a:xfrm>
            <a:off x="1225550" y="346764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Gate proximity alerts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Shape 15">
            <a:extLst>
              <a:ext uri="{FF2B5EF4-FFF2-40B4-BE49-F238E27FC236}">
                <a16:creationId xmlns:a16="http://schemas.microsoft.com/office/drawing/2014/main" id="{7DCAC76F-E778-3819-181B-EAB1986C8AD0}"/>
              </a:ext>
            </a:extLst>
          </p:cNvPr>
          <p:cNvSpPr/>
          <p:nvPr/>
        </p:nvSpPr>
        <p:spPr>
          <a:xfrm>
            <a:off x="615645" y="3829750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Shape 16">
            <a:extLst>
              <a:ext uri="{FF2B5EF4-FFF2-40B4-BE49-F238E27FC236}">
                <a16:creationId xmlns:a16="http://schemas.microsoft.com/office/drawing/2014/main" id="{4365489D-C538-6F8D-0FB9-8B320F221EC5}"/>
              </a:ext>
            </a:extLst>
          </p:cNvPr>
          <p:cNvSpPr/>
          <p:nvPr/>
        </p:nvSpPr>
        <p:spPr>
          <a:xfrm>
            <a:off x="615645" y="3829750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2" name="Image 8" descr="gen-dedup-335d3597c03402871d25e53611d4bedc.png">
            <a:extLst>
              <a:ext uri="{FF2B5EF4-FFF2-40B4-BE49-F238E27FC236}">
                <a16:creationId xmlns:a16="http://schemas.microsoft.com/office/drawing/2014/main" id="{6D68C7DE-C208-93E7-BC9A-DE29758F4C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6755" y="3944050"/>
            <a:ext cx="304495" cy="304495"/>
          </a:xfrm>
          <a:prstGeom prst="rect">
            <a:avLst/>
          </a:prstGeom>
        </p:spPr>
      </p:pic>
      <p:pic>
        <p:nvPicPr>
          <p:cNvPr id="234" name="Image 9" descr="gen-dedup-a140dedaf14a1ef35c320248d4d7ab16.png">
            <a:extLst>
              <a:ext uri="{FF2B5EF4-FFF2-40B4-BE49-F238E27FC236}">
                <a16:creationId xmlns:a16="http://schemas.microsoft.com/office/drawing/2014/main" id="{66A4BF14-BEBE-3B6C-9AEF-7D0F83E4BF9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906424" y="4035874"/>
            <a:ext cx="105156" cy="121759"/>
          </a:xfrm>
          <a:prstGeom prst="rect">
            <a:avLst/>
          </a:prstGeom>
        </p:spPr>
      </p:pic>
      <p:sp>
        <p:nvSpPr>
          <p:cNvPr id="236" name="Text 17">
            <a:extLst>
              <a:ext uri="{FF2B5EF4-FFF2-40B4-BE49-F238E27FC236}">
                <a16:creationId xmlns:a16="http://schemas.microsoft.com/office/drawing/2014/main" id="{5EB4DB6B-CD46-8F9E-4227-8C2A879EC27F}"/>
              </a:ext>
            </a:extLst>
          </p:cNvPr>
          <p:cNvSpPr txBox="1"/>
          <p:nvPr/>
        </p:nvSpPr>
        <p:spPr>
          <a:xfrm>
            <a:off x="1225550" y="3944050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Manual Kickoff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8" name="Text 18">
            <a:extLst>
              <a:ext uri="{FF2B5EF4-FFF2-40B4-BE49-F238E27FC236}">
                <a16:creationId xmlns:a16="http://schemas.microsoft.com/office/drawing/2014/main" id="{806F7845-B570-28B8-2232-BB8B3359B6C4}"/>
              </a:ext>
            </a:extLst>
          </p:cNvPr>
          <p:cNvSpPr txBox="1"/>
          <p:nvPr/>
        </p:nvSpPr>
        <p:spPr>
          <a:xfrm>
            <a:off x="1225550" y="411595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Analyst initiated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0" name="Image 10" descr="gen-dedup-d72ac35a79d59c0de3ac839ccd0228a0.png">
            <a:extLst>
              <a:ext uri="{FF2B5EF4-FFF2-40B4-BE49-F238E27FC236}">
                <a16:creationId xmlns:a16="http://schemas.microsoft.com/office/drawing/2014/main" id="{C9BDF7A3-E0F8-9150-F9F6-E282412EC04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4" r="-4"/>
          <a:stretch/>
        </p:blipFill>
        <p:spPr>
          <a:xfrm>
            <a:off x="3321355" y="1286803"/>
            <a:ext cx="5486400" cy="4190695"/>
          </a:xfrm>
          <a:prstGeom prst="rect">
            <a:avLst/>
          </a:prstGeom>
        </p:spPr>
      </p:pic>
      <p:sp>
        <p:nvSpPr>
          <p:cNvPr id="242" name="Shape 19">
            <a:extLst>
              <a:ext uri="{FF2B5EF4-FFF2-40B4-BE49-F238E27FC236}">
                <a16:creationId xmlns:a16="http://schemas.microsoft.com/office/drawing/2014/main" id="{6D0AF345-E6F0-4DD1-48EF-A77AB7A221D3}"/>
              </a:ext>
            </a:extLst>
          </p:cNvPr>
          <p:cNvSpPr/>
          <p:nvPr/>
        </p:nvSpPr>
        <p:spPr>
          <a:xfrm>
            <a:off x="3511550" y="1810754"/>
            <a:ext cx="510509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4" name="Image 11" descr="gen-dedup-7558e3ab6b10d34512ebdce3fb5e43a0.png">
            <a:extLst>
              <a:ext uri="{FF2B5EF4-FFF2-40B4-BE49-F238E27FC236}">
                <a16:creationId xmlns:a16="http://schemas.microsoft.com/office/drawing/2014/main" id="{C5B4AD50-2DC2-968B-009D-7FF17AD9D7B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3511550" y="1561029"/>
            <a:ext cx="114300" cy="90714"/>
          </a:xfrm>
          <a:prstGeom prst="rect">
            <a:avLst/>
          </a:prstGeom>
        </p:spPr>
      </p:pic>
      <p:sp>
        <p:nvSpPr>
          <p:cNvPr id="246" name="Text 20">
            <a:extLst>
              <a:ext uri="{FF2B5EF4-FFF2-40B4-BE49-F238E27FC236}">
                <a16:creationId xmlns:a16="http://schemas.microsoft.com/office/drawing/2014/main" id="{5568848A-BC8C-B1E3-02F8-EC0863EC05BC}"/>
              </a:ext>
            </a:extLst>
          </p:cNvPr>
          <p:cNvSpPr txBox="1"/>
          <p:nvPr/>
        </p:nvSpPr>
        <p:spPr>
          <a:xfrm>
            <a:off x="3720948" y="1515403"/>
            <a:ext cx="166969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Bedrock AgentCore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Shape 21">
            <a:extLst>
              <a:ext uri="{FF2B5EF4-FFF2-40B4-BE49-F238E27FC236}">
                <a16:creationId xmlns:a16="http://schemas.microsoft.com/office/drawing/2014/main" id="{926C9174-29A1-6A02-24BD-75CDC8A3C5E4}"/>
              </a:ext>
            </a:extLst>
          </p:cNvPr>
          <p:cNvSpPr/>
          <p:nvPr/>
        </p:nvSpPr>
        <p:spPr>
          <a:xfrm>
            <a:off x="8132928" y="1567524"/>
            <a:ext cx="75895" cy="75895"/>
          </a:xfrm>
          <a:prstGeom prst="ellipse">
            <a:avLst/>
          </a:prstGeom>
          <a:solidFill>
            <a:srgbClr val="4CAF50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Text 22">
            <a:extLst>
              <a:ext uri="{FF2B5EF4-FFF2-40B4-BE49-F238E27FC236}">
                <a16:creationId xmlns:a16="http://schemas.microsoft.com/office/drawing/2014/main" id="{BF6B10DD-CEFA-83E1-1194-FEE1FBFC7807}"/>
              </a:ext>
            </a:extLst>
          </p:cNvPr>
          <p:cNvSpPr txBox="1"/>
          <p:nvPr/>
        </p:nvSpPr>
        <p:spPr>
          <a:xfrm>
            <a:off x="8266430" y="1534606"/>
            <a:ext cx="47823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CAF5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Active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Shape 23">
            <a:extLst>
              <a:ext uri="{FF2B5EF4-FFF2-40B4-BE49-F238E27FC236}">
                <a16:creationId xmlns:a16="http://schemas.microsoft.com/office/drawing/2014/main" id="{A512995E-62D2-EAB0-DCF9-F98516CF3586}"/>
              </a:ext>
            </a:extLst>
          </p:cNvPr>
          <p:cNvSpPr/>
          <p:nvPr/>
        </p:nvSpPr>
        <p:spPr>
          <a:xfrm>
            <a:off x="3511550" y="2020152"/>
            <a:ext cx="5105095" cy="1019556"/>
          </a:xfrm>
          <a:prstGeom prst="roundRect">
            <a:avLst>
              <a:gd name="adj" fmla="val 1121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4" name="Image 12" descr="gen-dedup-49f8f2f6de0626cee8679e9615489313.png">
            <a:extLst>
              <a:ext uri="{FF2B5EF4-FFF2-40B4-BE49-F238E27FC236}">
                <a16:creationId xmlns:a16="http://schemas.microsoft.com/office/drawing/2014/main" id="{2E75399E-569E-1529-7948-9E4C18D25F0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311650" y="2210347"/>
            <a:ext cx="418795" cy="418795"/>
          </a:xfrm>
          <a:prstGeom prst="rect">
            <a:avLst/>
          </a:prstGeom>
        </p:spPr>
      </p:pic>
      <p:pic>
        <p:nvPicPr>
          <p:cNvPr id="256" name="Image 13" descr="gen-dedup-bb94604638c0df84051921abd9e1ede4.png">
            <a:extLst>
              <a:ext uri="{FF2B5EF4-FFF2-40B4-BE49-F238E27FC236}">
                <a16:creationId xmlns:a16="http://schemas.microsoft.com/office/drawing/2014/main" id="{244087D3-FC59-0055-A0AC-5076B6C481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4464355" y="2363052"/>
            <a:ext cx="114300" cy="114300"/>
          </a:xfrm>
          <a:prstGeom prst="rect">
            <a:avLst/>
          </a:prstGeom>
        </p:spPr>
      </p:pic>
      <p:sp>
        <p:nvSpPr>
          <p:cNvPr id="258" name="Text 24">
            <a:extLst>
              <a:ext uri="{FF2B5EF4-FFF2-40B4-BE49-F238E27FC236}">
                <a16:creationId xmlns:a16="http://schemas.microsoft.com/office/drawing/2014/main" id="{676A328C-82CE-B957-6927-9F548016E0BC}"/>
              </a:ext>
            </a:extLst>
          </p:cNvPr>
          <p:cNvSpPr txBox="1"/>
          <p:nvPr/>
        </p:nvSpPr>
        <p:spPr>
          <a:xfrm>
            <a:off x="4324452" y="2705952"/>
            <a:ext cx="40325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Think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0" name="Image 14" descr="gen-dedup-24d926efd97231d9bbfe44daebff4577.png">
            <a:extLst>
              <a:ext uri="{FF2B5EF4-FFF2-40B4-BE49-F238E27FC236}">
                <a16:creationId xmlns:a16="http://schemas.microsoft.com/office/drawing/2014/main" id="{F1F1CAB1-FCB2-D46D-8109-CACF85B39BD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4959960" y="2451357"/>
            <a:ext cx="133502" cy="152573"/>
          </a:xfrm>
          <a:prstGeom prst="rect">
            <a:avLst/>
          </a:prstGeom>
        </p:spPr>
      </p:pic>
      <p:pic>
        <p:nvPicPr>
          <p:cNvPr id="262" name="Image 15" descr="gen-dedup-107989b913bbeb232000a410174f5b2e.png">
            <a:extLst>
              <a:ext uri="{FF2B5EF4-FFF2-40B4-BE49-F238E27FC236}">
                <a16:creationId xmlns:a16="http://schemas.microsoft.com/office/drawing/2014/main" id="{F01FFA43-380F-B578-2261-C7CEC9E71C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322062" y="2210347"/>
            <a:ext cx="418795" cy="418795"/>
          </a:xfrm>
          <a:prstGeom prst="rect">
            <a:avLst/>
          </a:prstGeom>
        </p:spPr>
      </p:pic>
      <p:pic>
        <p:nvPicPr>
          <p:cNvPr id="264" name="Image 16" descr="gen-dedup-c6f705109fd13c3af277680d7cc1d875.png">
            <a:extLst>
              <a:ext uri="{FF2B5EF4-FFF2-40B4-BE49-F238E27FC236}">
                <a16:creationId xmlns:a16="http://schemas.microsoft.com/office/drawing/2014/main" id="{0877A825-432C-95D3-203E-927B02D4AE2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5473852" y="2345005"/>
            <a:ext cx="114300" cy="150394"/>
          </a:xfrm>
          <a:prstGeom prst="rect">
            <a:avLst/>
          </a:prstGeom>
        </p:spPr>
      </p:pic>
      <p:sp>
        <p:nvSpPr>
          <p:cNvPr id="266" name="Text 25">
            <a:extLst>
              <a:ext uri="{FF2B5EF4-FFF2-40B4-BE49-F238E27FC236}">
                <a16:creationId xmlns:a16="http://schemas.microsoft.com/office/drawing/2014/main" id="{60E1F3BA-6DBC-BEB9-0362-1F2465364FA4}"/>
              </a:ext>
            </a:extLst>
          </p:cNvPr>
          <p:cNvSpPr txBox="1"/>
          <p:nvPr/>
        </p:nvSpPr>
        <p:spPr>
          <a:xfrm>
            <a:off x="5414416" y="2705952"/>
            <a:ext cx="24323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8" name="Image 17" descr="gen-dedup-24d926efd97231d9bbfe44daebff4577.png">
            <a:extLst>
              <a:ext uri="{FF2B5EF4-FFF2-40B4-BE49-F238E27FC236}">
                <a16:creationId xmlns:a16="http://schemas.microsoft.com/office/drawing/2014/main" id="{16BF373B-E5F4-4F6A-6E76-90069CCE129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5969457" y="2451357"/>
            <a:ext cx="133502" cy="152573"/>
          </a:xfrm>
          <a:prstGeom prst="rect">
            <a:avLst/>
          </a:prstGeom>
        </p:spPr>
      </p:pic>
      <p:pic>
        <p:nvPicPr>
          <p:cNvPr id="270" name="Image 18" descr="gen-dedup-816e1de341e3cceed1849e422bd742bc.png">
            <a:extLst>
              <a:ext uri="{FF2B5EF4-FFF2-40B4-BE49-F238E27FC236}">
                <a16:creationId xmlns:a16="http://schemas.microsoft.com/office/drawing/2014/main" id="{E3CA85E4-D91A-97D5-CD52-4BB50AD878C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358992" y="2210347"/>
            <a:ext cx="418795" cy="418795"/>
          </a:xfrm>
          <a:prstGeom prst="rect">
            <a:avLst/>
          </a:prstGeom>
        </p:spPr>
      </p:pic>
      <p:pic>
        <p:nvPicPr>
          <p:cNvPr id="272" name="Image 19" descr="gen-dedup-3093283b515c95b5f55dc13b30b2da46.png">
            <a:extLst>
              <a:ext uri="{FF2B5EF4-FFF2-40B4-BE49-F238E27FC236}">
                <a16:creationId xmlns:a16="http://schemas.microsoft.com/office/drawing/2014/main" id="{3E60A7D9-0944-29D7-BAAE-74781E150CD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6511696" y="2369176"/>
            <a:ext cx="114300" cy="102053"/>
          </a:xfrm>
          <a:prstGeom prst="rect">
            <a:avLst/>
          </a:prstGeom>
        </p:spPr>
      </p:pic>
      <p:sp>
        <p:nvSpPr>
          <p:cNvPr id="274" name="Text 26">
            <a:extLst>
              <a:ext uri="{FF2B5EF4-FFF2-40B4-BE49-F238E27FC236}">
                <a16:creationId xmlns:a16="http://schemas.microsoft.com/office/drawing/2014/main" id="{2BE476B8-3F22-CDBB-9D96-EB75EA53ABAB}"/>
              </a:ext>
            </a:extLst>
          </p:cNvPr>
          <p:cNvSpPr txBox="1"/>
          <p:nvPr/>
        </p:nvSpPr>
        <p:spPr>
          <a:xfrm>
            <a:off x="6285840" y="2705952"/>
            <a:ext cx="56784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Observe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6" name="Image 20" descr="gen-dedup-24d926efd97231d9bbfe44daebff4577.png">
            <a:extLst>
              <a:ext uri="{FF2B5EF4-FFF2-40B4-BE49-F238E27FC236}">
                <a16:creationId xmlns:a16="http://schemas.microsoft.com/office/drawing/2014/main" id="{5FFB7150-21D8-7652-4BE0-C9994A7B9E2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7035648" y="2451357"/>
            <a:ext cx="133502" cy="152573"/>
          </a:xfrm>
          <a:prstGeom prst="rect">
            <a:avLst/>
          </a:prstGeom>
        </p:spPr>
      </p:pic>
      <p:pic>
        <p:nvPicPr>
          <p:cNvPr id="278" name="Image 21" descr="gen-dedup-5ac6af7cc32e0ab5ee9dd90f81c220d6.png">
            <a:extLst>
              <a:ext uri="{FF2B5EF4-FFF2-40B4-BE49-F238E27FC236}">
                <a16:creationId xmlns:a16="http://schemas.microsoft.com/office/drawing/2014/main" id="{18DB8EBB-48A0-B8C1-086F-405B15128EF7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7396836" y="2210347"/>
            <a:ext cx="418795" cy="418795"/>
          </a:xfrm>
          <a:prstGeom prst="rect">
            <a:avLst/>
          </a:prstGeom>
        </p:spPr>
      </p:pic>
      <p:sp>
        <p:nvSpPr>
          <p:cNvPr id="280" name="Text 27">
            <a:extLst>
              <a:ext uri="{FF2B5EF4-FFF2-40B4-BE49-F238E27FC236}">
                <a16:creationId xmlns:a16="http://schemas.microsoft.com/office/drawing/2014/main" id="{7E3E3CB6-4515-40A6-2E5D-82A6BF198212}"/>
              </a:ext>
            </a:extLst>
          </p:cNvPr>
          <p:cNvSpPr txBox="1"/>
          <p:nvPr/>
        </p:nvSpPr>
        <p:spPr>
          <a:xfrm>
            <a:off x="7368489" y="2705952"/>
            <a:ext cx="48006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Refine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Shape 28">
            <a:extLst>
              <a:ext uri="{FF2B5EF4-FFF2-40B4-BE49-F238E27FC236}">
                <a16:creationId xmlns:a16="http://schemas.microsoft.com/office/drawing/2014/main" id="{10AE78B1-6FF3-E0E9-88BB-93BDEF93E9F3}"/>
              </a:ext>
            </a:extLst>
          </p:cNvPr>
          <p:cNvSpPr/>
          <p:nvPr/>
        </p:nvSpPr>
        <p:spPr>
          <a:xfrm>
            <a:off x="3511550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4" name="Image 22" descr="gen-dedup-49ca8a266a4ba2819bf6ef39a68134c2.png">
            <a:extLst>
              <a:ext uri="{FF2B5EF4-FFF2-40B4-BE49-F238E27FC236}">
                <a16:creationId xmlns:a16="http://schemas.microsoft.com/office/drawing/2014/main" id="{FDCE585A-37F4-1213-0B79-3324F424B45A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849878" y="3554515"/>
            <a:ext cx="267005" cy="267005"/>
          </a:xfrm>
          <a:prstGeom prst="rect">
            <a:avLst/>
          </a:prstGeom>
        </p:spPr>
      </p:pic>
      <p:pic>
        <p:nvPicPr>
          <p:cNvPr id="286" name="Image 23" descr="gen-dedup-935cbe4830734878aa8d4513ce6bd6ae.png">
            <a:extLst>
              <a:ext uri="{FF2B5EF4-FFF2-40B4-BE49-F238E27FC236}">
                <a16:creationId xmlns:a16="http://schemas.microsoft.com/office/drawing/2014/main" id="{BD59C7A5-51D8-403B-DB0F-F00FB506A7E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3940404" y="3638335"/>
            <a:ext cx="85954" cy="100279"/>
          </a:xfrm>
          <a:prstGeom prst="rect">
            <a:avLst/>
          </a:prstGeom>
        </p:spPr>
      </p:pic>
      <p:sp>
        <p:nvSpPr>
          <p:cNvPr id="288" name="Text 29">
            <a:extLst>
              <a:ext uri="{FF2B5EF4-FFF2-40B4-BE49-F238E27FC236}">
                <a16:creationId xmlns:a16="http://schemas.microsoft.com/office/drawing/2014/main" id="{222A6E8E-A2CF-6570-1E4F-307956D92EEA}"/>
              </a:ext>
            </a:extLst>
          </p:cNvPr>
          <p:cNvSpPr txBox="1"/>
          <p:nvPr/>
        </p:nvSpPr>
        <p:spPr>
          <a:xfrm>
            <a:off x="3597504" y="3916618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Query SafetyNet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0" name="Text 30">
            <a:extLst>
              <a:ext uri="{FF2B5EF4-FFF2-40B4-BE49-F238E27FC236}">
                <a16:creationId xmlns:a16="http://schemas.microsoft.com/office/drawing/2014/main" id="{A23B760D-22BA-43D3-4253-BDFC54B14F4D}"/>
              </a:ext>
            </a:extLst>
          </p:cNvPr>
          <p:cNvSpPr txBox="1"/>
          <p:nvPr/>
        </p:nvSpPr>
        <p:spPr>
          <a:xfrm>
            <a:off x="3517951" y="4183622"/>
            <a:ext cx="940918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Athena over Glue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Shape 31">
            <a:extLst>
              <a:ext uri="{FF2B5EF4-FFF2-40B4-BE49-F238E27FC236}">
                <a16:creationId xmlns:a16="http://schemas.microsoft.com/office/drawing/2014/main" id="{9A47AB1C-9D05-8F1F-558D-C09A00999F39}"/>
              </a:ext>
            </a:extLst>
          </p:cNvPr>
          <p:cNvSpPr/>
          <p:nvPr/>
        </p:nvSpPr>
        <p:spPr>
          <a:xfrm>
            <a:off x="4551223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4" name="Image 24" descr="gen-dedup-be2a9dd0b851ca010e3ad75377430538.png">
            <a:extLst>
              <a:ext uri="{FF2B5EF4-FFF2-40B4-BE49-F238E27FC236}">
                <a16:creationId xmlns:a16="http://schemas.microsoft.com/office/drawing/2014/main" id="{077A0422-46AB-5D72-D397-02545A11CE8C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4891380" y="3612122"/>
            <a:ext cx="267005" cy="267005"/>
          </a:xfrm>
          <a:prstGeom prst="rect">
            <a:avLst/>
          </a:prstGeom>
        </p:spPr>
      </p:pic>
      <p:pic>
        <p:nvPicPr>
          <p:cNvPr id="296" name="Image 25" descr="gen-dedup-60f7c3179d7be417cc0c2bb993fb6f45.png">
            <a:extLst>
              <a:ext uri="{FF2B5EF4-FFF2-40B4-BE49-F238E27FC236}">
                <a16:creationId xmlns:a16="http://schemas.microsoft.com/office/drawing/2014/main" id="{1ADBE592-71CC-7AEA-332D-568A44F28886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4981905" y="3710187"/>
            <a:ext cx="85954" cy="69962"/>
          </a:xfrm>
          <a:prstGeom prst="rect">
            <a:avLst/>
          </a:prstGeom>
        </p:spPr>
      </p:pic>
      <p:sp>
        <p:nvSpPr>
          <p:cNvPr id="298" name="Text 32">
            <a:extLst>
              <a:ext uri="{FF2B5EF4-FFF2-40B4-BE49-F238E27FC236}">
                <a16:creationId xmlns:a16="http://schemas.microsoft.com/office/drawing/2014/main" id="{6F721311-87CB-8EE2-B287-D52DAD465A30}"/>
              </a:ext>
            </a:extLst>
          </p:cNvPr>
          <p:cNvSpPr txBox="1"/>
          <p:nvPr/>
        </p:nvSpPr>
        <p:spPr>
          <a:xfrm>
            <a:off x="4525620" y="3973310"/>
            <a:ext cx="10030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Parse/Normalize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" name="Text 33">
            <a:extLst>
              <a:ext uri="{FF2B5EF4-FFF2-40B4-BE49-F238E27FC236}">
                <a16:creationId xmlns:a16="http://schemas.microsoft.com/office/drawing/2014/main" id="{ABC20BE2-AFA3-05FC-3FE0-783ED3754101}"/>
              </a:ext>
            </a:extLst>
          </p:cNvPr>
          <p:cNvSpPr txBox="1"/>
          <p:nvPr/>
        </p:nvSpPr>
        <p:spPr>
          <a:xfrm>
            <a:off x="4637176" y="4126015"/>
            <a:ext cx="7818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Glue jobs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2" name="Shape 34">
            <a:extLst>
              <a:ext uri="{FF2B5EF4-FFF2-40B4-BE49-F238E27FC236}">
                <a16:creationId xmlns:a16="http://schemas.microsoft.com/office/drawing/2014/main" id="{453C16A8-7D65-BAD6-A6B7-20B77B277211}"/>
              </a:ext>
            </a:extLst>
          </p:cNvPr>
          <p:cNvSpPr/>
          <p:nvPr/>
        </p:nvSpPr>
        <p:spPr>
          <a:xfrm>
            <a:off x="5593639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4" name="Image 26" descr="gen-dedup-6b13672911c3d5d4f14df7f91927e5e6.png">
            <a:extLst>
              <a:ext uri="{FF2B5EF4-FFF2-40B4-BE49-F238E27FC236}">
                <a16:creationId xmlns:a16="http://schemas.microsoft.com/office/drawing/2014/main" id="{709DAD81-ACCD-7BA7-0BCE-C4D1637BB28B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931967" y="3560002"/>
            <a:ext cx="267005" cy="267005"/>
          </a:xfrm>
          <a:prstGeom prst="rect">
            <a:avLst/>
          </a:prstGeom>
        </p:spPr>
      </p:pic>
      <p:pic>
        <p:nvPicPr>
          <p:cNvPr id="306" name="Image 27" descr="gen-dedup-89f701cfd83c22b39ed74b9fe848015d.png">
            <a:extLst>
              <a:ext uri="{FF2B5EF4-FFF2-40B4-BE49-F238E27FC236}">
                <a16:creationId xmlns:a16="http://schemas.microsoft.com/office/drawing/2014/main" id="{39132B6D-341A-3F68-EDC5-4415D92C8B83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6022492" y="3650984"/>
            <a:ext cx="85954" cy="85954"/>
          </a:xfrm>
          <a:prstGeom prst="rect">
            <a:avLst/>
          </a:prstGeom>
        </p:spPr>
      </p:pic>
      <p:sp>
        <p:nvSpPr>
          <p:cNvPr id="308" name="Text 35">
            <a:extLst>
              <a:ext uri="{FF2B5EF4-FFF2-40B4-BE49-F238E27FC236}">
                <a16:creationId xmlns:a16="http://schemas.microsoft.com/office/drawing/2014/main" id="{A0263F57-326F-C6BF-485A-8DB1EA72D3D9}"/>
              </a:ext>
            </a:extLst>
          </p:cNvPr>
          <p:cNvSpPr txBox="1"/>
          <p:nvPr/>
        </p:nvSpPr>
        <p:spPr>
          <a:xfrm>
            <a:off x="5678678" y="3922104"/>
            <a:ext cx="7818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Run Analytics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Text 36">
            <a:extLst>
              <a:ext uri="{FF2B5EF4-FFF2-40B4-BE49-F238E27FC236}">
                <a16:creationId xmlns:a16="http://schemas.microsoft.com/office/drawing/2014/main" id="{D2260BBB-61ED-3B98-50CF-72B4FF8F1CAB}"/>
              </a:ext>
            </a:extLst>
          </p:cNvPr>
          <p:cNvSpPr txBox="1"/>
          <p:nvPr/>
        </p:nvSpPr>
        <p:spPr>
          <a:xfrm>
            <a:off x="5678678" y="4074809"/>
            <a:ext cx="781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Metrics &amp; baselines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Shape 37">
            <a:extLst>
              <a:ext uri="{FF2B5EF4-FFF2-40B4-BE49-F238E27FC236}">
                <a16:creationId xmlns:a16="http://schemas.microsoft.com/office/drawing/2014/main" id="{D78C8D92-7E5B-8A78-0D7F-12FC5118720C}"/>
              </a:ext>
            </a:extLst>
          </p:cNvPr>
          <p:cNvSpPr/>
          <p:nvPr/>
        </p:nvSpPr>
        <p:spPr>
          <a:xfrm>
            <a:off x="6633312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4" name="Image 28" descr="gen-dedup-1c8c8ff20086cf99c29b6ae94e21952a.png">
            <a:extLst>
              <a:ext uri="{FF2B5EF4-FFF2-40B4-BE49-F238E27FC236}">
                <a16:creationId xmlns:a16="http://schemas.microsoft.com/office/drawing/2014/main" id="{809DFD16-6FF5-63FE-297F-EC07FA781448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6971640" y="3612122"/>
            <a:ext cx="267005" cy="267005"/>
          </a:xfrm>
          <a:prstGeom prst="rect">
            <a:avLst/>
          </a:prstGeom>
        </p:spPr>
      </p:pic>
      <p:pic>
        <p:nvPicPr>
          <p:cNvPr id="316" name="Image 29" descr="gen-dedup-22019a4691948cc4525f818ef824ae55.png">
            <a:extLst>
              <a:ext uri="{FF2B5EF4-FFF2-40B4-BE49-F238E27FC236}">
                <a16:creationId xmlns:a16="http://schemas.microsoft.com/office/drawing/2014/main" id="{BACE3136-31D8-6A90-C0E0-187720B1038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/>
        </p:blipFill>
        <p:spPr>
          <a:xfrm>
            <a:off x="7076796" y="3716364"/>
            <a:ext cx="57607" cy="57607"/>
          </a:xfrm>
          <a:prstGeom prst="rect">
            <a:avLst/>
          </a:prstGeom>
        </p:spPr>
      </p:pic>
      <p:sp>
        <p:nvSpPr>
          <p:cNvPr id="318" name="Text 38">
            <a:extLst>
              <a:ext uri="{FF2B5EF4-FFF2-40B4-BE49-F238E27FC236}">
                <a16:creationId xmlns:a16="http://schemas.microsoft.com/office/drawing/2014/main" id="{9B441A1C-0AB3-6530-5C68-E66944C97572}"/>
              </a:ext>
            </a:extLst>
          </p:cNvPr>
          <p:cNvSpPr txBox="1"/>
          <p:nvPr/>
        </p:nvSpPr>
        <p:spPr>
          <a:xfrm>
            <a:off x="6718351" y="3973310"/>
            <a:ext cx="7818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Search Memory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0" name="Text 39">
            <a:extLst>
              <a:ext uri="{FF2B5EF4-FFF2-40B4-BE49-F238E27FC236}">
                <a16:creationId xmlns:a16="http://schemas.microsoft.com/office/drawing/2014/main" id="{094A1B64-AC2A-E659-307B-F2F5EAECF193}"/>
              </a:ext>
            </a:extLst>
          </p:cNvPr>
          <p:cNvSpPr txBox="1"/>
          <p:nvPr/>
        </p:nvSpPr>
        <p:spPr>
          <a:xfrm>
            <a:off x="6718351" y="4126015"/>
            <a:ext cx="7818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Knowledge Bases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2" name="Shape 40">
            <a:extLst>
              <a:ext uri="{FF2B5EF4-FFF2-40B4-BE49-F238E27FC236}">
                <a16:creationId xmlns:a16="http://schemas.microsoft.com/office/drawing/2014/main" id="{1CB25F21-C5D5-081B-F3EB-147415FD77AC}"/>
              </a:ext>
            </a:extLst>
          </p:cNvPr>
          <p:cNvSpPr/>
          <p:nvPr/>
        </p:nvSpPr>
        <p:spPr>
          <a:xfrm>
            <a:off x="7672070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4" name="Image 30" descr="gen-dedup-8899667e770767a5bd315d3e903f7341.png">
            <a:extLst>
              <a:ext uri="{FF2B5EF4-FFF2-40B4-BE49-F238E27FC236}">
                <a16:creationId xmlns:a16="http://schemas.microsoft.com/office/drawing/2014/main" id="{1EEE62DB-2F6B-8DE1-E618-9ADC8646FF3F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8011312" y="3612122"/>
            <a:ext cx="267005" cy="267005"/>
          </a:xfrm>
          <a:prstGeom prst="rect">
            <a:avLst/>
          </a:prstGeom>
        </p:spPr>
      </p:pic>
      <p:pic>
        <p:nvPicPr>
          <p:cNvPr id="326" name="Image 31" descr="gen-dedup-fc88be6a5992841be87a7ab90e991538.png">
            <a:extLst>
              <a:ext uri="{FF2B5EF4-FFF2-40B4-BE49-F238E27FC236}">
                <a16:creationId xmlns:a16="http://schemas.microsoft.com/office/drawing/2014/main" id="{8F1B9F05-FB2C-FF52-C778-392B8FD526FA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/>
        </p:blipFill>
        <p:spPr>
          <a:xfrm>
            <a:off x="8106073" y="3692590"/>
            <a:ext cx="77483" cy="105156"/>
          </a:xfrm>
          <a:prstGeom prst="rect">
            <a:avLst/>
          </a:prstGeom>
        </p:spPr>
      </p:pic>
      <p:sp>
        <p:nvSpPr>
          <p:cNvPr id="328" name="Text 41">
            <a:extLst>
              <a:ext uri="{FF2B5EF4-FFF2-40B4-BE49-F238E27FC236}">
                <a16:creationId xmlns:a16="http://schemas.microsoft.com/office/drawing/2014/main" id="{5CDA1B9B-495F-9FD1-7641-DDB1DED01828}"/>
              </a:ext>
            </a:extLst>
          </p:cNvPr>
          <p:cNvSpPr txBox="1"/>
          <p:nvPr/>
        </p:nvSpPr>
        <p:spPr>
          <a:xfrm>
            <a:off x="7758024" y="3973310"/>
            <a:ext cx="7818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Draft Rec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Text 42">
            <a:extLst>
              <a:ext uri="{FF2B5EF4-FFF2-40B4-BE49-F238E27FC236}">
                <a16:creationId xmlns:a16="http://schemas.microsoft.com/office/drawing/2014/main" id="{E20A703E-E087-8954-0F9B-41BBB6E754C1}"/>
              </a:ext>
            </a:extLst>
          </p:cNvPr>
          <p:cNvSpPr txBox="1"/>
          <p:nvPr/>
        </p:nvSpPr>
        <p:spPr>
          <a:xfrm>
            <a:off x="7758024" y="4126015"/>
            <a:ext cx="7818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LLM via Bedrock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Shape 43">
            <a:extLst>
              <a:ext uri="{FF2B5EF4-FFF2-40B4-BE49-F238E27FC236}">
                <a16:creationId xmlns:a16="http://schemas.microsoft.com/office/drawing/2014/main" id="{EE3F6B7E-8E78-D593-287E-EDEB3036AA11}"/>
              </a:ext>
            </a:extLst>
          </p:cNvPr>
          <p:cNvSpPr/>
          <p:nvPr/>
        </p:nvSpPr>
        <p:spPr>
          <a:xfrm>
            <a:off x="3511550" y="4839247"/>
            <a:ext cx="5105095" cy="409651"/>
          </a:xfrm>
          <a:prstGeom prst="roundRect">
            <a:avLst>
              <a:gd name="adj" fmla="val 23214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4" name="Image 32" descr="gen-dedup-2a4860cf039a263848e7a7ad82ef13b2.png">
            <a:extLst>
              <a:ext uri="{FF2B5EF4-FFF2-40B4-BE49-F238E27FC236}">
                <a16:creationId xmlns:a16="http://schemas.microsoft.com/office/drawing/2014/main" id="{AA37F25A-16E5-2F8D-083F-9C5C06C2D34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/>
        </p:blipFill>
        <p:spPr>
          <a:xfrm>
            <a:off x="3683457" y="5001553"/>
            <a:ext cx="85954" cy="85954"/>
          </a:xfrm>
          <a:prstGeom prst="rect">
            <a:avLst/>
          </a:prstGeom>
        </p:spPr>
      </p:pic>
      <p:sp>
        <p:nvSpPr>
          <p:cNvPr id="336" name="Text 44">
            <a:extLst>
              <a:ext uri="{FF2B5EF4-FFF2-40B4-BE49-F238E27FC236}">
                <a16:creationId xmlns:a16="http://schemas.microsoft.com/office/drawing/2014/main" id="{2F7CA464-2586-01BA-8504-874036B4495C}"/>
              </a:ext>
            </a:extLst>
          </p:cNvPr>
          <p:cNvSpPr txBox="1"/>
          <p:nvPr/>
        </p:nvSpPr>
        <p:spPr>
          <a:xfrm>
            <a:off x="3845306" y="4972750"/>
            <a:ext cx="144018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Security: Cognito/IAM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" name="Text 45">
            <a:extLst>
              <a:ext uri="{FF2B5EF4-FFF2-40B4-BE49-F238E27FC236}">
                <a16:creationId xmlns:a16="http://schemas.microsoft.com/office/drawing/2014/main" id="{6434F08D-6D0E-A907-0A7F-BA164EED2D98}"/>
              </a:ext>
            </a:extLst>
          </p:cNvPr>
          <p:cNvSpPr txBox="1"/>
          <p:nvPr/>
        </p:nvSpPr>
        <p:spPr>
          <a:xfrm>
            <a:off x="5320233" y="4972750"/>
            <a:ext cx="176845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Encryption at rest/in transit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0" name="Text 46">
            <a:extLst>
              <a:ext uri="{FF2B5EF4-FFF2-40B4-BE49-F238E27FC236}">
                <a16:creationId xmlns:a16="http://schemas.microsoft.com/office/drawing/2014/main" id="{9770EC22-80B5-EA51-77C5-AAB91AAE1C9A}"/>
              </a:ext>
            </a:extLst>
          </p:cNvPr>
          <p:cNvSpPr txBox="1"/>
          <p:nvPr/>
        </p:nvSpPr>
        <p:spPr>
          <a:xfrm>
            <a:off x="7068566" y="4972750"/>
            <a:ext cx="7690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Audit logs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Text 47">
            <a:extLst>
              <a:ext uri="{FF2B5EF4-FFF2-40B4-BE49-F238E27FC236}">
                <a16:creationId xmlns:a16="http://schemas.microsoft.com/office/drawing/2014/main" id="{AA4EF9B7-BCC7-C447-9007-159321F4EAA3}"/>
              </a:ext>
            </a:extLst>
          </p:cNvPr>
          <p:cNvSpPr txBox="1"/>
          <p:nvPr/>
        </p:nvSpPr>
        <p:spPr>
          <a:xfrm>
            <a:off x="7660183" y="4972750"/>
            <a:ext cx="96926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RBAC enabled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4" name="Image 33" descr="gen-dedup-64dad604931dd69f3ab194324ee3fd90.png">
            <a:extLst>
              <a:ext uri="{FF2B5EF4-FFF2-40B4-BE49-F238E27FC236}">
                <a16:creationId xmlns:a16="http://schemas.microsoft.com/office/drawing/2014/main" id="{8B810CDD-2541-302C-4D52-1E6B2067DD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9036355" y="1286803"/>
            <a:ext cx="2667305" cy="4190695"/>
          </a:xfrm>
          <a:prstGeom prst="rect">
            <a:avLst/>
          </a:prstGeom>
        </p:spPr>
      </p:pic>
      <p:pic>
        <p:nvPicPr>
          <p:cNvPr id="346" name="Image 34" descr="gen-dedup-0f0d75fa47667f4d113b31859149b8bf.png">
            <a:extLst>
              <a:ext uri="{FF2B5EF4-FFF2-40B4-BE49-F238E27FC236}">
                <a16:creationId xmlns:a16="http://schemas.microsoft.com/office/drawing/2014/main" id="{8FDB7C9D-923A-1A53-451E-92FC7D17471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/>
        </p:blipFill>
        <p:spPr>
          <a:xfrm>
            <a:off x="9226550" y="1549236"/>
            <a:ext cx="114300" cy="114300"/>
          </a:xfrm>
          <a:prstGeom prst="rect">
            <a:avLst/>
          </a:prstGeom>
        </p:spPr>
      </p:pic>
      <p:sp>
        <p:nvSpPr>
          <p:cNvPr id="348" name="Text 48">
            <a:extLst>
              <a:ext uri="{FF2B5EF4-FFF2-40B4-BE49-F238E27FC236}">
                <a16:creationId xmlns:a16="http://schemas.microsoft.com/office/drawing/2014/main" id="{E24D8C19-7AB9-33FA-EF94-304D055D6A4A}"/>
              </a:ext>
            </a:extLst>
          </p:cNvPr>
          <p:cNvSpPr txBox="1"/>
          <p:nvPr/>
        </p:nvSpPr>
        <p:spPr>
          <a:xfrm>
            <a:off x="9435948" y="1515403"/>
            <a:ext cx="68854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Outputs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" name="Shape 49">
            <a:extLst>
              <a:ext uri="{FF2B5EF4-FFF2-40B4-BE49-F238E27FC236}">
                <a16:creationId xmlns:a16="http://schemas.microsoft.com/office/drawing/2014/main" id="{F211B66B-0121-45C5-313C-99CB3450E1DB}"/>
              </a:ext>
            </a:extLst>
          </p:cNvPr>
          <p:cNvSpPr/>
          <p:nvPr/>
        </p:nvSpPr>
        <p:spPr>
          <a:xfrm>
            <a:off x="9226550" y="1886650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Shape 50">
            <a:extLst>
              <a:ext uri="{FF2B5EF4-FFF2-40B4-BE49-F238E27FC236}">
                <a16:creationId xmlns:a16="http://schemas.microsoft.com/office/drawing/2014/main" id="{FCC9432C-2450-2A43-131B-BD0FC3389378}"/>
              </a:ext>
            </a:extLst>
          </p:cNvPr>
          <p:cNvSpPr/>
          <p:nvPr/>
        </p:nvSpPr>
        <p:spPr>
          <a:xfrm>
            <a:off x="9226550" y="1886650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4" name="Image 35" descr="gen-dedup-be818896e6fb24162976f6523ac05c5e.png">
            <a:extLst>
              <a:ext uri="{FF2B5EF4-FFF2-40B4-BE49-F238E27FC236}">
                <a16:creationId xmlns:a16="http://schemas.microsoft.com/office/drawing/2014/main" id="{CDF0D429-1425-FB6A-3F54-D2593D42C0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416745" y="2000950"/>
            <a:ext cx="304495" cy="304495"/>
          </a:xfrm>
          <a:prstGeom prst="rect">
            <a:avLst/>
          </a:prstGeom>
        </p:spPr>
      </p:pic>
      <p:pic>
        <p:nvPicPr>
          <p:cNvPr id="356" name="Image 36" descr="gen-dedup-892aa39e7805546dc604f5d7761cc3cb.png">
            <a:extLst>
              <a:ext uri="{FF2B5EF4-FFF2-40B4-BE49-F238E27FC236}">
                <a16:creationId xmlns:a16="http://schemas.microsoft.com/office/drawing/2014/main" id="{A7C10A56-67AF-B583-3CC5-5B613FF5792C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/>
        </p:blipFill>
        <p:spPr>
          <a:xfrm>
            <a:off x="9521901" y="2105648"/>
            <a:ext cx="95098" cy="95098"/>
          </a:xfrm>
          <a:prstGeom prst="rect">
            <a:avLst/>
          </a:prstGeom>
        </p:spPr>
      </p:pic>
      <p:sp>
        <p:nvSpPr>
          <p:cNvPr id="358" name="Text 51">
            <a:extLst>
              <a:ext uri="{FF2B5EF4-FFF2-40B4-BE49-F238E27FC236}">
                <a16:creationId xmlns:a16="http://schemas.microsoft.com/office/drawing/2014/main" id="{5046D98A-35B2-D51E-A346-F41342FEDCE1}"/>
              </a:ext>
            </a:extLst>
          </p:cNvPr>
          <p:cNvSpPr txBox="1"/>
          <p:nvPr/>
        </p:nvSpPr>
        <p:spPr>
          <a:xfrm>
            <a:off x="9836455" y="2005522"/>
            <a:ext cx="176204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Prepared Event Dashboard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0" name="Text 52">
            <a:extLst>
              <a:ext uri="{FF2B5EF4-FFF2-40B4-BE49-F238E27FC236}">
                <a16:creationId xmlns:a16="http://schemas.microsoft.com/office/drawing/2014/main" id="{BAD8D471-E01A-5C2A-EB37-A2B428771D2B}"/>
              </a:ext>
            </a:extLst>
          </p:cNvPr>
          <p:cNvSpPr txBox="1"/>
          <p:nvPr/>
        </p:nvSpPr>
        <p:spPr>
          <a:xfrm>
            <a:off x="9836455" y="2167370"/>
            <a:ext cx="175839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Pre-analyzed incident ready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" name="Shape 53">
            <a:extLst>
              <a:ext uri="{FF2B5EF4-FFF2-40B4-BE49-F238E27FC236}">
                <a16:creationId xmlns:a16="http://schemas.microsoft.com/office/drawing/2014/main" id="{43FBE0B3-314F-430D-A91B-FFAF33B90C32}"/>
              </a:ext>
            </a:extLst>
          </p:cNvPr>
          <p:cNvSpPr/>
          <p:nvPr/>
        </p:nvSpPr>
        <p:spPr>
          <a:xfrm>
            <a:off x="9226550" y="2534959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4" name="Shape 54">
            <a:extLst>
              <a:ext uri="{FF2B5EF4-FFF2-40B4-BE49-F238E27FC236}">
                <a16:creationId xmlns:a16="http://schemas.microsoft.com/office/drawing/2014/main" id="{8D5CC20F-2C79-CF19-AEC5-ADA167DC01F8}"/>
              </a:ext>
            </a:extLst>
          </p:cNvPr>
          <p:cNvSpPr/>
          <p:nvPr/>
        </p:nvSpPr>
        <p:spPr>
          <a:xfrm>
            <a:off x="9226550" y="2534959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6" name="Image 37" descr="gen-dedup-b26fc2c7d1873e5f66057f1b99347aee.png">
            <a:extLst>
              <a:ext uri="{FF2B5EF4-FFF2-40B4-BE49-F238E27FC236}">
                <a16:creationId xmlns:a16="http://schemas.microsoft.com/office/drawing/2014/main" id="{D1822779-E9A1-B96A-D3FD-44B0C7F07B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16745" y="2649259"/>
            <a:ext cx="304495" cy="304495"/>
          </a:xfrm>
          <a:prstGeom prst="rect">
            <a:avLst/>
          </a:prstGeom>
        </p:spPr>
      </p:pic>
      <p:pic>
        <p:nvPicPr>
          <p:cNvPr id="368" name="Image 38" descr="gen-dedup-ab186984bb5d998e3ce7dc417b93ae49.png">
            <a:extLst>
              <a:ext uri="{FF2B5EF4-FFF2-40B4-BE49-F238E27FC236}">
                <a16:creationId xmlns:a16="http://schemas.microsoft.com/office/drawing/2014/main" id="{1DDB8793-0ABA-1D5E-F2B4-8CED287EF769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/>
        </p:blipFill>
        <p:spPr>
          <a:xfrm>
            <a:off x="9521901" y="2744892"/>
            <a:ext cx="95098" cy="111400"/>
          </a:xfrm>
          <a:prstGeom prst="rect">
            <a:avLst/>
          </a:prstGeom>
        </p:spPr>
      </p:pic>
      <p:sp>
        <p:nvSpPr>
          <p:cNvPr id="370" name="Text 55">
            <a:extLst>
              <a:ext uri="{FF2B5EF4-FFF2-40B4-BE49-F238E27FC236}">
                <a16:creationId xmlns:a16="http://schemas.microsoft.com/office/drawing/2014/main" id="{E915CC8E-09E0-7EC7-2C6B-3BB9E1D617A1}"/>
              </a:ext>
            </a:extLst>
          </p:cNvPr>
          <p:cNvSpPr txBox="1"/>
          <p:nvPr/>
        </p:nvSpPr>
        <p:spPr>
          <a:xfrm>
            <a:off x="9836455" y="2653831"/>
            <a:ext cx="169164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Notification to Analyst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2" name="Text 56">
            <a:extLst>
              <a:ext uri="{FF2B5EF4-FFF2-40B4-BE49-F238E27FC236}">
                <a16:creationId xmlns:a16="http://schemas.microsoft.com/office/drawing/2014/main" id="{86FDB82E-6206-85D0-F672-48D635C1F5D3}"/>
              </a:ext>
            </a:extLst>
          </p:cNvPr>
          <p:cNvSpPr txBox="1"/>
          <p:nvPr/>
        </p:nvSpPr>
        <p:spPr>
          <a:xfrm>
            <a:off x="9836455" y="2815680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In-app + email alerts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4" name="Shape 57">
            <a:extLst>
              <a:ext uri="{FF2B5EF4-FFF2-40B4-BE49-F238E27FC236}">
                <a16:creationId xmlns:a16="http://schemas.microsoft.com/office/drawing/2014/main" id="{F534FBB8-15A3-C4CA-4607-237674B1C637}"/>
              </a:ext>
            </a:extLst>
          </p:cNvPr>
          <p:cNvSpPr/>
          <p:nvPr/>
        </p:nvSpPr>
        <p:spPr>
          <a:xfrm>
            <a:off x="9226550" y="3182354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6" name="Shape 58">
            <a:extLst>
              <a:ext uri="{FF2B5EF4-FFF2-40B4-BE49-F238E27FC236}">
                <a16:creationId xmlns:a16="http://schemas.microsoft.com/office/drawing/2014/main" id="{03CB33A1-907B-919A-1D74-A9D58901922A}"/>
              </a:ext>
            </a:extLst>
          </p:cNvPr>
          <p:cNvSpPr/>
          <p:nvPr/>
        </p:nvSpPr>
        <p:spPr>
          <a:xfrm>
            <a:off x="9226550" y="3182354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8" name="Image 39" descr="gen-dedup-3b2e84948980196448fbc017596c33d5.png">
            <a:extLst>
              <a:ext uri="{FF2B5EF4-FFF2-40B4-BE49-F238E27FC236}">
                <a16:creationId xmlns:a16="http://schemas.microsoft.com/office/drawing/2014/main" id="{3366DDB5-A785-E461-5428-646F3F2B695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16745" y="3296654"/>
            <a:ext cx="304495" cy="304495"/>
          </a:xfrm>
          <a:prstGeom prst="rect">
            <a:avLst/>
          </a:prstGeom>
        </p:spPr>
      </p:pic>
      <p:pic>
        <p:nvPicPr>
          <p:cNvPr id="380" name="Image 40" descr="gen-dedup-dc408230497e128077e36d5c78b13b6d.png">
            <a:extLst>
              <a:ext uri="{FF2B5EF4-FFF2-40B4-BE49-F238E27FC236}">
                <a16:creationId xmlns:a16="http://schemas.microsoft.com/office/drawing/2014/main" id="{615D7C71-47A4-D87E-FBE9-DA9120CEA178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/>
        </p:blipFill>
        <p:spPr>
          <a:xfrm>
            <a:off x="9521901" y="3393202"/>
            <a:ext cx="95098" cy="111400"/>
          </a:xfrm>
          <a:prstGeom prst="rect">
            <a:avLst/>
          </a:prstGeom>
        </p:spPr>
      </p:pic>
      <p:sp>
        <p:nvSpPr>
          <p:cNvPr id="382" name="Text 59">
            <a:extLst>
              <a:ext uri="{FF2B5EF4-FFF2-40B4-BE49-F238E27FC236}">
                <a16:creationId xmlns:a16="http://schemas.microsoft.com/office/drawing/2014/main" id="{EE6A4528-0CFC-039C-DE28-2FE51D80F336}"/>
              </a:ext>
            </a:extLst>
          </p:cNvPr>
          <p:cNvSpPr txBox="1"/>
          <p:nvPr/>
        </p:nvSpPr>
        <p:spPr>
          <a:xfrm>
            <a:off x="9836455" y="3301226"/>
            <a:ext cx="162031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Populated Memory Store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4" name="Text 60">
            <a:extLst>
              <a:ext uri="{FF2B5EF4-FFF2-40B4-BE49-F238E27FC236}">
                <a16:creationId xmlns:a16="http://schemas.microsoft.com/office/drawing/2014/main" id="{60BD21D3-3B0B-D2E0-7F01-964EF48164AA}"/>
              </a:ext>
            </a:extLst>
          </p:cNvPr>
          <p:cNvSpPr txBox="1"/>
          <p:nvPr/>
        </p:nvSpPr>
        <p:spPr>
          <a:xfrm>
            <a:off x="9836455" y="3463075"/>
            <a:ext cx="163311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+ decision tracking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3D7BAD-DF09-9ABB-1B66-BF85669BCABB}"/>
              </a:ext>
            </a:extLst>
          </p:cNvPr>
          <p:cNvSpPr/>
          <p:nvPr/>
        </p:nvSpPr>
        <p:spPr>
          <a:xfrm>
            <a:off x="502920" y="5760720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3B147-7B4B-8A50-DF11-F4DB62E5C5A8}"/>
              </a:ext>
            </a:extLst>
          </p:cNvPr>
          <p:cNvSpPr txBox="1"/>
          <p:nvPr/>
        </p:nvSpPr>
        <p:spPr>
          <a:xfrm>
            <a:off x="502920" y="5842570"/>
            <a:ext cx="11155680" cy="220347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⚡   The agent </a:t>
            </a:r>
            <a:r>
              <a:rPr lang="en-US" sz="1150" b="1" i="0">
                <a:solidFill>
                  <a:srgbClr val="FFFFFF"/>
                </a:solidFill>
                <a:latin typeface="Arial"/>
              </a:rPr>
              <a:t>monitors emails and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kicks off from the </a:t>
            </a:r>
            <a:r>
              <a:rPr lang="en-US" sz="1150" b="1" i="0">
                <a:solidFill>
                  <a:srgbClr val="FFFFFF"/>
                </a:solidFill>
                <a:latin typeface="Arial"/>
              </a:rPr>
              <a:t>SafetyNet Signals</a:t>
            </a:r>
            <a:r>
              <a:rPr sz="1150" b="1" i="0">
                <a:solidFill>
                  <a:srgbClr val="FFFFFF"/>
                </a:solidFill>
                <a:latin typeface="Arial"/>
              </a:rPr>
              <a:t> and does the data pull</a:t>
            </a:r>
            <a:r>
              <a:rPr lang="en-US" sz="1150" b="1" i="0">
                <a:solidFill>
                  <a:srgbClr val="FFFFFF"/>
                </a:solidFill>
                <a:latin typeface="Arial"/>
              </a:rPr>
              <a:t> from DB/</a:t>
            </a:r>
            <a:r>
              <a:rPr lang="en-US" sz="1150" b="1" i="0" err="1">
                <a:solidFill>
                  <a:srgbClr val="FFFFFF"/>
                </a:solidFill>
                <a:latin typeface="Arial"/>
              </a:rPr>
              <a:t>Datalake</a:t>
            </a:r>
            <a:endParaRPr sz="1150" b="1" i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6829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55600"/>
            <a:ext cx="68687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AWS Architecture for POC (illustrative stack)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727761"/>
            <a:ext cx="6039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Complete AWS service architecture for TRT Analysis &amp; Operational Copilot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7" r="-7"/>
          <a:stretch/>
        </p:blipFill>
        <p:spPr>
          <a:xfrm>
            <a:off x="457200" y="1361541"/>
            <a:ext cx="2164385" cy="454365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905" y="1552651"/>
            <a:ext cx="342900" cy="3429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16800" b="-16800"/>
          <a:stretch/>
        </p:blipFill>
        <p:spPr>
          <a:xfrm>
            <a:off x="724205" y="1647749"/>
            <a:ext cx="114300" cy="15270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47902" y="1637690"/>
            <a:ext cx="131399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TRT Signal Detection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609905" y="2200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609905" y="2200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2419502"/>
            <a:ext cx="228600" cy="22860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rcRect t="-8178" b="-8178"/>
          <a:stretch/>
        </p:blipFill>
        <p:spPr>
          <a:xfrm>
            <a:off x="814730" y="2476195"/>
            <a:ext cx="85954" cy="114300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1067105" y="2394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Amazon S3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8"/>
          <p:cNvSpPr txBox="1"/>
          <p:nvPr/>
        </p:nvSpPr>
        <p:spPr>
          <a:xfrm>
            <a:off x="1067105" y="2557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TRT Excel storage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609905" y="296174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609905" y="296174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3181197"/>
            <a:ext cx="228600" cy="228600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rcRect t="-33111" b="-33111"/>
          <a:stretch/>
        </p:blipFill>
        <p:spPr>
          <a:xfrm>
            <a:off x="814730" y="3237890"/>
            <a:ext cx="85954" cy="1143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1067105" y="315742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Bridge &amp; Lambda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2"/>
          <p:cNvSpPr txBox="1"/>
          <p:nvPr/>
        </p:nvSpPr>
        <p:spPr>
          <a:xfrm>
            <a:off x="1058875" y="3350361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Signal routing and Agent activation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09905" y="372435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609905" y="372435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3942893"/>
            <a:ext cx="228600" cy="228600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814730" y="4000500"/>
            <a:ext cx="85954" cy="1143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1067105" y="3919118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AWS Glue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6"/>
          <p:cNvSpPr txBox="1"/>
          <p:nvPr/>
        </p:nvSpPr>
        <p:spPr>
          <a:xfrm>
            <a:off x="1067105" y="408096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extraction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609905" y="4486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18"/>
          <p:cNvSpPr/>
          <p:nvPr/>
        </p:nvSpPr>
        <p:spPr>
          <a:xfrm>
            <a:off x="609905" y="4486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3407" y="4705502"/>
            <a:ext cx="228600" cy="228600"/>
          </a:xfrm>
          <a:prstGeom prst="rect">
            <a:avLst/>
          </a:prstGeom>
        </p:spPr>
      </p:pic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1"/>
          <a:srcRect t="-16489" b="-16489"/>
          <a:stretch/>
        </p:blipFill>
        <p:spPr>
          <a:xfrm>
            <a:off x="814730" y="4762195"/>
            <a:ext cx="85954" cy="114300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1067105" y="4680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Validation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0"/>
          <p:cNvSpPr txBox="1"/>
          <p:nvPr/>
        </p:nvSpPr>
        <p:spPr>
          <a:xfrm>
            <a:off x="1067105" y="4843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Schema parsing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21"/>
          <p:cNvSpPr/>
          <p:nvPr/>
        </p:nvSpPr>
        <p:spPr>
          <a:xfrm>
            <a:off x="609905" y="5295290"/>
            <a:ext cx="1867205" cy="418795"/>
          </a:xfrm>
          <a:prstGeom prst="roundRect">
            <a:avLst>
              <a:gd name="adj" fmla="val 59547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22"/>
          <p:cNvSpPr txBox="1"/>
          <p:nvPr/>
        </p:nvSpPr>
        <p:spPr>
          <a:xfrm>
            <a:off x="705002" y="537210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23"/>
          <p:cNvSpPr txBox="1"/>
          <p:nvPr/>
        </p:nvSpPr>
        <p:spPr>
          <a:xfrm>
            <a:off x="705002" y="5523890"/>
            <a:ext cx="160202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Upload → S3 → Lambda → Glue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2735885" y="1361541"/>
            <a:ext cx="2164385" cy="4543654"/>
          </a:xfrm>
          <a:prstGeom prst="rect">
            <a:avLst/>
          </a:prstGeom>
        </p:spPr>
      </p:pic>
      <p:sp>
        <p:nvSpPr>
          <p:cNvPr id="39" name="Shape 24"/>
          <p:cNvSpPr/>
          <p:nvPr/>
        </p:nvSpPr>
        <p:spPr>
          <a:xfrm>
            <a:off x="288767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887675" y="1552651"/>
            <a:ext cx="342900" cy="342900"/>
          </a:xfrm>
          <a:prstGeom prst="rect">
            <a:avLst/>
          </a:prstGeom>
        </p:spPr>
      </p:pic>
      <p:pic>
        <p:nvPicPr>
          <p:cNvPr id="41" name="Image 14" descr="preencoded.png"/>
          <p:cNvPicPr>
            <a:picLocks noChangeAspect="1"/>
          </p:cNvPicPr>
          <p:nvPr/>
        </p:nvPicPr>
        <p:blipFill>
          <a:blip r:embed="rId14"/>
          <a:srcRect t="-33500" b="-33500"/>
          <a:stretch/>
        </p:blipFill>
        <p:spPr>
          <a:xfrm>
            <a:off x="3001975" y="1647749"/>
            <a:ext cx="114300" cy="152705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3325673" y="1637690"/>
            <a:ext cx="10387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ETL &amp; Query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26"/>
          <p:cNvSpPr/>
          <p:nvPr/>
        </p:nvSpPr>
        <p:spPr>
          <a:xfrm>
            <a:off x="2887675" y="22000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27"/>
          <p:cNvSpPr/>
          <p:nvPr/>
        </p:nvSpPr>
        <p:spPr>
          <a:xfrm>
            <a:off x="2887675" y="22000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5" name="Image 1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2437790"/>
            <a:ext cx="228600" cy="228600"/>
          </a:xfrm>
          <a:prstGeom prst="rect">
            <a:avLst/>
          </a:prstGeom>
        </p:spPr>
      </p:pic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15"/>
          <a:srcRect t="-16489" b="-16489"/>
          <a:stretch/>
        </p:blipFill>
        <p:spPr>
          <a:xfrm>
            <a:off x="3092501" y="2495397"/>
            <a:ext cx="85954" cy="114300"/>
          </a:xfrm>
          <a:prstGeom prst="rect">
            <a:avLst/>
          </a:prstGeom>
        </p:spPr>
      </p:pic>
      <p:sp>
        <p:nvSpPr>
          <p:cNvPr id="47" name="Text 28"/>
          <p:cNvSpPr txBox="1"/>
          <p:nvPr/>
        </p:nvSpPr>
        <p:spPr>
          <a:xfrm>
            <a:off x="3344875" y="24140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Amazon Athena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29"/>
          <p:cNvSpPr txBox="1"/>
          <p:nvPr/>
        </p:nvSpPr>
        <p:spPr>
          <a:xfrm>
            <a:off x="3337560" y="260158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Query uploaded data, transaction stores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30"/>
          <p:cNvSpPr/>
          <p:nvPr/>
        </p:nvSpPr>
        <p:spPr>
          <a:xfrm>
            <a:off x="2887675" y="30001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31"/>
          <p:cNvSpPr/>
          <p:nvPr/>
        </p:nvSpPr>
        <p:spPr>
          <a:xfrm>
            <a:off x="2887675" y="30001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3237890"/>
            <a:ext cx="228600" cy="228600"/>
          </a:xfrm>
          <a:prstGeom prst="rect">
            <a:avLst/>
          </a:prstGeom>
        </p:spPr>
      </p:pic>
      <p:pic>
        <p:nvPicPr>
          <p:cNvPr id="52" name="Image 18" descr="preencoded.png"/>
          <p:cNvPicPr>
            <a:picLocks noChangeAspect="1"/>
          </p:cNvPicPr>
          <p:nvPr/>
        </p:nvPicPr>
        <p:blipFill>
          <a:blip r:embed="rId16"/>
          <a:srcRect t="-16489" b="-16489"/>
          <a:stretch/>
        </p:blipFill>
        <p:spPr>
          <a:xfrm>
            <a:off x="3092501" y="3295497"/>
            <a:ext cx="85954" cy="114300"/>
          </a:xfrm>
          <a:prstGeom prst="rect">
            <a:avLst/>
          </a:prstGeom>
        </p:spPr>
      </p:pic>
      <p:sp>
        <p:nvSpPr>
          <p:cNvPr id="53" name="Text 32"/>
          <p:cNvSpPr txBox="1"/>
          <p:nvPr/>
        </p:nvSpPr>
        <p:spPr>
          <a:xfrm>
            <a:off x="3344875" y="32141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DynamoDB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33"/>
          <p:cNvSpPr txBox="1"/>
          <p:nvPr/>
        </p:nvSpPr>
        <p:spPr>
          <a:xfrm>
            <a:off x="3344875" y="33759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metadata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34"/>
          <p:cNvSpPr/>
          <p:nvPr/>
        </p:nvSpPr>
        <p:spPr>
          <a:xfrm>
            <a:off x="2887675" y="38002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35"/>
          <p:cNvSpPr/>
          <p:nvPr/>
        </p:nvSpPr>
        <p:spPr>
          <a:xfrm>
            <a:off x="2887675" y="38002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Image 1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4037990"/>
            <a:ext cx="228600" cy="228600"/>
          </a:xfrm>
          <a:prstGeom prst="rect">
            <a:avLst/>
          </a:prstGeom>
        </p:spPr>
      </p:pic>
      <p:pic>
        <p:nvPicPr>
          <p:cNvPr id="58" name="Image 20" descr="preencoded.png"/>
          <p:cNvPicPr>
            <a:picLocks noChangeAspect="1"/>
          </p:cNvPicPr>
          <p:nvPr/>
        </p:nvPicPr>
        <p:blipFill>
          <a:blip r:embed="rId17"/>
          <a:srcRect t="-16489" b="-16489"/>
          <a:stretch/>
        </p:blipFill>
        <p:spPr>
          <a:xfrm>
            <a:off x="3092501" y="4095597"/>
            <a:ext cx="85954" cy="114300"/>
          </a:xfrm>
          <a:prstGeom prst="rect">
            <a:avLst/>
          </a:prstGeom>
        </p:spPr>
      </p:pic>
      <p:sp>
        <p:nvSpPr>
          <p:cNvPr id="59" name="Text 36"/>
          <p:cNvSpPr txBox="1"/>
          <p:nvPr/>
        </p:nvSpPr>
        <p:spPr>
          <a:xfrm>
            <a:off x="3344875" y="40142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AWS Glue ETL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37"/>
          <p:cNvSpPr txBox="1"/>
          <p:nvPr/>
        </p:nvSpPr>
        <p:spPr>
          <a:xfrm>
            <a:off x="3344875" y="41760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Transform data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38"/>
          <p:cNvSpPr/>
          <p:nvPr/>
        </p:nvSpPr>
        <p:spPr>
          <a:xfrm>
            <a:off x="2887675" y="46003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39"/>
          <p:cNvSpPr/>
          <p:nvPr/>
        </p:nvSpPr>
        <p:spPr>
          <a:xfrm>
            <a:off x="2887675" y="46003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3" name="Image 2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21178" y="4838090"/>
            <a:ext cx="228600" cy="228600"/>
          </a:xfrm>
          <a:prstGeom prst="rect">
            <a:avLst/>
          </a:prstGeom>
        </p:spPr>
      </p:pic>
      <p:pic>
        <p:nvPicPr>
          <p:cNvPr id="64" name="Image 22" descr="preencoded.png"/>
          <p:cNvPicPr>
            <a:picLocks noChangeAspect="1"/>
          </p:cNvPicPr>
          <p:nvPr/>
        </p:nvPicPr>
        <p:blipFill>
          <a:blip r:embed="rId18"/>
          <a:srcRect t="-16489" b="-16489"/>
          <a:stretch/>
        </p:blipFill>
        <p:spPr>
          <a:xfrm>
            <a:off x="3092501" y="4895697"/>
            <a:ext cx="85954" cy="114300"/>
          </a:xfrm>
          <a:prstGeom prst="rect">
            <a:avLst/>
          </a:prstGeom>
        </p:spPr>
      </p:pic>
      <p:sp>
        <p:nvSpPr>
          <p:cNvPr id="65" name="Text 40"/>
          <p:cNvSpPr txBox="1"/>
          <p:nvPr/>
        </p:nvSpPr>
        <p:spPr>
          <a:xfrm>
            <a:off x="3344875" y="48143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Pipeline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41"/>
          <p:cNvSpPr txBox="1"/>
          <p:nvPr/>
        </p:nvSpPr>
        <p:spPr>
          <a:xfrm>
            <a:off x="3344875" y="49761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Orchestration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Shape 42"/>
          <p:cNvSpPr/>
          <p:nvPr/>
        </p:nvSpPr>
        <p:spPr>
          <a:xfrm>
            <a:off x="2887675" y="5447995"/>
            <a:ext cx="1867205" cy="267005"/>
          </a:xfrm>
          <a:prstGeom prst="roundRect">
            <a:avLst>
              <a:gd name="adj" fmla="val 146771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43"/>
          <p:cNvSpPr txBox="1"/>
          <p:nvPr/>
        </p:nvSpPr>
        <p:spPr>
          <a:xfrm>
            <a:off x="2982773" y="552389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44"/>
          <p:cNvSpPr txBox="1"/>
          <p:nvPr/>
        </p:nvSpPr>
        <p:spPr>
          <a:xfrm>
            <a:off x="3272638" y="5523890"/>
            <a:ext cx="142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Glue → Athena → DynamoDB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0" name="Image 23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5013655" y="1361541"/>
            <a:ext cx="2164385" cy="4543654"/>
          </a:xfrm>
          <a:prstGeom prst="rect">
            <a:avLst/>
          </a:prstGeom>
        </p:spPr>
      </p:pic>
      <p:sp>
        <p:nvSpPr>
          <p:cNvPr id="71" name="Shape 45"/>
          <p:cNvSpPr/>
          <p:nvPr/>
        </p:nvSpPr>
        <p:spPr>
          <a:xfrm>
            <a:off x="5166360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2" name="Image 24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166360" y="1552651"/>
            <a:ext cx="342900" cy="342900"/>
          </a:xfrm>
          <a:prstGeom prst="rect">
            <a:avLst/>
          </a:prstGeom>
        </p:spPr>
      </p:pic>
      <p:pic>
        <p:nvPicPr>
          <p:cNvPr id="73" name="Image 25" descr="preencoded.png"/>
          <p:cNvPicPr>
            <a:picLocks noChangeAspect="1"/>
          </p:cNvPicPr>
          <p:nvPr/>
        </p:nvPicPr>
        <p:blipFill>
          <a:blip r:embed="rId20"/>
          <a:srcRect t="-33500" b="-33500"/>
          <a:stretch/>
        </p:blipFill>
        <p:spPr>
          <a:xfrm>
            <a:off x="5280660" y="1647749"/>
            <a:ext cx="114300" cy="152705"/>
          </a:xfrm>
          <a:prstGeom prst="rect">
            <a:avLst/>
          </a:prstGeom>
        </p:spPr>
      </p:pic>
      <p:sp>
        <p:nvSpPr>
          <p:cNvPr id="74" name="Text 46"/>
          <p:cNvSpPr txBox="1"/>
          <p:nvPr/>
        </p:nvSpPr>
        <p:spPr>
          <a:xfrm>
            <a:off x="5604358" y="1637690"/>
            <a:ext cx="93726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Agentic AI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47"/>
          <p:cNvSpPr/>
          <p:nvPr/>
        </p:nvSpPr>
        <p:spPr>
          <a:xfrm>
            <a:off x="5166360" y="2200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48"/>
          <p:cNvSpPr/>
          <p:nvPr/>
        </p:nvSpPr>
        <p:spPr>
          <a:xfrm>
            <a:off x="5166360" y="2200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Image 2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2419502"/>
            <a:ext cx="228600" cy="228600"/>
          </a:xfrm>
          <a:prstGeom prst="rect">
            <a:avLst/>
          </a:prstGeom>
        </p:spPr>
      </p:pic>
      <p:pic>
        <p:nvPicPr>
          <p:cNvPr id="78" name="Image 27" descr="preencoded.png"/>
          <p:cNvPicPr>
            <a:picLocks noChangeAspect="1"/>
          </p:cNvPicPr>
          <p:nvPr/>
        </p:nvPicPr>
        <p:blipFill>
          <a:blip r:embed="rId21"/>
          <a:srcRect t="-16489" b="-16489"/>
          <a:stretch/>
        </p:blipFill>
        <p:spPr>
          <a:xfrm>
            <a:off x="5371186" y="2476195"/>
            <a:ext cx="85954" cy="114300"/>
          </a:xfrm>
          <a:prstGeom prst="rect">
            <a:avLst/>
          </a:prstGeom>
        </p:spPr>
      </p:pic>
      <p:sp>
        <p:nvSpPr>
          <p:cNvPr id="79" name="Text 49"/>
          <p:cNvSpPr txBox="1"/>
          <p:nvPr/>
        </p:nvSpPr>
        <p:spPr>
          <a:xfrm>
            <a:off x="5623560" y="2394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Bedrock AgentCore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50"/>
          <p:cNvSpPr txBox="1"/>
          <p:nvPr/>
        </p:nvSpPr>
        <p:spPr>
          <a:xfrm>
            <a:off x="5623560" y="2557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Orchestration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51"/>
          <p:cNvSpPr/>
          <p:nvPr/>
        </p:nvSpPr>
        <p:spPr>
          <a:xfrm>
            <a:off x="5166360" y="296174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52"/>
          <p:cNvSpPr/>
          <p:nvPr/>
        </p:nvSpPr>
        <p:spPr>
          <a:xfrm>
            <a:off x="5166360" y="296174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3" name="Image 2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3181197"/>
            <a:ext cx="228600" cy="228600"/>
          </a:xfrm>
          <a:prstGeom prst="rect">
            <a:avLst/>
          </a:prstGeom>
        </p:spPr>
      </p:pic>
      <p:pic>
        <p:nvPicPr>
          <p:cNvPr id="84" name="Image 29" descr="preencoded.png"/>
          <p:cNvPicPr>
            <a:picLocks noChangeAspect="1"/>
          </p:cNvPicPr>
          <p:nvPr/>
        </p:nvPicPr>
        <p:blipFill>
          <a:blip r:embed="rId22"/>
          <a:srcRect l="-133" r="-133"/>
          <a:stretch/>
        </p:blipFill>
        <p:spPr>
          <a:xfrm>
            <a:off x="5371186" y="3237890"/>
            <a:ext cx="85954" cy="114300"/>
          </a:xfrm>
          <a:prstGeom prst="rect">
            <a:avLst/>
          </a:prstGeom>
        </p:spPr>
      </p:pic>
      <p:sp>
        <p:nvSpPr>
          <p:cNvPr id="85" name="Text 53"/>
          <p:cNvSpPr txBox="1"/>
          <p:nvPr/>
        </p:nvSpPr>
        <p:spPr>
          <a:xfrm>
            <a:off x="5623560" y="315742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Bedrock FMs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 54"/>
          <p:cNvSpPr txBox="1"/>
          <p:nvPr/>
        </p:nvSpPr>
        <p:spPr>
          <a:xfrm>
            <a:off x="5623560" y="3319272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Analysis &amp; recs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Shape 55"/>
          <p:cNvSpPr/>
          <p:nvPr/>
        </p:nvSpPr>
        <p:spPr>
          <a:xfrm>
            <a:off x="5166360" y="372435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Shape 56"/>
          <p:cNvSpPr/>
          <p:nvPr/>
        </p:nvSpPr>
        <p:spPr>
          <a:xfrm>
            <a:off x="5166360" y="372435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9" name="Image 3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3942893"/>
            <a:ext cx="228600" cy="228600"/>
          </a:xfrm>
          <a:prstGeom prst="rect">
            <a:avLst/>
          </a:prstGeom>
        </p:spPr>
      </p:pic>
      <p:pic>
        <p:nvPicPr>
          <p:cNvPr id="90" name="Image 31" descr="preencoded.png"/>
          <p:cNvPicPr>
            <a:picLocks noChangeAspect="1"/>
          </p:cNvPicPr>
          <p:nvPr/>
        </p:nvPicPr>
        <p:blipFill>
          <a:blip r:embed="rId15"/>
          <a:srcRect t="-16489" b="-16489"/>
          <a:stretch/>
        </p:blipFill>
        <p:spPr>
          <a:xfrm>
            <a:off x="5371186" y="4000500"/>
            <a:ext cx="85954" cy="114300"/>
          </a:xfrm>
          <a:prstGeom prst="rect">
            <a:avLst/>
          </a:prstGeom>
        </p:spPr>
      </p:pic>
      <p:sp>
        <p:nvSpPr>
          <p:cNvPr id="91" name="Text 57"/>
          <p:cNvSpPr txBox="1"/>
          <p:nvPr/>
        </p:nvSpPr>
        <p:spPr>
          <a:xfrm>
            <a:off x="5623560" y="3919118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OpenSearch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 58"/>
          <p:cNvSpPr txBox="1"/>
          <p:nvPr/>
        </p:nvSpPr>
        <p:spPr>
          <a:xfrm>
            <a:off x="5623560" y="408096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Vector search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59"/>
          <p:cNvSpPr/>
          <p:nvPr/>
        </p:nvSpPr>
        <p:spPr>
          <a:xfrm>
            <a:off x="5166360" y="4486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Shape 60"/>
          <p:cNvSpPr/>
          <p:nvPr/>
        </p:nvSpPr>
        <p:spPr>
          <a:xfrm>
            <a:off x="5166360" y="4486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5" name="Image 3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299862" y="4705502"/>
            <a:ext cx="228600" cy="228600"/>
          </a:xfrm>
          <a:prstGeom prst="rect">
            <a:avLst/>
          </a:prstGeom>
        </p:spPr>
      </p:pic>
      <p:pic>
        <p:nvPicPr>
          <p:cNvPr id="96" name="Image 33" descr="preencoded.png"/>
          <p:cNvPicPr>
            <a:picLocks noChangeAspect="1"/>
          </p:cNvPicPr>
          <p:nvPr/>
        </p:nvPicPr>
        <p:blipFill>
          <a:blip r:embed="rId23"/>
          <a:srcRect t="-24800" b="-24800"/>
          <a:stretch/>
        </p:blipFill>
        <p:spPr>
          <a:xfrm>
            <a:off x="5371186" y="4762195"/>
            <a:ext cx="85954" cy="114300"/>
          </a:xfrm>
          <a:prstGeom prst="rect">
            <a:avLst/>
          </a:prstGeom>
        </p:spPr>
      </p:pic>
      <p:sp>
        <p:nvSpPr>
          <p:cNvPr id="97" name="Text 61"/>
          <p:cNvSpPr txBox="1"/>
          <p:nvPr/>
        </p:nvSpPr>
        <p:spPr>
          <a:xfrm>
            <a:off x="5623560" y="4680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Knowledge Base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62"/>
          <p:cNvSpPr txBox="1"/>
          <p:nvPr/>
        </p:nvSpPr>
        <p:spPr>
          <a:xfrm>
            <a:off x="5623560" y="4843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Memory store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63"/>
          <p:cNvSpPr/>
          <p:nvPr/>
        </p:nvSpPr>
        <p:spPr>
          <a:xfrm>
            <a:off x="5166360" y="5295290"/>
            <a:ext cx="1867205" cy="418795"/>
          </a:xfrm>
          <a:prstGeom prst="roundRect">
            <a:avLst>
              <a:gd name="adj" fmla="val 59547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64"/>
          <p:cNvSpPr txBox="1"/>
          <p:nvPr/>
        </p:nvSpPr>
        <p:spPr>
          <a:xfrm>
            <a:off x="5261458" y="537210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65"/>
          <p:cNvSpPr txBox="1"/>
          <p:nvPr/>
        </p:nvSpPr>
        <p:spPr>
          <a:xfrm>
            <a:off x="5261458" y="5523890"/>
            <a:ext cx="16605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Bedrock → OpenSearch → Agent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" name="Image 34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7292340" y="1361541"/>
            <a:ext cx="2164385" cy="4543654"/>
          </a:xfrm>
          <a:prstGeom prst="rect">
            <a:avLst/>
          </a:prstGeom>
        </p:spPr>
      </p:pic>
      <p:sp>
        <p:nvSpPr>
          <p:cNvPr id="103" name="Shape 66"/>
          <p:cNvSpPr/>
          <p:nvPr/>
        </p:nvSpPr>
        <p:spPr>
          <a:xfrm>
            <a:off x="744504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4" name="Image 35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7445045" y="1552651"/>
            <a:ext cx="342900" cy="342900"/>
          </a:xfrm>
          <a:prstGeom prst="rect">
            <a:avLst/>
          </a:prstGeom>
        </p:spPr>
      </p:pic>
      <p:pic>
        <p:nvPicPr>
          <p:cNvPr id="105" name="Image 36" descr="preencoded.png"/>
          <p:cNvPicPr>
            <a:picLocks noChangeAspect="1"/>
          </p:cNvPicPr>
          <p:nvPr/>
        </p:nvPicPr>
        <p:blipFill>
          <a:blip r:embed="rId25"/>
          <a:srcRect t="-25150" b="-25150"/>
          <a:stretch/>
        </p:blipFill>
        <p:spPr>
          <a:xfrm>
            <a:off x="7559345" y="1647749"/>
            <a:ext cx="114300" cy="152705"/>
          </a:xfrm>
          <a:prstGeom prst="rect">
            <a:avLst/>
          </a:prstGeom>
        </p:spPr>
      </p:pic>
      <p:sp>
        <p:nvSpPr>
          <p:cNvPr id="106" name="Text 67"/>
          <p:cNvSpPr txBox="1"/>
          <p:nvPr/>
        </p:nvSpPr>
        <p:spPr>
          <a:xfrm>
            <a:off x="7883042" y="1637690"/>
            <a:ext cx="150327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Experience Layer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68"/>
          <p:cNvSpPr/>
          <p:nvPr/>
        </p:nvSpPr>
        <p:spPr>
          <a:xfrm>
            <a:off x="7445045" y="22000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69"/>
          <p:cNvSpPr/>
          <p:nvPr/>
        </p:nvSpPr>
        <p:spPr>
          <a:xfrm>
            <a:off x="7445045" y="22000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9" name="Image 3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2437790"/>
            <a:ext cx="228600" cy="228600"/>
          </a:xfrm>
          <a:prstGeom prst="rect">
            <a:avLst/>
          </a:prstGeom>
        </p:spPr>
      </p:pic>
      <p:pic>
        <p:nvPicPr>
          <p:cNvPr id="110" name="Image 38" descr="preencoded.png"/>
          <p:cNvPicPr>
            <a:picLocks noChangeAspect="1"/>
          </p:cNvPicPr>
          <p:nvPr/>
        </p:nvPicPr>
        <p:blipFill>
          <a:blip r:embed="rId26"/>
          <a:srcRect t="-16489" b="-16489"/>
          <a:stretch/>
        </p:blipFill>
        <p:spPr>
          <a:xfrm>
            <a:off x="7649870" y="2495397"/>
            <a:ext cx="85954" cy="114300"/>
          </a:xfrm>
          <a:prstGeom prst="rect">
            <a:avLst/>
          </a:prstGeom>
        </p:spPr>
      </p:pic>
      <p:sp>
        <p:nvSpPr>
          <p:cNvPr id="111" name="Text 70"/>
          <p:cNvSpPr txBox="1"/>
          <p:nvPr/>
        </p:nvSpPr>
        <p:spPr>
          <a:xfrm>
            <a:off x="7902245" y="24140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ECS Fargate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Text 71"/>
          <p:cNvSpPr txBox="1"/>
          <p:nvPr/>
        </p:nvSpPr>
        <p:spPr>
          <a:xfrm>
            <a:off x="7902245" y="25758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UI/backend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Shape 72"/>
          <p:cNvSpPr/>
          <p:nvPr/>
        </p:nvSpPr>
        <p:spPr>
          <a:xfrm>
            <a:off x="7445045" y="30001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Shape 73"/>
          <p:cNvSpPr/>
          <p:nvPr/>
        </p:nvSpPr>
        <p:spPr>
          <a:xfrm>
            <a:off x="7445045" y="30001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5" name="Image 39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3237890"/>
            <a:ext cx="228600" cy="228600"/>
          </a:xfrm>
          <a:prstGeom prst="rect">
            <a:avLst/>
          </a:prstGeom>
        </p:spPr>
      </p:pic>
      <p:pic>
        <p:nvPicPr>
          <p:cNvPr id="116" name="Image 40" descr="preencoded.png"/>
          <p:cNvPicPr>
            <a:picLocks noChangeAspect="1"/>
          </p:cNvPicPr>
          <p:nvPr/>
        </p:nvPicPr>
        <p:blipFill>
          <a:blip r:embed="rId27"/>
          <a:srcRect t="-33111" b="-33111"/>
          <a:stretch/>
        </p:blipFill>
        <p:spPr>
          <a:xfrm>
            <a:off x="7649870" y="3295497"/>
            <a:ext cx="85954" cy="114300"/>
          </a:xfrm>
          <a:prstGeom prst="rect">
            <a:avLst/>
          </a:prstGeom>
        </p:spPr>
      </p:pic>
      <p:sp>
        <p:nvSpPr>
          <p:cNvPr id="117" name="Text 74"/>
          <p:cNvSpPr txBox="1"/>
          <p:nvPr/>
        </p:nvSpPr>
        <p:spPr>
          <a:xfrm>
            <a:off x="7902245" y="32141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Cognito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 75"/>
          <p:cNvSpPr txBox="1"/>
          <p:nvPr/>
        </p:nvSpPr>
        <p:spPr>
          <a:xfrm>
            <a:off x="7902245" y="33759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Authentication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Shape 76"/>
          <p:cNvSpPr/>
          <p:nvPr/>
        </p:nvSpPr>
        <p:spPr>
          <a:xfrm>
            <a:off x="7445045" y="38002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Shape 77"/>
          <p:cNvSpPr/>
          <p:nvPr/>
        </p:nvSpPr>
        <p:spPr>
          <a:xfrm>
            <a:off x="7445045" y="38002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1" name="Image 4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4037990"/>
            <a:ext cx="228600" cy="228600"/>
          </a:xfrm>
          <a:prstGeom prst="rect">
            <a:avLst/>
          </a:prstGeom>
        </p:spPr>
      </p:pic>
      <p:pic>
        <p:nvPicPr>
          <p:cNvPr id="122" name="Image 42" descr="preencoded.png"/>
          <p:cNvPicPr>
            <a:picLocks noChangeAspect="1"/>
          </p:cNvPicPr>
          <p:nvPr/>
        </p:nvPicPr>
        <p:blipFill>
          <a:blip r:embed="rId28"/>
          <a:srcRect t="-33111" b="-33111"/>
          <a:stretch/>
        </p:blipFill>
        <p:spPr>
          <a:xfrm>
            <a:off x="7649870" y="4095597"/>
            <a:ext cx="85954" cy="114300"/>
          </a:xfrm>
          <a:prstGeom prst="rect">
            <a:avLst/>
          </a:prstGeom>
        </p:spPr>
      </p:pic>
      <p:sp>
        <p:nvSpPr>
          <p:cNvPr id="123" name="Text 78"/>
          <p:cNvSpPr txBox="1"/>
          <p:nvPr/>
        </p:nvSpPr>
        <p:spPr>
          <a:xfrm>
            <a:off x="7902245" y="40142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Co-Pilot UI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Text 79"/>
          <p:cNvSpPr txBox="1"/>
          <p:nvPr/>
        </p:nvSpPr>
        <p:spPr>
          <a:xfrm>
            <a:off x="7902245" y="41760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Chat interface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Shape 80"/>
          <p:cNvSpPr/>
          <p:nvPr/>
        </p:nvSpPr>
        <p:spPr>
          <a:xfrm>
            <a:off x="7445045" y="4600346"/>
            <a:ext cx="1867205" cy="705002"/>
          </a:xfrm>
          <a:prstGeom prst="roundRect">
            <a:avLst>
              <a:gd name="adj" fmla="val 21033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Shape 81"/>
          <p:cNvSpPr/>
          <p:nvPr/>
        </p:nvSpPr>
        <p:spPr>
          <a:xfrm>
            <a:off x="7445045" y="4600346"/>
            <a:ext cx="38405" cy="705002"/>
          </a:xfrm>
          <a:prstGeom prst="roundRect">
            <a:avLst>
              <a:gd name="adj" fmla="val 38609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7" name="Image 43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577633" y="4838090"/>
            <a:ext cx="228600" cy="228600"/>
          </a:xfrm>
          <a:prstGeom prst="rect">
            <a:avLst/>
          </a:prstGeom>
        </p:spPr>
      </p:pic>
      <p:pic>
        <p:nvPicPr>
          <p:cNvPr id="128" name="Image 44" descr="preencoded.png"/>
          <p:cNvPicPr>
            <a:picLocks noChangeAspect="1"/>
          </p:cNvPicPr>
          <p:nvPr/>
        </p:nvPicPr>
        <p:blipFill>
          <a:blip r:embed="rId29"/>
          <a:srcRect t="-24800" b="-24800"/>
          <a:stretch/>
        </p:blipFill>
        <p:spPr>
          <a:xfrm>
            <a:off x="7649870" y="4895697"/>
            <a:ext cx="85954" cy="114300"/>
          </a:xfrm>
          <a:prstGeom prst="rect">
            <a:avLst/>
          </a:prstGeom>
        </p:spPr>
      </p:pic>
      <p:sp>
        <p:nvSpPr>
          <p:cNvPr id="129" name="Text 82"/>
          <p:cNvSpPr txBox="1"/>
          <p:nvPr/>
        </p:nvSpPr>
        <p:spPr>
          <a:xfrm>
            <a:off x="7902245" y="4814316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Dashboard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Text 83"/>
          <p:cNvSpPr txBox="1"/>
          <p:nvPr/>
        </p:nvSpPr>
        <p:spPr>
          <a:xfrm>
            <a:off x="7902245" y="4976165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Visualization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Shape 84"/>
          <p:cNvSpPr/>
          <p:nvPr/>
        </p:nvSpPr>
        <p:spPr>
          <a:xfrm>
            <a:off x="7445045" y="5447995"/>
            <a:ext cx="1867205" cy="267005"/>
          </a:xfrm>
          <a:prstGeom prst="roundRect">
            <a:avLst>
              <a:gd name="adj" fmla="val 146771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 85"/>
          <p:cNvSpPr txBox="1"/>
          <p:nvPr/>
        </p:nvSpPr>
        <p:spPr>
          <a:xfrm>
            <a:off x="7540142" y="552389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 86"/>
          <p:cNvSpPr txBox="1"/>
          <p:nvPr/>
        </p:nvSpPr>
        <p:spPr>
          <a:xfrm>
            <a:off x="7830007" y="5523890"/>
            <a:ext cx="15873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ECS → Cognito → Co-Pilot UI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4" name="Image 45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9571025" y="1361541"/>
            <a:ext cx="2164385" cy="4543654"/>
          </a:xfrm>
          <a:prstGeom prst="rect">
            <a:avLst/>
          </a:prstGeom>
        </p:spPr>
      </p:pic>
      <p:sp>
        <p:nvSpPr>
          <p:cNvPr id="135" name="Shape 87"/>
          <p:cNvSpPr/>
          <p:nvPr/>
        </p:nvSpPr>
        <p:spPr>
          <a:xfrm>
            <a:off x="9722815" y="1990649"/>
            <a:ext cx="186720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6" name="Image 46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9722815" y="1552651"/>
            <a:ext cx="342900" cy="342900"/>
          </a:xfrm>
          <a:prstGeom prst="rect">
            <a:avLst/>
          </a:prstGeom>
        </p:spPr>
      </p:pic>
      <p:pic>
        <p:nvPicPr>
          <p:cNvPr id="137" name="Image 47" descr="preencoded.png"/>
          <p:cNvPicPr>
            <a:picLocks noChangeAspect="1"/>
          </p:cNvPicPr>
          <p:nvPr/>
        </p:nvPicPr>
        <p:blipFill>
          <a:blip r:embed="rId31"/>
          <a:srcRect t="-25150" b="-25150"/>
          <a:stretch/>
        </p:blipFill>
        <p:spPr>
          <a:xfrm>
            <a:off x="9837115" y="1647749"/>
            <a:ext cx="114300" cy="152705"/>
          </a:xfrm>
          <a:prstGeom prst="rect">
            <a:avLst/>
          </a:prstGeom>
        </p:spPr>
      </p:pic>
      <p:sp>
        <p:nvSpPr>
          <p:cNvPr id="138" name="Text 88"/>
          <p:cNvSpPr txBox="1"/>
          <p:nvPr/>
        </p:nvSpPr>
        <p:spPr>
          <a:xfrm>
            <a:off x="10160813" y="1637690"/>
            <a:ext cx="122072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Orchestration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Shape 89"/>
          <p:cNvSpPr/>
          <p:nvPr/>
        </p:nvSpPr>
        <p:spPr>
          <a:xfrm>
            <a:off x="9722815" y="2200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Shape 90"/>
          <p:cNvSpPr/>
          <p:nvPr/>
        </p:nvSpPr>
        <p:spPr>
          <a:xfrm>
            <a:off x="9722815" y="2200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1" name="Image 48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2419502"/>
            <a:ext cx="228600" cy="228600"/>
          </a:xfrm>
          <a:prstGeom prst="rect">
            <a:avLst/>
          </a:prstGeom>
        </p:spPr>
      </p:pic>
      <p:pic>
        <p:nvPicPr>
          <p:cNvPr id="142" name="Image 49" descr="preencoded.png"/>
          <p:cNvPicPr>
            <a:picLocks noChangeAspect="1"/>
          </p:cNvPicPr>
          <p:nvPr/>
        </p:nvPicPr>
        <p:blipFill>
          <a:blip r:embed="rId32"/>
          <a:srcRect t="-24800" b="-24800"/>
          <a:stretch/>
        </p:blipFill>
        <p:spPr>
          <a:xfrm>
            <a:off x="9927641" y="2476195"/>
            <a:ext cx="85954" cy="114300"/>
          </a:xfrm>
          <a:prstGeom prst="rect">
            <a:avLst/>
          </a:prstGeom>
        </p:spPr>
      </p:pic>
      <p:sp>
        <p:nvSpPr>
          <p:cNvPr id="143" name="Text 91"/>
          <p:cNvSpPr txBox="1"/>
          <p:nvPr/>
        </p:nvSpPr>
        <p:spPr>
          <a:xfrm>
            <a:off x="10180015" y="2394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Functions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Text 92"/>
          <p:cNvSpPr txBox="1"/>
          <p:nvPr/>
        </p:nvSpPr>
        <p:spPr>
          <a:xfrm>
            <a:off x="10180015" y="2557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Workflow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Shape 93"/>
          <p:cNvSpPr/>
          <p:nvPr/>
        </p:nvSpPr>
        <p:spPr>
          <a:xfrm>
            <a:off x="9722815" y="296174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Shape 94"/>
          <p:cNvSpPr/>
          <p:nvPr/>
        </p:nvSpPr>
        <p:spPr>
          <a:xfrm>
            <a:off x="9722815" y="296174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7" name="Image 50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3181197"/>
            <a:ext cx="228600" cy="228600"/>
          </a:xfrm>
          <a:prstGeom prst="rect">
            <a:avLst/>
          </a:prstGeom>
        </p:spPr>
      </p:pic>
      <p:pic>
        <p:nvPicPr>
          <p:cNvPr id="148" name="Image 51" descr="preencoded.png"/>
          <p:cNvPicPr>
            <a:picLocks noChangeAspect="1"/>
          </p:cNvPicPr>
          <p:nvPr/>
        </p:nvPicPr>
        <p:blipFill>
          <a:blip r:embed="rId33"/>
          <a:srcRect t="-16489" b="-16489"/>
          <a:stretch/>
        </p:blipFill>
        <p:spPr>
          <a:xfrm>
            <a:off x="9927641" y="3237890"/>
            <a:ext cx="85954" cy="114300"/>
          </a:xfrm>
          <a:prstGeom prst="rect">
            <a:avLst/>
          </a:prstGeom>
        </p:spPr>
      </p:pic>
      <p:sp>
        <p:nvSpPr>
          <p:cNvPr id="149" name="Text 95"/>
          <p:cNvSpPr txBox="1"/>
          <p:nvPr/>
        </p:nvSpPr>
        <p:spPr>
          <a:xfrm>
            <a:off x="10180015" y="315742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" name="Text 96"/>
          <p:cNvSpPr txBox="1"/>
          <p:nvPr/>
        </p:nvSpPr>
        <p:spPr>
          <a:xfrm>
            <a:off x="10180015" y="3319272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Email/Export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Shape 97"/>
          <p:cNvSpPr/>
          <p:nvPr/>
        </p:nvSpPr>
        <p:spPr>
          <a:xfrm>
            <a:off x="9722815" y="3724351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Shape 98"/>
          <p:cNvSpPr/>
          <p:nvPr/>
        </p:nvSpPr>
        <p:spPr>
          <a:xfrm>
            <a:off x="9722815" y="3724351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3" name="Image 5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3942893"/>
            <a:ext cx="228600" cy="228600"/>
          </a:xfrm>
          <a:prstGeom prst="rect">
            <a:avLst/>
          </a:prstGeom>
        </p:spPr>
      </p:pic>
      <p:pic>
        <p:nvPicPr>
          <p:cNvPr id="154" name="Image 53" descr="preencoded.png"/>
          <p:cNvPicPr>
            <a:picLocks noChangeAspect="1"/>
          </p:cNvPicPr>
          <p:nvPr/>
        </p:nvPicPr>
        <p:blipFill>
          <a:blip r:embed="rId34"/>
          <a:srcRect t="-8178" b="-8178"/>
          <a:stretch/>
        </p:blipFill>
        <p:spPr>
          <a:xfrm>
            <a:off x="9927641" y="4000500"/>
            <a:ext cx="85954" cy="114300"/>
          </a:xfrm>
          <a:prstGeom prst="rect">
            <a:avLst/>
          </a:prstGeom>
        </p:spPr>
      </p:pic>
      <p:sp>
        <p:nvSpPr>
          <p:cNvPr id="155" name="Text 99"/>
          <p:cNvSpPr txBox="1"/>
          <p:nvPr/>
        </p:nvSpPr>
        <p:spPr>
          <a:xfrm>
            <a:off x="10180015" y="3919118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API Gateway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Text 100"/>
          <p:cNvSpPr txBox="1"/>
          <p:nvPr/>
        </p:nvSpPr>
        <p:spPr>
          <a:xfrm>
            <a:off x="10180015" y="408096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API exposure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Shape 101"/>
          <p:cNvSpPr/>
          <p:nvPr/>
        </p:nvSpPr>
        <p:spPr>
          <a:xfrm>
            <a:off x="9722815" y="4486046"/>
            <a:ext cx="1867205" cy="666598"/>
          </a:xfrm>
          <a:prstGeom prst="roundRect">
            <a:avLst>
              <a:gd name="adj" fmla="val 2351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Shape 102"/>
          <p:cNvSpPr/>
          <p:nvPr/>
        </p:nvSpPr>
        <p:spPr>
          <a:xfrm>
            <a:off x="9722815" y="4486046"/>
            <a:ext cx="38405" cy="666598"/>
          </a:xfrm>
          <a:prstGeom prst="roundRect">
            <a:avLst>
              <a:gd name="adj" fmla="val 408161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9" name="Image 5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856318" y="4705502"/>
            <a:ext cx="228600" cy="228600"/>
          </a:xfrm>
          <a:prstGeom prst="rect">
            <a:avLst/>
          </a:prstGeom>
        </p:spPr>
      </p:pic>
      <p:pic>
        <p:nvPicPr>
          <p:cNvPr id="160" name="Image 55" descr="preencoded.png"/>
          <p:cNvPicPr>
            <a:picLocks noChangeAspect="1"/>
          </p:cNvPicPr>
          <p:nvPr/>
        </p:nvPicPr>
        <p:blipFill>
          <a:blip r:embed="rId35"/>
          <a:srcRect t="-16489" b="-16489"/>
          <a:stretch/>
        </p:blipFill>
        <p:spPr>
          <a:xfrm>
            <a:off x="9927641" y="4762195"/>
            <a:ext cx="85954" cy="114300"/>
          </a:xfrm>
          <a:prstGeom prst="rect">
            <a:avLst/>
          </a:prstGeom>
        </p:spPr>
      </p:pic>
      <p:sp>
        <p:nvSpPr>
          <p:cNvPr id="161" name="Text 103"/>
          <p:cNvSpPr txBox="1"/>
          <p:nvPr/>
        </p:nvSpPr>
        <p:spPr>
          <a:xfrm>
            <a:off x="10180015" y="4680813"/>
            <a:ext cx="1314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CloudWatch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Text 104"/>
          <p:cNvSpPr txBox="1"/>
          <p:nvPr/>
        </p:nvSpPr>
        <p:spPr>
          <a:xfrm>
            <a:off x="10180015" y="4843577"/>
            <a:ext cx="13149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Monitoring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Shape 105"/>
          <p:cNvSpPr/>
          <p:nvPr/>
        </p:nvSpPr>
        <p:spPr>
          <a:xfrm>
            <a:off x="9722815" y="5295290"/>
            <a:ext cx="1867205" cy="418795"/>
          </a:xfrm>
          <a:prstGeom prst="roundRect">
            <a:avLst>
              <a:gd name="adj" fmla="val 59547"/>
            </a:avLst>
          </a:prstGeom>
          <a:solidFill>
            <a:srgbClr val="F0F8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Text 106"/>
          <p:cNvSpPr txBox="1"/>
          <p:nvPr/>
        </p:nvSpPr>
        <p:spPr>
          <a:xfrm>
            <a:off x="9817913" y="5372100"/>
            <a:ext cx="334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Flow: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Text 107"/>
          <p:cNvSpPr txBox="1"/>
          <p:nvPr/>
        </p:nvSpPr>
        <p:spPr>
          <a:xfrm>
            <a:off x="9817913" y="5523890"/>
            <a:ext cx="17154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Step Functions → SES → Export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" name="Text 113"/>
          <p:cNvSpPr txBox="1"/>
          <p:nvPr/>
        </p:nvSpPr>
        <p:spPr>
          <a:xfrm>
            <a:off x="2364638" y="1438351"/>
            <a:ext cx="18745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01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Text 114"/>
          <p:cNvSpPr txBox="1"/>
          <p:nvPr/>
        </p:nvSpPr>
        <p:spPr>
          <a:xfrm>
            <a:off x="4616806" y="143835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02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Text 115"/>
          <p:cNvSpPr txBox="1"/>
          <p:nvPr/>
        </p:nvSpPr>
        <p:spPr>
          <a:xfrm>
            <a:off x="6895490" y="143835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03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Text 116"/>
          <p:cNvSpPr txBox="1"/>
          <p:nvPr/>
        </p:nvSpPr>
        <p:spPr>
          <a:xfrm>
            <a:off x="9159545" y="1438351"/>
            <a:ext cx="191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04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Text 117"/>
          <p:cNvSpPr txBox="1"/>
          <p:nvPr/>
        </p:nvSpPr>
        <p:spPr>
          <a:xfrm>
            <a:off x="11450117" y="1438351"/>
            <a:ext cx="1719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05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Slide Number Placeholder 5">
            <a:extLst>
              <a:ext uri="{FF2B5EF4-FFF2-40B4-BE49-F238E27FC236}">
                <a16:creationId xmlns:a16="http://schemas.microsoft.com/office/drawing/2014/main" id="{CADDFB2A-FC00-0E67-38A4-533ABA298B03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15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6A802A0-0CEC-5451-5C6E-7DD92050C947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6717E1B-A38F-8203-FB6D-A4107AB60982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1E4B3FDD-1239-E586-C38B-3F6867A2D655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70" name="Freeform: Shape 3">
              <a:extLst>
                <a:ext uri="{FF2B5EF4-FFF2-40B4-BE49-F238E27FC236}">
                  <a16:creationId xmlns:a16="http://schemas.microsoft.com/office/drawing/2014/main" id="{3A9C8DB0-C5A5-8CD1-539F-C457674CB728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4">
              <a:extLst>
                <a:ext uri="{FF2B5EF4-FFF2-40B4-BE49-F238E27FC236}">
                  <a16:creationId xmlns:a16="http://schemas.microsoft.com/office/drawing/2014/main" id="{D700E43C-88BF-840E-A314-9C8A533B1451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2" name="Freeform: Shape 5">
              <a:extLst>
                <a:ext uri="{FF2B5EF4-FFF2-40B4-BE49-F238E27FC236}">
                  <a16:creationId xmlns:a16="http://schemas.microsoft.com/office/drawing/2014/main" id="{C6A8DBC1-FAF8-AFA6-8ED6-35A1EED1C220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6">
              <a:extLst>
                <a:ext uri="{FF2B5EF4-FFF2-40B4-BE49-F238E27FC236}">
                  <a16:creationId xmlns:a16="http://schemas.microsoft.com/office/drawing/2014/main" id="{F922CABD-000E-3A4B-FB5A-F1AEC740C0F3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7">
              <a:extLst>
                <a:ext uri="{FF2B5EF4-FFF2-40B4-BE49-F238E27FC236}">
                  <a16:creationId xmlns:a16="http://schemas.microsoft.com/office/drawing/2014/main" id="{F3C97C49-25DB-7131-6AEA-B4B8949FBFC3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0" name="Freeform: Shape 8">
              <a:extLst>
                <a:ext uri="{FF2B5EF4-FFF2-40B4-BE49-F238E27FC236}">
                  <a16:creationId xmlns:a16="http://schemas.microsoft.com/office/drawing/2014/main" id="{B69078BE-35E6-F6E7-A647-C1A762D56765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1" name="Freeform: Shape 11">
              <a:extLst>
                <a:ext uri="{FF2B5EF4-FFF2-40B4-BE49-F238E27FC236}">
                  <a16:creationId xmlns:a16="http://schemas.microsoft.com/office/drawing/2014/main" id="{7296BC8A-6D89-CEDE-1B73-65C1745D71D3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2" name="Freeform: Shape 12">
              <a:extLst>
                <a:ext uri="{FF2B5EF4-FFF2-40B4-BE49-F238E27FC236}">
                  <a16:creationId xmlns:a16="http://schemas.microsoft.com/office/drawing/2014/main" id="{CA143173-7616-A51A-FED5-852FDF085FF8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9BBAF-F780-1C1C-173B-D1659B3EE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21AA8C-1CE0-D4F3-17E9-F956B7D1148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7F1E635-FC6A-48B5-A209-2114B5DFBA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66" name="Slide Number Placeholder 5">
            <a:extLst>
              <a:ext uri="{FF2B5EF4-FFF2-40B4-BE49-F238E27FC236}">
                <a16:creationId xmlns:a16="http://schemas.microsoft.com/office/drawing/2014/main" id="{9286929A-30F1-5FD4-DAA8-18342989C9ED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16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C74A933-9173-D4CA-4F2D-F57A38ED0662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06C8121F-27FF-C98A-36AA-606A45DF9057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0B0FEB2-3635-594C-801F-41B472BC1D6F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70" name="Freeform: Shape 3">
              <a:extLst>
                <a:ext uri="{FF2B5EF4-FFF2-40B4-BE49-F238E27FC236}">
                  <a16:creationId xmlns:a16="http://schemas.microsoft.com/office/drawing/2014/main" id="{BB996A60-395A-DC37-CFAB-E16969F93367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4">
              <a:extLst>
                <a:ext uri="{FF2B5EF4-FFF2-40B4-BE49-F238E27FC236}">
                  <a16:creationId xmlns:a16="http://schemas.microsoft.com/office/drawing/2014/main" id="{8C6B2034-F469-4A0E-DD4E-F8758D9F02CF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2" name="Freeform: Shape 5">
              <a:extLst>
                <a:ext uri="{FF2B5EF4-FFF2-40B4-BE49-F238E27FC236}">
                  <a16:creationId xmlns:a16="http://schemas.microsoft.com/office/drawing/2014/main" id="{9267848E-DE20-D1FF-8530-CB45E542E351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8" name="Freeform: Shape 6">
              <a:extLst>
                <a:ext uri="{FF2B5EF4-FFF2-40B4-BE49-F238E27FC236}">
                  <a16:creationId xmlns:a16="http://schemas.microsoft.com/office/drawing/2014/main" id="{763C819C-64F9-40E9-0AEB-E79C03CEEE2C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9" name="Freeform: Shape 7">
              <a:extLst>
                <a:ext uri="{FF2B5EF4-FFF2-40B4-BE49-F238E27FC236}">
                  <a16:creationId xmlns:a16="http://schemas.microsoft.com/office/drawing/2014/main" id="{6D87BA7A-DDD3-FC07-117F-47670B1035E2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0" name="Freeform: Shape 8">
              <a:extLst>
                <a:ext uri="{FF2B5EF4-FFF2-40B4-BE49-F238E27FC236}">
                  <a16:creationId xmlns:a16="http://schemas.microsoft.com/office/drawing/2014/main" id="{1333C0F6-F9CE-7C3A-F3B4-7B1D8F1D6D4F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1" name="Freeform: Shape 11">
              <a:extLst>
                <a:ext uri="{FF2B5EF4-FFF2-40B4-BE49-F238E27FC236}">
                  <a16:creationId xmlns:a16="http://schemas.microsoft.com/office/drawing/2014/main" id="{AC5B7C4D-AB8A-59F7-08DD-2802B8CC45C7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2" name="Freeform: Shape 12">
              <a:extLst>
                <a:ext uri="{FF2B5EF4-FFF2-40B4-BE49-F238E27FC236}">
                  <a16:creationId xmlns:a16="http://schemas.microsoft.com/office/drawing/2014/main" id="{495B3E3F-0B83-3B2C-2A40-45A81621DE2B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84" name="Text 0">
            <a:extLst>
              <a:ext uri="{FF2B5EF4-FFF2-40B4-BE49-F238E27FC236}">
                <a16:creationId xmlns:a16="http://schemas.microsoft.com/office/drawing/2014/main" id="{F7B29F5F-6868-5889-A91C-C19E077A30E1}"/>
              </a:ext>
            </a:extLst>
          </p:cNvPr>
          <p:cNvSpPr txBox="1"/>
          <p:nvPr/>
        </p:nvSpPr>
        <p:spPr>
          <a:xfrm>
            <a:off x="425450" y="458357"/>
            <a:ext cx="6162142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Agent Orchestration Architecture (illustrative stack)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6" name="Text 1">
            <a:extLst>
              <a:ext uri="{FF2B5EF4-FFF2-40B4-BE49-F238E27FC236}">
                <a16:creationId xmlns:a16="http://schemas.microsoft.com/office/drawing/2014/main" id="{26EEF05F-2306-C3D6-027E-28E461A28F3B}"/>
              </a:ext>
            </a:extLst>
          </p:cNvPr>
          <p:cNvSpPr txBox="1"/>
          <p:nvPr/>
        </p:nvSpPr>
        <p:spPr>
          <a:xfrm>
            <a:off x="425450" y="868008"/>
            <a:ext cx="63441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Proactive data pull replacing manual Excel upload with autonomous data acquisition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8" name="Image 1" descr="gen-dedup-64dad604931dd69f3ab194324ee3fd90.png">
            <a:extLst>
              <a:ext uri="{FF2B5EF4-FFF2-40B4-BE49-F238E27FC236}">
                <a16:creationId xmlns:a16="http://schemas.microsoft.com/office/drawing/2014/main" id="{88087992-30F7-1BFC-D7E7-32CD84D96B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425450" y="1286803"/>
            <a:ext cx="2667305" cy="4190695"/>
          </a:xfrm>
          <a:prstGeom prst="rect">
            <a:avLst/>
          </a:prstGeom>
        </p:spPr>
      </p:pic>
      <p:pic>
        <p:nvPicPr>
          <p:cNvPr id="190" name="Image 2" descr="gen-dedup-d9608fe55b551d83f658346d84a5ddab.png">
            <a:extLst>
              <a:ext uri="{FF2B5EF4-FFF2-40B4-BE49-F238E27FC236}">
                <a16:creationId xmlns:a16="http://schemas.microsoft.com/office/drawing/2014/main" id="{747EC350-A110-F9E1-0F13-56D5FDEF2E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50" b="-8450"/>
          <a:stretch/>
        </p:blipFill>
        <p:spPr>
          <a:xfrm>
            <a:off x="615645" y="1530034"/>
            <a:ext cx="114300" cy="152705"/>
          </a:xfrm>
          <a:prstGeom prst="rect">
            <a:avLst/>
          </a:prstGeom>
        </p:spPr>
      </p:pic>
      <p:sp>
        <p:nvSpPr>
          <p:cNvPr id="192" name="Text 2">
            <a:extLst>
              <a:ext uri="{FF2B5EF4-FFF2-40B4-BE49-F238E27FC236}">
                <a16:creationId xmlns:a16="http://schemas.microsoft.com/office/drawing/2014/main" id="{3F88B129-E5F0-ED00-ECB2-B5363937E68C}"/>
              </a:ext>
            </a:extLst>
          </p:cNvPr>
          <p:cNvSpPr txBox="1"/>
          <p:nvPr/>
        </p:nvSpPr>
        <p:spPr>
          <a:xfrm>
            <a:off x="825957" y="1515403"/>
            <a:ext cx="782726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Triggers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Shape 3">
            <a:extLst>
              <a:ext uri="{FF2B5EF4-FFF2-40B4-BE49-F238E27FC236}">
                <a16:creationId xmlns:a16="http://schemas.microsoft.com/office/drawing/2014/main" id="{D20EAFD9-2D3A-F895-E706-D43C2277257E}"/>
              </a:ext>
            </a:extLst>
          </p:cNvPr>
          <p:cNvSpPr/>
          <p:nvPr/>
        </p:nvSpPr>
        <p:spPr>
          <a:xfrm>
            <a:off x="615645" y="1886650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6" name="Shape 4">
            <a:extLst>
              <a:ext uri="{FF2B5EF4-FFF2-40B4-BE49-F238E27FC236}">
                <a16:creationId xmlns:a16="http://schemas.microsoft.com/office/drawing/2014/main" id="{EE8F1274-E02C-4560-A8EB-E36C3270134C}"/>
              </a:ext>
            </a:extLst>
          </p:cNvPr>
          <p:cNvSpPr/>
          <p:nvPr/>
        </p:nvSpPr>
        <p:spPr>
          <a:xfrm>
            <a:off x="615645" y="1886650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8" name="Image 3" descr="gen-dedup-b26fc2c7d1873e5f66057f1b99347aee.png">
            <a:extLst>
              <a:ext uri="{FF2B5EF4-FFF2-40B4-BE49-F238E27FC236}">
                <a16:creationId xmlns:a16="http://schemas.microsoft.com/office/drawing/2014/main" id="{9D0F2A9A-15AD-64C5-47CF-C0E2CB2E50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6755" y="2000950"/>
            <a:ext cx="304495" cy="304495"/>
          </a:xfrm>
          <a:prstGeom prst="rect">
            <a:avLst/>
          </a:prstGeom>
        </p:spPr>
      </p:pic>
      <p:sp>
        <p:nvSpPr>
          <p:cNvPr id="200" name="Text 5">
            <a:extLst>
              <a:ext uri="{FF2B5EF4-FFF2-40B4-BE49-F238E27FC236}">
                <a16:creationId xmlns:a16="http://schemas.microsoft.com/office/drawing/2014/main" id="{FB9DCED4-1D43-4EF7-CADA-A1D9D8A89F83}"/>
              </a:ext>
            </a:extLst>
          </p:cNvPr>
          <p:cNvSpPr txBox="1"/>
          <p:nvPr/>
        </p:nvSpPr>
        <p:spPr>
          <a:xfrm>
            <a:off x="1225550" y="2000950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Scheduled Cron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Text 6">
            <a:extLst>
              <a:ext uri="{FF2B5EF4-FFF2-40B4-BE49-F238E27FC236}">
                <a16:creationId xmlns:a16="http://schemas.microsoft.com/office/drawing/2014/main" id="{0C591301-D9AB-098E-2954-876DD333AD85}"/>
              </a:ext>
            </a:extLst>
          </p:cNvPr>
          <p:cNvSpPr txBox="1"/>
          <p:nvPr/>
        </p:nvSpPr>
        <p:spPr>
          <a:xfrm>
            <a:off x="1225550" y="217285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Time-based triggers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Shape 7">
            <a:extLst>
              <a:ext uri="{FF2B5EF4-FFF2-40B4-BE49-F238E27FC236}">
                <a16:creationId xmlns:a16="http://schemas.microsoft.com/office/drawing/2014/main" id="{73D27AD5-70B6-F0E2-DB65-1D3F12668276}"/>
              </a:ext>
            </a:extLst>
          </p:cNvPr>
          <p:cNvSpPr/>
          <p:nvPr/>
        </p:nvSpPr>
        <p:spPr>
          <a:xfrm>
            <a:off x="615645" y="2534959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Shape 8">
            <a:extLst>
              <a:ext uri="{FF2B5EF4-FFF2-40B4-BE49-F238E27FC236}">
                <a16:creationId xmlns:a16="http://schemas.microsoft.com/office/drawing/2014/main" id="{4952847B-9C23-DCB1-D79A-3889B21EDEF2}"/>
              </a:ext>
            </a:extLst>
          </p:cNvPr>
          <p:cNvSpPr/>
          <p:nvPr/>
        </p:nvSpPr>
        <p:spPr>
          <a:xfrm>
            <a:off x="615645" y="2534959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8" name="Image 4" descr="gen-dedup-be818896e6fb24162976f6523ac05c5e.png">
            <a:extLst>
              <a:ext uri="{FF2B5EF4-FFF2-40B4-BE49-F238E27FC236}">
                <a16:creationId xmlns:a16="http://schemas.microsoft.com/office/drawing/2014/main" id="{1904F84B-2609-B454-14BC-9A97413AEA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6755" y="2649259"/>
            <a:ext cx="304495" cy="304495"/>
          </a:xfrm>
          <a:prstGeom prst="rect">
            <a:avLst/>
          </a:prstGeom>
        </p:spPr>
      </p:pic>
      <p:pic>
        <p:nvPicPr>
          <p:cNvPr id="210" name="Image 5" descr="gen-dedup-852b36736a7de54127eb23d602d7f1b2.png">
            <a:extLst>
              <a:ext uri="{FF2B5EF4-FFF2-40B4-BE49-F238E27FC236}">
                <a16:creationId xmlns:a16="http://schemas.microsoft.com/office/drawing/2014/main" id="{A73B89A5-4D72-B117-A426-997B240240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-13478" b="-13478"/>
          <a:stretch/>
        </p:blipFill>
        <p:spPr>
          <a:xfrm>
            <a:off x="906424" y="2734298"/>
            <a:ext cx="105156" cy="133502"/>
          </a:xfrm>
          <a:prstGeom prst="rect">
            <a:avLst/>
          </a:prstGeom>
        </p:spPr>
      </p:pic>
      <p:sp>
        <p:nvSpPr>
          <p:cNvPr id="212" name="Text 9">
            <a:extLst>
              <a:ext uri="{FF2B5EF4-FFF2-40B4-BE49-F238E27FC236}">
                <a16:creationId xmlns:a16="http://schemas.microsoft.com/office/drawing/2014/main" id="{797B0E6E-48A3-A9E7-F749-FA027CE6855D}"/>
              </a:ext>
            </a:extLst>
          </p:cNvPr>
          <p:cNvSpPr txBox="1"/>
          <p:nvPr/>
        </p:nvSpPr>
        <p:spPr>
          <a:xfrm>
            <a:off x="1225550" y="2649259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SafetyNet Event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Text 10">
            <a:extLst>
              <a:ext uri="{FF2B5EF4-FFF2-40B4-BE49-F238E27FC236}">
                <a16:creationId xmlns:a16="http://schemas.microsoft.com/office/drawing/2014/main" id="{1FB8B1A5-761C-8A12-7589-4BEB5227D012}"/>
              </a:ext>
            </a:extLst>
          </p:cNvPr>
          <p:cNvSpPr txBox="1"/>
          <p:nvPr/>
        </p:nvSpPr>
        <p:spPr>
          <a:xfrm>
            <a:off x="1225550" y="2820252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stream signals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Shape 11">
            <a:extLst>
              <a:ext uri="{FF2B5EF4-FFF2-40B4-BE49-F238E27FC236}">
                <a16:creationId xmlns:a16="http://schemas.microsoft.com/office/drawing/2014/main" id="{10D92275-9447-E884-8DA3-16A4C3F7B2CF}"/>
              </a:ext>
            </a:extLst>
          </p:cNvPr>
          <p:cNvSpPr/>
          <p:nvPr/>
        </p:nvSpPr>
        <p:spPr>
          <a:xfrm>
            <a:off x="615645" y="3182354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" name="Shape 12">
            <a:extLst>
              <a:ext uri="{FF2B5EF4-FFF2-40B4-BE49-F238E27FC236}">
                <a16:creationId xmlns:a16="http://schemas.microsoft.com/office/drawing/2014/main" id="{5A951061-3769-CB21-6EA2-2BAE1DB87BA1}"/>
              </a:ext>
            </a:extLst>
          </p:cNvPr>
          <p:cNvSpPr/>
          <p:nvPr/>
        </p:nvSpPr>
        <p:spPr>
          <a:xfrm>
            <a:off x="615645" y="3182354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0" name="Image 6" descr="gen-dedup-3b2e84948980196448fbc017596c33d5.png">
            <a:extLst>
              <a:ext uri="{FF2B5EF4-FFF2-40B4-BE49-F238E27FC236}">
                <a16:creationId xmlns:a16="http://schemas.microsoft.com/office/drawing/2014/main" id="{AC447943-3080-702D-F818-083E4667E63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06755" y="3296654"/>
            <a:ext cx="304495" cy="304495"/>
          </a:xfrm>
          <a:prstGeom prst="rect">
            <a:avLst/>
          </a:prstGeom>
        </p:spPr>
      </p:pic>
      <p:pic>
        <p:nvPicPr>
          <p:cNvPr id="222" name="Image 7" descr="gen-dedup-a8754db6f5baf34b33440bb1ab5d515e.png">
            <a:extLst>
              <a:ext uri="{FF2B5EF4-FFF2-40B4-BE49-F238E27FC236}">
                <a16:creationId xmlns:a16="http://schemas.microsoft.com/office/drawing/2014/main" id="{D0EC73F3-F57B-F608-73A1-06ADF58D6DF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-13478" b="-13478"/>
          <a:stretch/>
        </p:blipFill>
        <p:spPr>
          <a:xfrm>
            <a:off x="906424" y="3382608"/>
            <a:ext cx="105156" cy="133502"/>
          </a:xfrm>
          <a:prstGeom prst="rect">
            <a:avLst/>
          </a:prstGeom>
        </p:spPr>
      </p:pic>
      <p:sp>
        <p:nvSpPr>
          <p:cNvPr id="224" name="Text 13">
            <a:extLst>
              <a:ext uri="{FF2B5EF4-FFF2-40B4-BE49-F238E27FC236}">
                <a16:creationId xmlns:a16="http://schemas.microsoft.com/office/drawing/2014/main" id="{08F6793D-3AF3-EE1B-6374-BBD2B8B38B32}"/>
              </a:ext>
            </a:extLst>
          </p:cNvPr>
          <p:cNvSpPr txBox="1"/>
          <p:nvPr/>
        </p:nvSpPr>
        <p:spPr>
          <a:xfrm>
            <a:off x="1225550" y="3296654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Threshold Breach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Text 14">
            <a:extLst>
              <a:ext uri="{FF2B5EF4-FFF2-40B4-BE49-F238E27FC236}">
                <a16:creationId xmlns:a16="http://schemas.microsoft.com/office/drawing/2014/main" id="{07876264-073D-7687-EC62-CF79A39F8003}"/>
              </a:ext>
            </a:extLst>
          </p:cNvPr>
          <p:cNvSpPr txBox="1"/>
          <p:nvPr/>
        </p:nvSpPr>
        <p:spPr>
          <a:xfrm>
            <a:off x="1225550" y="346764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Gate proximity alerts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Shape 15">
            <a:extLst>
              <a:ext uri="{FF2B5EF4-FFF2-40B4-BE49-F238E27FC236}">
                <a16:creationId xmlns:a16="http://schemas.microsoft.com/office/drawing/2014/main" id="{7DCAC76F-E778-3819-181B-EAB1986C8AD0}"/>
              </a:ext>
            </a:extLst>
          </p:cNvPr>
          <p:cNvSpPr/>
          <p:nvPr/>
        </p:nvSpPr>
        <p:spPr>
          <a:xfrm>
            <a:off x="615645" y="3829750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0" name="Shape 16">
            <a:extLst>
              <a:ext uri="{FF2B5EF4-FFF2-40B4-BE49-F238E27FC236}">
                <a16:creationId xmlns:a16="http://schemas.microsoft.com/office/drawing/2014/main" id="{4365489D-C538-6F8D-0FB9-8B320F221EC5}"/>
              </a:ext>
            </a:extLst>
          </p:cNvPr>
          <p:cNvSpPr/>
          <p:nvPr/>
        </p:nvSpPr>
        <p:spPr>
          <a:xfrm>
            <a:off x="615645" y="3829750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2" name="Image 8" descr="gen-dedup-335d3597c03402871d25e53611d4bedc.png">
            <a:extLst>
              <a:ext uri="{FF2B5EF4-FFF2-40B4-BE49-F238E27FC236}">
                <a16:creationId xmlns:a16="http://schemas.microsoft.com/office/drawing/2014/main" id="{6D68C7DE-C208-93E7-BC9A-DE29758F4C9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6755" y="3944050"/>
            <a:ext cx="304495" cy="304495"/>
          </a:xfrm>
          <a:prstGeom prst="rect">
            <a:avLst/>
          </a:prstGeom>
        </p:spPr>
      </p:pic>
      <p:pic>
        <p:nvPicPr>
          <p:cNvPr id="234" name="Image 9" descr="gen-dedup-a140dedaf14a1ef35c320248d4d7ab16.png">
            <a:extLst>
              <a:ext uri="{FF2B5EF4-FFF2-40B4-BE49-F238E27FC236}">
                <a16:creationId xmlns:a16="http://schemas.microsoft.com/office/drawing/2014/main" id="{66A4BF14-BEBE-3B6C-9AEF-7D0F83E4BF9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-5544" b="-5544"/>
          <a:stretch/>
        </p:blipFill>
        <p:spPr>
          <a:xfrm>
            <a:off x="906424" y="4030003"/>
            <a:ext cx="105156" cy="133502"/>
          </a:xfrm>
          <a:prstGeom prst="rect">
            <a:avLst/>
          </a:prstGeom>
        </p:spPr>
      </p:pic>
      <p:sp>
        <p:nvSpPr>
          <p:cNvPr id="236" name="Text 17">
            <a:extLst>
              <a:ext uri="{FF2B5EF4-FFF2-40B4-BE49-F238E27FC236}">
                <a16:creationId xmlns:a16="http://schemas.microsoft.com/office/drawing/2014/main" id="{5EB4DB6B-CD46-8F9E-4227-8C2A879EC27F}"/>
              </a:ext>
            </a:extLst>
          </p:cNvPr>
          <p:cNvSpPr txBox="1"/>
          <p:nvPr/>
        </p:nvSpPr>
        <p:spPr>
          <a:xfrm>
            <a:off x="1225550" y="3944050"/>
            <a:ext cx="1524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Manual Kickoff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8" name="Text 18">
            <a:extLst>
              <a:ext uri="{FF2B5EF4-FFF2-40B4-BE49-F238E27FC236}">
                <a16:creationId xmlns:a16="http://schemas.microsoft.com/office/drawing/2014/main" id="{806F7845-B570-28B8-2232-BB8B3359B6C4}"/>
              </a:ext>
            </a:extLst>
          </p:cNvPr>
          <p:cNvSpPr txBox="1"/>
          <p:nvPr/>
        </p:nvSpPr>
        <p:spPr>
          <a:xfrm>
            <a:off x="1225550" y="4115957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Analyst initiated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0" name="Image 10" descr="gen-dedup-d72ac35a79d59c0de3ac839ccd0228a0.png">
            <a:extLst>
              <a:ext uri="{FF2B5EF4-FFF2-40B4-BE49-F238E27FC236}">
                <a16:creationId xmlns:a16="http://schemas.microsoft.com/office/drawing/2014/main" id="{C9BDF7A3-E0F8-9150-F9F6-E282412EC04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4" r="-4"/>
          <a:stretch/>
        </p:blipFill>
        <p:spPr>
          <a:xfrm>
            <a:off x="3321355" y="1286803"/>
            <a:ext cx="5486400" cy="4190695"/>
          </a:xfrm>
          <a:prstGeom prst="rect">
            <a:avLst/>
          </a:prstGeom>
        </p:spPr>
      </p:pic>
      <p:sp>
        <p:nvSpPr>
          <p:cNvPr id="242" name="Shape 19">
            <a:extLst>
              <a:ext uri="{FF2B5EF4-FFF2-40B4-BE49-F238E27FC236}">
                <a16:creationId xmlns:a16="http://schemas.microsoft.com/office/drawing/2014/main" id="{6D0AF345-E6F0-4DD1-48EF-A77AB7A221D3}"/>
              </a:ext>
            </a:extLst>
          </p:cNvPr>
          <p:cNvSpPr/>
          <p:nvPr/>
        </p:nvSpPr>
        <p:spPr>
          <a:xfrm>
            <a:off x="3511550" y="1810754"/>
            <a:ext cx="5105095" cy="1920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4" name="Image 11" descr="gen-dedup-7558e3ab6b10d34512ebdce3fb5e43a0.png">
            <a:extLst>
              <a:ext uri="{FF2B5EF4-FFF2-40B4-BE49-F238E27FC236}">
                <a16:creationId xmlns:a16="http://schemas.microsoft.com/office/drawing/2014/main" id="{C5B4AD50-2DC2-968B-009D-7FF17AD9D7B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33500" b="-33500"/>
          <a:stretch/>
        </p:blipFill>
        <p:spPr>
          <a:xfrm>
            <a:off x="3511550" y="1530034"/>
            <a:ext cx="114300" cy="152705"/>
          </a:xfrm>
          <a:prstGeom prst="rect">
            <a:avLst/>
          </a:prstGeom>
        </p:spPr>
      </p:pic>
      <p:sp>
        <p:nvSpPr>
          <p:cNvPr id="246" name="Text 20">
            <a:extLst>
              <a:ext uri="{FF2B5EF4-FFF2-40B4-BE49-F238E27FC236}">
                <a16:creationId xmlns:a16="http://schemas.microsoft.com/office/drawing/2014/main" id="{5568848A-BC8C-B1E3-02F8-EC0863EC05BC}"/>
              </a:ext>
            </a:extLst>
          </p:cNvPr>
          <p:cNvSpPr txBox="1"/>
          <p:nvPr/>
        </p:nvSpPr>
        <p:spPr>
          <a:xfrm>
            <a:off x="3720948" y="1515403"/>
            <a:ext cx="1669694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Bedrock AgentCore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8" name="Shape 21">
            <a:extLst>
              <a:ext uri="{FF2B5EF4-FFF2-40B4-BE49-F238E27FC236}">
                <a16:creationId xmlns:a16="http://schemas.microsoft.com/office/drawing/2014/main" id="{926C9174-29A1-6A02-24BD-75CDC8A3C5E4}"/>
              </a:ext>
            </a:extLst>
          </p:cNvPr>
          <p:cNvSpPr/>
          <p:nvPr/>
        </p:nvSpPr>
        <p:spPr>
          <a:xfrm>
            <a:off x="8132928" y="1567524"/>
            <a:ext cx="75895" cy="75895"/>
          </a:xfrm>
          <a:prstGeom prst="ellipse">
            <a:avLst/>
          </a:prstGeom>
          <a:solidFill>
            <a:srgbClr val="4CAF50">
              <a:alpha val="9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0" name="Text 22">
            <a:extLst>
              <a:ext uri="{FF2B5EF4-FFF2-40B4-BE49-F238E27FC236}">
                <a16:creationId xmlns:a16="http://schemas.microsoft.com/office/drawing/2014/main" id="{BF6B10DD-CEFA-83E1-1194-FEE1FBFC7807}"/>
              </a:ext>
            </a:extLst>
          </p:cNvPr>
          <p:cNvSpPr txBox="1"/>
          <p:nvPr/>
        </p:nvSpPr>
        <p:spPr>
          <a:xfrm>
            <a:off x="8266430" y="1534606"/>
            <a:ext cx="47823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4CAF5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Active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2" name="Shape 23">
            <a:extLst>
              <a:ext uri="{FF2B5EF4-FFF2-40B4-BE49-F238E27FC236}">
                <a16:creationId xmlns:a16="http://schemas.microsoft.com/office/drawing/2014/main" id="{A512995E-62D2-EAB0-DCF9-F98516CF3586}"/>
              </a:ext>
            </a:extLst>
          </p:cNvPr>
          <p:cNvSpPr/>
          <p:nvPr/>
        </p:nvSpPr>
        <p:spPr>
          <a:xfrm>
            <a:off x="3511550" y="2020152"/>
            <a:ext cx="5105095" cy="1019556"/>
          </a:xfrm>
          <a:prstGeom prst="roundRect">
            <a:avLst>
              <a:gd name="adj" fmla="val 1121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4" name="Image 12" descr="gen-dedup-49f8f2f6de0626cee8679e9615489313.png">
            <a:extLst>
              <a:ext uri="{FF2B5EF4-FFF2-40B4-BE49-F238E27FC236}">
                <a16:creationId xmlns:a16="http://schemas.microsoft.com/office/drawing/2014/main" id="{2E75399E-569E-1529-7948-9E4C18D25F03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311650" y="2210347"/>
            <a:ext cx="418795" cy="418795"/>
          </a:xfrm>
          <a:prstGeom prst="rect">
            <a:avLst/>
          </a:prstGeom>
        </p:spPr>
      </p:pic>
      <p:pic>
        <p:nvPicPr>
          <p:cNvPr id="256" name="Image 13" descr="gen-dedup-bb94604638c0df84051921abd9e1ede4.png">
            <a:extLst>
              <a:ext uri="{FF2B5EF4-FFF2-40B4-BE49-F238E27FC236}">
                <a16:creationId xmlns:a16="http://schemas.microsoft.com/office/drawing/2014/main" id="{244087D3-FC59-0055-A0AC-5076B6C4815A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-16800" b="-16800"/>
          <a:stretch/>
        </p:blipFill>
        <p:spPr>
          <a:xfrm>
            <a:off x="4464355" y="2343850"/>
            <a:ext cx="114300" cy="152705"/>
          </a:xfrm>
          <a:prstGeom prst="rect">
            <a:avLst/>
          </a:prstGeom>
        </p:spPr>
      </p:pic>
      <p:sp>
        <p:nvSpPr>
          <p:cNvPr id="258" name="Text 24">
            <a:extLst>
              <a:ext uri="{FF2B5EF4-FFF2-40B4-BE49-F238E27FC236}">
                <a16:creationId xmlns:a16="http://schemas.microsoft.com/office/drawing/2014/main" id="{676A328C-82CE-B957-6927-9F548016E0BC}"/>
              </a:ext>
            </a:extLst>
          </p:cNvPr>
          <p:cNvSpPr txBox="1"/>
          <p:nvPr/>
        </p:nvSpPr>
        <p:spPr>
          <a:xfrm>
            <a:off x="4324452" y="2705952"/>
            <a:ext cx="40325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Think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0" name="Image 14" descr="gen-dedup-24d926efd97231d9bbfe44daebff4577.png">
            <a:extLst>
              <a:ext uri="{FF2B5EF4-FFF2-40B4-BE49-F238E27FC236}">
                <a16:creationId xmlns:a16="http://schemas.microsoft.com/office/drawing/2014/main" id="{F1F1CAB1-FCB2-D46D-8109-CACF85B39BD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336" b="-6336"/>
          <a:stretch/>
        </p:blipFill>
        <p:spPr>
          <a:xfrm>
            <a:off x="4959960" y="2441690"/>
            <a:ext cx="133502" cy="171907"/>
          </a:xfrm>
          <a:prstGeom prst="rect">
            <a:avLst/>
          </a:prstGeom>
        </p:spPr>
      </p:pic>
      <p:pic>
        <p:nvPicPr>
          <p:cNvPr id="262" name="Image 15" descr="gen-dedup-107989b913bbeb232000a410174f5b2e.png">
            <a:extLst>
              <a:ext uri="{FF2B5EF4-FFF2-40B4-BE49-F238E27FC236}">
                <a16:creationId xmlns:a16="http://schemas.microsoft.com/office/drawing/2014/main" id="{F01FFA43-380F-B578-2261-C7CEC9E71C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322062" y="2210347"/>
            <a:ext cx="418795" cy="418795"/>
          </a:xfrm>
          <a:prstGeom prst="rect">
            <a:avLst/>
          </a:prstGeom>
        </p:spPr>
      </p:pic>
      <p:pic>
        <p:nvPicPr>
          <p:cNvPr id="264" name="Image 16" descr="gen-dedup-c6f705109fd13c3af277680d7cc1d875.png">
            <a:extLst>
              <a:ext uri="{FF2B5EF4-FFF2-40B4-BE49-F238E27FC236}">
                <a16:creationId xmlns:a16="http://schemas.microsoft.com/office/drawing/2014/main" id="{0877A825-432C-95D3-203E-927B02D4AE2D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-100" b="-100"/>
          <a:stretch/>
        </p:blipFill>
        <p:spPr>
          <a:xfrm>
            <a:off x="5473852" y="2343850"/>
            <a:ext cx="114300" cy="152705"/>
          </a:xfrm>
          <a:prstGeom prst="rect">
            <a:avLst/>
          </a:prstGeom>
        </p:spPr>
      </p:pic>
      <p:sp>
        <p:nvSpPr>
          <p:cNvPr id="266" name="Text 25">
            <a:extLst>
              <a:ext uri="{FF2B5EF4-FFF2-40B4-BE49-F238E27FC236}">
                <a16:creationId xmlns:a16="http://schemas.microsoft.com/office/drawing/2014/main" id="{60E1F3BA-6DBC-BEB9-0362-1F2465364FA4}"/>
              </a:ext>
            </a:extLst>
          </p:cNvPr>
          <p:cNvSpPr txBox="1"/>
          <p:nvPr/>
        </p:nvSpPr>
        <p:spPr>
          <a:xfrm>
            <a:off x="5414416" y="2705952"/>
            <a:ext cx="24323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8" name="Image 17" descr="gen-dedup-24d926efd97231d9bbfe44daebff4577.png">
            <a:extLst>
              <a:ext uri="{FF2B5EF4-FFF2-40B4-BE49-F238E27FC236}">
                <a16:creationId xmlns:a16="http://schemas.microsoft.com/office/drawing/2014/main" id="{16BF373B-E5F4-4F6A-6E76-90069CCE129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336" b="-6336"/>
          <a:stretch/>
        </p:blipFill>
        <p:spPr>
          <a:xfrm>
            <a:off x="5969457" y="2441690"/>
            <a:ext cx="133502" cy="171907"/>
          </a:xfrm>
          <a:prstGeom prst="rect">
            <a:avLst/>
          </a:prstGeom>
        </p:spPr>
      </p:pic>
      <p:pic>
        <p:nvPicPr>
          <p:cNvPr id="270" name="Image 18" descr="gen-dedup-816e1de341e3cceed1849e422bd742bc.png">
            <a:extLst>
              <a:ext uri="{FF2B5EF4-FFF2-40B4-BE49-F238E27FC236}">
                <a16:creationId xmlns:a16="http://schemas.microsoft.com/office/drawing/2014/main" id="{E3CA85E4-D91A-97D5-CD52-4BB50AD878C0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6358992" y="2210347"/>
            <a:ext cx="418795" cy="418795"/>
          </a:xfrm>
          <a:prstGeom prst="rect">
            <a:avLst/>
          </a:prstGeom>
        </p:spPr>
      </p:pic>
      <p:pic>
        <p:nvPicPr>
          <p:cNvPr id="272" name="Image 19" descr="gen-dedup-3093283b515c95b5f55dc13b30b2da46.png">
            <a:extLst>
              <a:ext uri="{FF2B5EF4-FFF2-40B4-BE49-F238E27FC236}">
                <a16:creationId xmlns:a16="http://schemas.microsoft.com/office/drawing/2014/main" id="{3E60A7D9-0944-29D7-BAAE-74781E150CDA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-25150" b="-25150"/>
          <a:stretch/>
        </p:blipFill>
        <p:spPr>
          <a:xfrm>
            <a:off x="6511696" y="2343850"/>
            <a:ext cx="114300" cy="152705"/>
          </a:xfrm>
          <a:prstGeom prst="rect">
            <a:avLst/>
          </a:prstGeom>
        </p:spPr>
      </p:pic>
      <p:sp>
        <p:nvSpPr>
          <p:cNvPr id="274" name="Text 26">
            <a:extLst>
              <a:ext uri="{FF2B5EF4-FFF2-40B4-BE49-F238E27FC236}">
                <a16:creationId xmlns:a16="http://schemas.microsoft.com/office/drawing/2014/main" id="{2BE476B8-3F22-CDBB-9D96-EB75EA53ABAB}"/>
              </a:ext>
            </a:extLst>
          </p:cNvPr>
          <p:cNvSpPr txBox="1"/>
          <p:nvPr/>
        </p:nvSpPr>
        <p:spPr>
          <a:xfrm>
            <a:off x="6285840" y="2705952"/>
            <a:ext cx="567842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Observe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6" name="Image 20" descr="gen-dedup-24d926efd97231d9bbfe44daebff4577.png">
            <a:extLst>
              <a:ext uri="{FF2B5EF4-FFF2-40B4-BE49-F238E27FC236}">
                <a16:creationId xmlns:a16="http://schemas.microsoft.com/office/drawing/2014/main" id="{5FFB7150-21D8-7652-4BE0-C9994A7B9E2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-6336" b="-6336"/>
          <a:stretch/>
        </p:blipFill>
        <p:spPr>
          <a:xfrm>
            <a:off x="7035648" y="2441690"/>
            <a:ext cx="133502" cy="171907"/>
          </a:xfrm>
          <a:prstGeom prst="rect">
            <a:avLst/>
          </a:prstGeom>
        </p:spPr>
      </p:pic>
      <p:pic>
        <p:nvPicPr>
          <p:cNvPr id="278" name="Image 21" descr="gen-dedup-5ac6af7cc32e0ab5ee9dd90f81c220d6.png">
            <a:extLst>
              <a:ext uri="{FF2B5EF4-FFF2-40B4-BE49-F238E27FC236}">
                <a16:creationId xmlns:a16="http://schemas.microsoft.com/office/drawing/2014/main" id="{18DB8EBB-48A0-B8C1-086F-405B15128EF7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7396836" y="2210347"/>
            <a:ext cx="418795" cy="418795"/>
          </a:xfrm>
          <a:prstGeom prst="rect">
            <a:avLst/>
          </a:prstGeom>
        </p:spPr>
      </p:pic>
      <p:sp>
        <p:nvSpPr>
          <p:cNvPr id="280" name="Text 27">
            <a:extLst>
              <a:ext uri="{FF2B5EF4-FFF2-40B4-BE49-F238E27FC236}">
                <a16:creationId xmlns:a16="http://schemas.microsoft.com/office/drawing/2014/main" id="{7E3E3CB6-4515-40A6-2E5D-82A6BF198212}"/>
              </a:ext>
            </a:extLst>
          </p:cNvPr>
          <p:cNvSpPr txBox="1"/>
          <p:nvPr/>
        </p:nvSpPr>
        <p:spPr>
          <a:xfrm>
            <a:off x="7368489" y="2705952"/>
            <a:ext cx="48006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Refine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2" name="Shape 28">
            <a:extLst>
              <a:ext uri="{FF2B5EF4-FFF2-40B4-BE49-F238E27FC236}">
                <a16:creationId xmlns:a16="http://schemas.microsoft.com/office/drawing/2014/main" id="{10AE78B1-6FF3-E0E9-88BB-93BDEF93E9F3}"/>
              </a:ext>
            </a:extLst>
          </p:cNvPr>
          <p:cNvSpPr/>
          <p:nvPr/>
        </p:nvSpPr>
        <p:spPr>
          <a:xfrm>
            <a:off x="3511550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4" name="Image 22" descr="gen-dedup-49ca8a266a4ba2819bf6ef39a68134c2.png">
            <a:extLst>
              <a:ext uri="{FF2B5EF4-FFF2-40B4-BE49-F238E27FC236}">
                <a16:creationId xmlns:a16="http://schemas.microsoft.com/office/drawing/2014/main" id="{FDCE585A-37F4-1213-0B79-3324F424B45A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3849878" y="3554515"/>
            <a:ext cx="267005" cy="267005"/>
          </a:xfrm>
          <a:prstGeom prst="rect">
            <a:avLst/>
          </a:prstGeom>
        </p:spPr>
      </p:pic>
      <p:pic>
        <p:nvPicPr>
          <p:cNvPr id="286" name="Image 23" descr="gen-dedup-935cbe4830734878aa8d4513ce6bd6ae.png">
            <a:extLst>
              <a:ext uri="{FF2B5EF4-FFF2-40B4-BE49-F238E27FC236}">
                <a16:creationId xmlns:a16="http://schemas.microsoft.com/office/drawing/2014/main" id="{BD59C7A5-51D8-403B-DB0F-F00FB506A7E6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t="-3524" b="-3524"/>
          <a:stretch/>
        </p:blipFill>
        <p:spPr>
          <a:xfrm>
            <a:off x="3940404" y="3635897"/>
            <a:ext cx="85954" cy="105156"/>
          </a:xfrm>
          <a:prstGeom prst="rect">
            <a:avLst/>
          </a:prstGeom>
        </p:spPr>
      </p:pic>
      <p:sp>
        <p:nvSpPr>
          <p:cNvPr id="288" name="Text 29">
            <a:extLst>
              <a:ext uri="{FF2B5EF4-FFF2-40B4-BE49-F238E27FC236}">
                <a16:creationId xmlns:a16="http://schemas.microsoft.com/office/drawing/2014/main" id="{222A6E8E-A2CF-6570-1E4F-307956D92EEA}"/>
              </a:ext>
            </a:extLst>
          </p:cNvPr>
          <p:cNvSpPr txBox="1"/>
          <p:nvPr/>
        </p:nvSpPr>
        <p:spPr>
          <a:xfrm>
            <a:off x="3597504" y="3916618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Query SafetyNet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0" name="Text 30">
            <a:extLst>
              <a:ext uri="{FF2B5EF4-FFF2-40B4-BE49-F238E27FC236}">
                <a16:creationId xmlns:a16="http://schemas.microsoft.com/office/drawing/2014/main" id="{A23B760D-22BA-43D3-4253-BDFC54B14F4D}"/>
              </a:ext>
            </a:extLst>
          </p:cNvPr>
          <p:cNvSpPr txBox="1"/>
          <p:nvPr/>
        </p:nvSpPr>
        <p:spPr>
          <a:xfrm>
            <a:off x="3517951" y="4183622"/>
            <a:ext cx="940918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Athena over Glue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Shape 31">
            <a:extLst>
              <a:ext uri="{FF2B5EF4-FFF2-40B4-BE49-F238E27FC236}">
                <a16:creationId xmlns:a16="http://schemas.microsoft.com/office/drawing/2014/main" id="{9A47AB1C-9D05-8F1F-558D-C09A00999F39}"/>
              </a:ext>
            </a:extLst>
          </p:cNvPr>
          <p:cNvSpPr/>
          <p:nvPr/>
        </p:nvSpPr>
        <p:spPr>
          <a:xfrm>
            <a:off x="4551223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4" name="Image 24" descr="gen-dedup-be2a9dd0b851ca010e3ad75377430538.png">
            <a:extLst>
              <a:ext uri="{FF2B5EF4-FFF2-40B4-BE49-F238E27FC236}">
                <a16:creationId xmlns:a16="http://schemas.microsoft.com/office/drawing/2014/main" id="{077A0422-46AB-5D72-D397-02545A11CE8C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4891380" y="3612122"/>
            <a:ext cx="267005" cy="267005"/>
          </a:xfrm>
          <a:prstGeom prst="rect">
            <a:avLst/>
          </a:prstGeom>
        </p:spPr>
      </p:pic>
      <p:pic>
        <p:nvPicPr>
          <p:cNvPr id="296" name="Image 25" descr="gen-dedup-60f7c3179d7be417cc0c2bb993fb6f45.png">
            <a:extLst>
              <a:ext uri="{FF2B5EF4-FFF2-40B4-BE49-F238E27FC236}">
                <a16:creationId xmlns:a16="http://schemas.microsoft.com/office/drawing/2014/main" id="{1ADBE592-71CC-7AEA-332D-568A44F28886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t="-26462" b="-26462"/>
          <a:stretch/>
        </p:blipFill>
        <p:spPr>
          <a:xfrm>
            <a:off x="4981905" y="3692590"/>
            <a:ext cx="85954" cy="105156"/>
          </a:xfrm>
          <a:prstGeom prst="rect">
            <a:avLst/>
          </a:prstGeom>
        </p:spPr>
      </p:pic>
      <p:sp>
        <p:nvSpPr>
          <p:cNvPr id="298" name="Text 32">
            <a:extLst>
              <a:ext uri="{FF2B5EF4-FFF2-40B4-BE49-F238E27FC236}">
                <a16:creationId xmlns:a16="http://schemas.microsoft.com/office/drawing/2014/main" id="{6F721311-87CB-8EE2-B287-D52DAD465A30}"/>
              </a:ext>
            </a:extLst>
          </p:cNvPr>
          <p:cNvSpPr txBox="1"/>
          <p:nvPr/>
        </p:nvSpPr>
        <p:spPr>
          <a:xfrm>
            <a:off x="4525620" y="3973310"/>
            <a:ext cx="100309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Parse/Normalize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0" name="Text 33">
            <a:extLst>
              <a:ext uri="{FF2B5EF4-FFF2-40B4-BE49-F238E27FC236}">
                <a16:creationId xmlns:a16="http://schemas.microsoft.com/office/drawing/2014/main" id="{ABC20BE2-AFA3-05FC-3FE0-783ED3754101}"/>
              </a:ext>
            </a:extLst>
          </p:cNvPr>
          <p:cNvSpPr txBox="1"/>
          <p:nvPr/>
        </p:nvSpPr>
        <p:spPr>
          <a:xfrm>
            <a:off x="4637176" y="4126015"/>
            <a:ext cx="7818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Glue jobs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2" name="Shape 34">
            <a:extLst>
              <a:ext uri="{FF2B5EF4-FFF2-40B4-BE49-F238E27FC236}">
                <a16:creationId xmlns:a16="http://schemas.microsoft.com/office/drawing/2014/main" id="{453C16A8-7D65-BAD6-A6B7-20B77B277211}"/>
              </a:ext>
            </a:extLst>
          </p:cNvPr>
          <p:cNvSpPr/>
          <p:nvPr/>
        </p:nvSpPr>
        <p:spPr>
          <a:xfrm>
            <a:off x="5593639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4" name="Image 26" descr="gen-dedup-6b13672911c3d5d4f14df7f91927e5e6.png">
            <a:extLst>
              <a:ext uri="{FF2B5EF4-FFF2-40B4-BE49-F238E27FC236}">
                <a16:creationId xmlns:a16="http://schemas.microsoft.com/office/drawing/2014/main" id="{709DAD81-ACCD-7BA7-0BCE-C4D1637BB28B}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>
            <a:off x="5931967" y="3560002"/>
            <a:ext cx="267005" cy="267005"/>
          </a:xfrm>
          <a:prstGeom prst="rect">
            <a:avLst/>
          </a:prstGeom>
        </p:spPr>
      </p:pic>
      <p:pic>
        <p:nvPicPr>
          <p:cNvPr id="306" name="Image 27" descr="gen-dedup-89f701cfd83c22b39ed74b9fe848015d.png">
            <a:extLst>
              <a:ext uri="{FF2B5EF4-FFF2-40B4-BE49-F238E27FC236}">
                <a16:creationId xmlns:a16="http://schemas.microsoft.com/office/drawing/2014/main" id="{39132B6D-341A-3F68-EDC5-4415D92C8B83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 t="-11170" b="-11170"/>
          <a:stretch/>
        </p:blipFill>
        <p:spPr>
          <a:xfrm>
            <a:off x="6022492" y="3641383"/>
            <a:ext cx="85954" cy="105156"/>
          </a:xfrm>
          <a:prstGeom prst="rect">
            <a:avLst/>
          </a:prstGeom>
        </p:spPr>
      </p:pic>
      <p:sp>
        <p:nvSpPr>
          <p:cNvPr id="308" name="Text 35">
            <a:extLst>
              <a:ext uri="{FF2B5EF4-FFF2-40B4-BE49-F238E27FC236}">
                <a16:creationId xmlns:a16="http://schemas.microsoft.com/office/drawing/2014/main" id="{A0263F57-326F-C6BF-485A-8DB1EA72D3D9}"/>
              </a:ext>
            </a:extLst>
          </p:cNvPr>
          <p:cNvSpPr txBox="1"/>
          <p:nvPr/>
        </p:nvSpPr>
        <p:spPr>
          <a:xfrm>
            <a:off x="5678678" y="3922104"/>
            <a:ext cx="7818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Run Analytics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0" name="Text 36">
            <a:extLst>
              <a:ext uri="{FF2B5EF4-FFF2-40B4-BE49-F238E27FC236}">
                <a16:creationId xmlns:a16="http://schemas.microsoft.com/office/drawing/2014/main" id="{D2260BBB-61ED-3B98-50CF-72B4FF8F1CAB}"/>
              </a:ext>
            </a:extLst>
          </p:cNvPr>
          <p:cNvSpPr txBox="1"/>
          <p:nvPr/>
        </p:nvSpPr>
        <p:spPr>
          <a:xfrm>
            <a:off x="5678678" y="4074809"/>
            <a:ext cx="781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Metrics &amp; baselines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Shape 37">
            <a:extLst>
              <a:ext uri="{FF2B5EF4-FFF2-40B4-BE49-F238E27FC236}">
                <a16:creationId xmlns:a16="http://schemas.microsoft.com/office/drawing/2014/main" id="{D78C8D92-7E5B-8A78-0D7F-12FC5118720C}"/>
              </a:ext>
            </a:extLst>
          </p:cNvPr>
          <p:cNvSpPr/>
          <p:nvPr/>
        </p:nvSpPr>
        <p:spPr>
          <a:xfrm>
            <a:off x="6633312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4" name="Image 28" descr="gen-dedup-1c8c8ff20086cf99c29b6ae94e21952a.png">
            <a:extLst>
              <a:ext uri="{FF2B5EF4-FFF2-40B4-BE49-F238E27FC236}">
                <a16:creationId xmlns:a16="http://schemas.microsoft.com/office/drawing/2014/main" id="{809DFD16-6FF5-63FE-297F-EC07FA781448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>
            <a:off x="6971640" y="3612122"/>
            <a:ext cx="267005" cy="267005"/>
          </a:xfrm>
          <a:prstGeom prst="rect">
            <a:avLst/>
          </a:prstGeom>
        </p:spPr>
      </p:pic>
      <p:pic>
        <p:nvPicPr>
          <p:cNvPr id="316" name="Image 29" descr="gen-dedup-22019a4691948cc4525f818ef824ae55.png">
            <a:extLst>
              <a:ext uri="{FF2B5EF4-FFF2-40B4-BE49-F238E27FC236}">
                <a16:creationId xmlns:a16="http://schemas.microsoft.com/office/drawing/2014/main" id="{BACE3136-31D8-6A90-C0E0-187720B1038C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t="-41270" b="-41270"/>
          <a:stretch/>
        </p:blipFill>
        <p:spPr>
          <a:xfrm>
            <a:off x="7076796" y="3692590"/>
            <a:ext cx="57607" cy="105156"/>
          </a:xfrm>
          <a:prstGeom prst="rect">
            <a:avLst/>
          </a:prstGeom>
        </p:spPr>
      </p:pic>
      <p:sp>
        <p:nvSpPr>
          <p:cNvPr id="318" name="Text 38">
            <a:extLst>
              <a:ext uri="{FF2B5EF4-FFF2-40B4-BE49-F238E27FC236}">
                <a16:creationId xmlns:a16="http://schemas.microsoft.com/office/drawing/2014/main" id="{9B441A1C-0AB3-6530-5C68-E66944C97572}"/>
              </a:ext>
            </a:extLst>
          </p:cNvPr>
          <p:cNvSpPr txBox="1"/>
          <p:nvPr/>
        </p:nvSpPr>
        <p:spPr>
          <a:xfrm>
            <a:off x="6718351" y="3973310"/>
            <a:ext cx="7818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Search Memory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0" name="Text 39">
            <a:extLst>
              <a:ext uri="{FF2B5EF4-FFF2-40B4-BE49-F238E27FC236}">
                <a16:creationId xmlns:a16="http://schemas.microsoft.com/office/drawing/2014/main" id="{094A1B64-AC2A-E659-307B-F2F5EAECF193}"/>
              </a:ext>
            </a:extLst>
          </p:cNvPr>
          <p:cNvSpPr txBox="1"/>
          <p:nvPr/>
        </p:nvSpPr>
        <p:spPr>
          <a:xfrm>
            <a:off x="6718351" y="4126015"/>
            <a:ext cx="7818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Knowledge Bases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2" name="Shape 40">
            <a:extLst>
              <a:ext uri="{FF2B5EF4-FFF2-40B4-BE49-F238E27FC236}">
                <a16:creationId xmlns:a16="http://schemas.microsoft.com/office/drawing/2014/main" id="{1CB25F21-C5D5-081B-F3EB-147415FD77AC}"/>
              </a:ext>
            </a:extLst>
          </p:cNvPr>
          <p:cNvSpPr/>
          <p:nvPr/>
        </p:nvSpPr>
        <p:spPr>
          <a:xfrm>
            <a:off x="7672070" y="3325001"/>
            <a:ext cx="952805" cy="1190549"/>
          </a:xfrm>
          <a:prstGeom prst="roundRect">
            <a:avLst>
              <a:gd name="adj" fmla="val 7965"/>
            </a:avLst>
          </a:prstGeom>
          <a:solidFill>
            <a:srgbClr val="FFFFFF"/>
          </a:solidFill>
          <a:ln w="12700">
            <a:solidFill>
              <a:srgbClr val="EEF0F2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4" name="Image 30" descr="gen-dedup-8899667e770767a5bd315d3e903f7341.png">
            <a:extLst>
              <a:ext uri="{FF2B5EF4-FFF2-40B4-BE49-F238E27FC236}">
                <a16:creationId xmlns:a16="http://schemas.microsoft.com/office/drawing/2014/main" id="{1EEE62DB-2F6B-8DE1-E618-9ADC8646FF3F}"/>
              </a:ext>
            </a:extLst>
          </p:cNvPr>
          <p:cNvPicPr>
            <a:picLocks noChangeAspect="1"/>
          </p:cNvPicPr>
          <p:nvPr/>
        </p:nvPicPr>
        <p:blipFill>
          <a:blip r:embed="rId31"/>
          <a:srcRect/>
          <a:stretch/>
        </p:blipFill>
        <p:spPr>
          <a:xfrm>
            <a:off x="8011312" y="3612122"/>
            <a:ext cx="267005" cy="267005"/>
          </a:xfrm>
          <a:prstGeom prst="rect">
            <a:avLst/>
          </a:prstGeom>
        </p:spPr>
      </p:pic>
      <p:pic>
        <p:nvPicPr>
          <p:cNvPr id="326" name="Image 31" descr="gen-dedup-fc88be6a5992841be87a7ab90e991538.png">
            <a:extLst>
              <a:ext uri="{FF2B5EF4-FFF2-40B4-BE49-F238E27FC236}">
                <a16:creationId xmlns:a16="http://schemas.microsoft.com/office/drawing/2014/main" id="{8F1B9F05-FB2C-FF52-C778-392B8FD526FA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-4493" r="-4493"/>
          <a:stretch/>
        </p:blipFill>
        <p:spPr>
          <a:xfrm>
            <a:off x="8101838" y="3692590"/>
            <a:ext cx="85954" cy="105156"/>
          </a:xfrm>
          <a:prstGeom prst="rect">
            <a:avLst/>
          </a:prstGeom>
        </p:spPr>
      </p:pic>
      <p:sp>
        <p:nvSpPr>
          <p:cNvPr id="328" name="Text 41">
            <a:extLst>
              <a:ext uri="{FF2B5EF4-FFF2-40B4-BE49-F238E27FC236}">
                <a16:creationId xmlns:a16="http://schemas.microsoft.com/office/drawing/2014/main" id="{5CDA1B9B-495F-9FD1-7641-DDB1DED01828}"/>
              </a:ext>
            </a:extLst>
          </p:cNvPr>
          <p:cNvSpPr txBox="1"/>
          <p:nvPr/>
        </p:nvSpPr>
        <p:spPr>
          <a:xfrm>
            <a:off x="7758024" y="3973310"/>
            <a:ext cx="7818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Draft Rec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0" name="Text 42">
            <a:extLst>
              <a:ext uri="{FF2B5EF4-FFF2-40B4-BE49-F238E27FC236}">
                <a16:creationId xmlns:a16="http://schemas.microsoft.com/office/drawing/2014/main" id="{E20A703E-E087-8954-0F9B-41BBB6E754C1}"/>
              </a:ext>
            </a:extLst>
          </p:cNvPr>
          <p:cNvSpPr txBox="1"/>
          <p:nvPr/>
        </p:nvSpPr>
        <p:spPr>
          <a:xfrm>
            <a:off x="7758024" y="4126015"/>
            <a:ext cx="781812" cy="105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777777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LLM via Bedrock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2" name="Shape 43">
            <a:extLst>
              <a:ext uri="{FF2B5EF4-FFF2-40B4-BE49-F238E27FC236}">
                <a16:creationId xmlns:a16="http://schemas.microsoft.com/office/drawing/2014/main" id="{EE3F6B7E-8E78-D593-287E-EDEB3036AA11}"/>
              </a:ext>
            </a:extLst>
          </p:cNvPr>
          <p:cNvSpPr/>
          <p:nvPr/>
        </p:nvSpPr>
        <p:spPr>
          <a:xfrm>
            <a:off x="3511550" y="4839247"/>
            <a:ext cx="5105095" cy="409651"/>
          </a:xfrm>
          <a:prstGeom prst="roundRect">
            <a:avLst>
              <a:gd name="adj" fmla="val 23214"/>
            </a:avLst>
          </a:prstGeom>
          <a:solidFill>
            <a:srgbClr val="000000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4" name="Image 32" descr="gen-dedup-2a4860cf039a263848e7a7ad82ef13b2.png">
            <a:extLst>
              <a:ext uri="{FF2B5EF4-FFF2-40B4-BE49-F238E27FC236}">
                <a16:creationId xmlns:a16="http://schemas.microsoft.com/office/drawing/2014/main" id="{AA37F25A-16E5-2F8D-083F-9C5C06C2D34B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t="-16489" b="-16489"/>
          <a:stretch/>
        </p:blipFill>
        <p:spPr>
          <a:xfrm>
            <a:off x="3683457" y="4987380"/>
            <a:ext cx="85954" cy="114300"/>
          </a:xfrm>
          <a:prstGeom prst="rect">
            <a:avLst/>
          </a:prstGeom>
        </p:spPr>
      </p:pic>
      <p:sp>
        <p:nvSpPr>
          <p:cNvPr id="336" name="Text 44">
            <a:extLst>
              <a:ext uri="{FF2B5EF4-FFF2-40B4-BE49-F238E27FC236}">
                <a16:creationId xmlns:a16="http://schemas.microsoft.com/office/drawing/2014/main" id="{2F7CA464-2586-01BA-8504-874036B4495C}"/>
              </a:ext>
            </a:extLst>
          </p:cNvPr>
          <p:cNvSpPr txBox="1"/>
          <p:nvPr/>
        </p:nvSpPr>
        <p:spPr>
          <a:xfrm>
            <a:off x="3845306" y="4972750"/>
            <a:ext cx="144018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Security: Cognito/IAM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" name="Text 45">
            <a:extLst>
              <a:ext uri="{FF2B5EF4-FFF2-40B4-BE49-F238E27FC236}">
                <a16:creationId xmlns:a16="http://schemas.microsoft.com/office/drawing/2014/main" id="{6434F08D-6D0E-A907-0A7F-BA164EED2D98}"/>
              </a:ext>
            </a:extLst>
          </p:cNvPr>
          <p:cNvSpPr txBox="1"/>
          <p:nvPr/>
        </p:nvSpPr>
        <p:spPr>
          <a:xfrm>
            <a:off x="5320233" y="4972750"/>
            <a:ext cx="176845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Encryption at rest/in transit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0" name="Text 46">
            <a:extLst>
              <a:ext uri="{FF2B5EF4-FFF2-40B4-BE49-F238E27FC236}">
                <a16:creationId xmlns:a16="http://schemas.microsoft.com/office/drawing/2014/main" id="{9770EC22-80B5-EA51-77C5-AAB91AAE1C9A}"/>
              </a:ext>
            </a:extLst>
          </p:cNvPr>
          <p:cNvSpPr txBox="1"/>
          <p:nvPr/>
        </p:nvSpPr>
        <p:spPr>
          <a:xfrm>
            <a:off x="7068566" y="4972750"/>
            <a:ext cx="7690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Audit logs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2" name="Text 47">
            <a:extLst>
              <a:ext uri="{FF2B5EF4-FFF2-40B4-BE49-F238E27FC236}">
                <a16:creationId xmlns:a16="http://schemas.microsoft.com/office/drawing/2014/main" id="{AA4EF9B7-BCC7-C447-9007-159321F4EAA3}"/>
              </a:ext>
            </a:extLst>
          </p:cNvPr>
          <p:cNvSpPr txBox="1"/>
          <p:nvPr/>
        </p:nvSpPr>
        <p:spPr>
          <a:xfrm>
            <a:off x="7660183" y="4972750"/>
            <a:ext cx="96926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RBAC enabled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44" name="Image 33" descr="gen-dedup-64dad604931dd69f3ab194324ee3fd90.png">
            <a:extLst>
              <a:ext uri="{FF2B5EF4-FFF2-40B4-BE49-F238E27FC236}">
                <a16:creationId xmlns:a16="http://schemas.microsoft.com/office/drawing/2014/main" id="{8B810CDD-2541-302C-4D52-1E6B2067DD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9" r="-9"/>
          <a:stretch/>
        </p:blipFill>
        <p:spPr>
          <a:xfrm>
            <a:off x="9036355" y="1286803"/>
            <a:ext cx="2667305" cy="4190695"/>
          </a:xfrm>
          <a:prstGeom prst="rect">
            <a:avLst/>
          </a:prstGeom>
        </p:spPr>
      </p:pic>
      <p:pic>
        <p:nvPicPr>
          <p:cNvPr id="346" name="Image 34" descr="gen-dedup-0f0d75fa47667f4d113b31859149b8bf.png">
            <a:extLst>
              <a:ext uri="{FF2B5EF4-FFF2-40B4-BE49-F238E27FC236}">
                <a16:creationId xmlns:a16="http://schemas.microsoft.com/office/drawing/2014/main" id="{8FDB7C9D-923A-1A53-451E-92FC7D17471C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t="-16800" b="-16800"/>
          <a:stretch/>
        </p:blipFill>
        <p:spPr>
          <a:xfrm>
            <a:off x="9226550" y="1530034"/>
            <a:ext cx="114300" cy="152705"/>
          </a:xfrm>
          <a:prstGeom prst="rect">
            <a:avLst/>
          </a:prstGeom>
        </p:spPr>
      </p:pic>
      <p:sp>
        <p:nvSpPr>
          <p:cNvPr id="348" name="Text 48">
            <a:extLst>
              <a:ext uri="{FF2B5EF4-FFF2-40B4-BE49-F238E27FC236}">
                <a16:creationId xmlns:a16="http://schemas.microsoft.com/office/drawing/2014/main" id="{E24D8C19-7AB9-33FA-EF94-304D055D6A4A}"/>
              </a:ext>
            </a:extLst>
          </p:cNvPr>
          <p:cNvSpPr txBox="1"/>
          <p:nvPr/>
        </p:nvSpPr>
        <p:spPr>
          <a:xfrm>
            <a:off x="9435948" y="1515403"/>
            <a:ext cx="688543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Outputs</a:t>
            </a:r>
            <a:endParaRPr 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0" name="Shape 49">
            <a:extLst>
              <a:ext uri="{FF2B5EF4-FFF2-40B4-BE49-F238E27FC236}">
                <a16:creationId xmlns:a16="http://schemas.microsoft.com/office/drawing/2014/main" id="{F211B66B-0121-45C5-313C-99CB3450E1DB}"/>
              </a:ext>
            </a:extLst>
          </p:cNvPr>
          <p:cNvSpPr/>
          <p:nvPr/>
        </p:nvSpPr>
        <p:spPr>
          <a:xfrm>
            <a:off x="9226550" y="1886650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2" name="Shape 50">
            <a:extLst>
              <a:ext uri="{FF2B5EF4-FFF2-40B4-BE49-F238E27FC236}">
                <a16:creationId xmlns:a16="http://schemas.microsoft.com/office/drawing/2014/main" id="{FCC9432C-2450-2A43-131B-BD0FC3389378}"/>
              </a:ext>
            </a:extLst>
          </p:cNvPr>
          <p:cNvSpPr/>
          <p:nvPr/>
        </p:nvSpPr>
        <p:spPr>
          <a:xfrm>
            <a:off x="9226550" y="1886650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4" name="Image 35" descr="gen-dedup-be818896e6fb24162976f6523ac05c5e.png">
            <a:extLst>
              <a:ext uri="{FF2B5EF4-FFF2-40B4-BE49-F238E27FC236}">
                <a16:creationId xmlns:a16="http://schemas.microsoft.com/office/drawing/2014/main" id="{CDF0D429-1425-FB6A-3F54-D2593D42C0D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416745" y="2000950"/>
            <a:ext cx="304495" cy="304495"/>
          </a:xfrm>
          <a:prstGeom prst="rect">
            <a:avLst/>
          </a:prstGeom>
        </p:spPr>
      </p:pic>
      <p:pic>
        <p:nvPicPr>
          <p:cNvPr id="356" name="Image 36" descr="gen-dedup-892aa39e7805546dc604f5d7761cc3cb.png">
            <a:extLst>
              <a:ext uri="{FF2B5EF4-FFF2-40B4-BE49-F238E27FC236}">
                <a16:creationId xmlns:a16="http://schemas.microsoft.com/office/drawing/2014/main" id="{A7C10A56-67AF-B583-3CC5-5B613FF5792C}"/>
              </a:ext>
            </a:extLst>
          </p:cNvPr>
          <p:cNvPicPr>
            <a:picLocks noChangeAspect="1"/>
          </p:cNvPicPr>
          <p:nvPr/>
        </p:nvPicPr>
        <p:blipFill>
          <a:blip r:embed="rId35"/>
          <a:srcRect t="-14904" b="-14904"/>
          <a:stretch/>
        </p:blipFill>
        <p:spPr>
          <a:xfrm>
            <a:off x="9521901" y="2091475"/>
            <a:ext cx="95098" cy="123444"/>
          </a:xfrm>
          <a:prstGeom prst="rect">
            <a:avLst/>
          </a:prstGeom>
        </p:spPr>
      </p:pic>
      <p:sp>
        <p:nvSpPr>
          <p:cNvPr id="358" name="Text 51">
            <a:extLst>
              <a:ext uri="{FF2B5EF4-FFF2-40B4-BE49-F238E27FC236}">
                <a16:creationId xmlns:a16="http://schemas.microsoft.com/office/drawing/2014/main" id="{5046D98A-35B2-D51E-A346-F41342FEDCE1}"/>
              </a:ext>
            </a:extLst>
          </p:cNvPr>
          <p:cNvSpPr txBox="1"/>
          <p:nvPr/>
        </p:nvSpPr>
        <p:spPr>
          <a:xfrm>
            <a:off x="9836455" y="2005522"/>
            <a:ext cx="1762049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Prepared Event Dashboard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0" name="Text 52">
            <a:extLst>
              <a:ext uri="{FF2B5EF4-FFF2-40B4-BE49-F238E27FC236}">
                <a16:creationId xmlns:a16="http://schemas.microsoft.com/office/drawing/2014/main" id="{BAD8D471-E01A-5C2A-EB37-A2B428771D2B}"/>
              </a:ext>
            </a:extLst>
          </p:cNvPr>
          <p:cNvSpPr txBox="1"/>
          <p:nvPr/>
        </p:nvSpPr>
        <p:spPr>
          <a:xfrm>
            <a:off x="9836455" y="2167370"/>
            <a:ext cx="175839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Pre-analyzed incident ready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2" name="Shape 53">
            <a:extLst>
              <a:ext uri="{FF2B5EF4-FFF2-40B4-BE49-F238E27FC236}">
                <a16:creationId xmlns:a16="http://schemas.microsoft.com/office/drawing/2014/main" id="{43FBE0B3-314F-430D-A91B-FFAF33B90C32}"/>
              </a:ext>
            </a:extLst>
          </p:cNvPr>
          <p:cNvSpPr/>
          <p:nvPr/>
        </p:nvSpPr>
        <p:spPr>
          <a:xfrm>
            <a:off x="9226550" y="2534959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4" name="Shape 54">
            <a:extLst>
              <a:ext uri="{FF2B5EF4-FFF2-40B4-BE49-F238E27FC236}">
                <a16:creationId xmlns:a16="http://schemas.microsoft.com/office/drawing/2014/main" id="{8D5CC20F-2C79-CF19-AEC5-ADA167DC01F8}"/>
              </a:ext>
            </a:extLst>
          </p:cNvPr>
          <p:cNvSpPr/>
          <p:nvPr/>
        </p:nvSpPr>
        <p:spPr>
          <a:xfrm>
            <a:off x="9226550" y="2534959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6" name="Image 37" descr="gen-dedup-b26fc2c7d1873e5f66057f1b99347aee.png">
            <a:extLst>
              <a:ext uri="{FF2B5EF4-FFF2-40B4-BE49-F238E27FC236}">
                <a16:creationId xmlns:a16="http://schemas.microsoft.com/office/drawing/2014/main" id="{D1822779-E9A1-B96A-D3FD-44B0C7F07BD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416745" y="2649259"/>
            <a:ext cx="304495" cy="304495"/>
          </a:xfrm>
          <a:prstGeom prst="rect">
            <a:avLst/>
          </a:prstGeom>
        </p:spPr>
      </p:pic>
      <p:pic>
        <p:nvPicPr>
          <p:cNvPr id="368" name="Image 38" descr="gen-dedup-ab186984bb5d998e3ce7dc417b93ae49.png">
            <a:extLst>
              <a:ext uri="{FF2B5EF4-FFF2-40B4-BE49-F238E27FC236}">
                <a16:creationId xmlns:a16="http://schemas.microsoft.com/office/drawing/2014/main" id="{1DDB8793-0ABA-1D5E-F2B4-8CED287EF769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t="-6791" b="-6791"/>
          <a:stretch/>
        </p:blipFill>
        <p:spPr>
          <a:xfrm>
            <a:off x="9521901" y="2738870"/>
            <a:ext cx="95098" cy="123444"/>
          </a:xfrm>
          <a:prstGeom prst="rect">
            <a:avLst/>
          </a:prstGeom>
        </p:spPr>
      </p:pic>
      <p:sp>
        <p:nvSpPr>
          <p:cNvPr id="370" name="Text 55">
            <a:extLst>
              <a:ext uri="{FF2B5EF4-FFF2-40B4-BE49-F238E27FC236}">
                <a16:creationId xmlns:a16="http://schemas.microsoft.com/office/drawing/2014/main" id="{E915CC8E-09E0-7EC7-2C6B-3BB9E1D617A1}"/>
              </a:ext>
            </a:extLst>
          </p:cNvPr>
          <p:cNvSpPr txBox="1"/>
          <p:nvPr/>
        </p:nvSpPr>
        <p:spPr>
          <a:xfrm>
            <a:off x="9836455" y="2653831"/>
            <a:ext cx="169164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Notification to Analyst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2" name="Text 56">
            <a:extLst>
              <a:ext uri="{FF2B5EF4-FFF2-40B4-BE49-F238E27FC236}">
                <a16:creationId xmlns:a16="http://schemas.microsoft.com/office/drawing/2014/main" id="{86FDB82E-6206-85D0-F672-48D635C1F5D3}"/>
              </a:ext>
            </a:extLst>
          </p:cNvPr>
          <p:cNvSpPr txBox="1"/>
          <p:nvPr/>
        </p:nvSpPr>
        <p:spPr>
          <a:xfrm>
            <a:off x="9836455" y="2815680"/>
            <a:ext cx="1524305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In-app + email alerts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4" name="Shape 57">
            <a:extLst>
              <a:ext uri="{FF2B5EF4-FFF2-40B4-BE49-F238E27FC236}">
                <a16:creationId xmlns:a16="http://schemas.microsoft.com/office/drawing/2014/main" id="{F534FBB8-15A3-C4CA-4607-237674B1C637}"/>
              </a:ext>
            </a:extLst>
          </p:cNvPr>
          <p:cNvSpPr/>
          <p:nvPr/>
        </p:nvSpPr>
        <p:spPr>
          <a:xfrm>
            <a:off x="9226550" y="3182354"/>
            <a:ext cx="2286000" cy="533095"/>
          </a:xfrm>
          <a:prstGeom prst="roundRect">
            <a:avLst>
              <a:gd name="adj" fmla="val 1423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6" name="Shape 58">
            <a:extLst>
              <a:ext uri="{FF2B5EF4-FFF2-40B4-BE49-F238E27FC236}">
                <a16:creationId xmlns:a16="http://schemas.microsoft.com/office/drawing/2014/main" id="{03CB33A1-907B-919A-1D74-A9D58901922A}"/>
              </a:ext>
            </a:extLst>
          </p:cNvPr>
          <p:cNvSpPr/>
          <p:nvPr/>
        </p:nvSpPr>
        <p:spPr>
          <a:xfrm>
            <a:off x="9226550" y="3182354"/>
            <a:ext cx="38405" cy="533095"/>
          </a:xfrm>
          <a:prstGeom prst="roundRect">
            <a:avLst>
              <a:gd name="adj" fmla="val 197618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8" name="Image 39" descr="gen-dedup-3b2e84948980196448fbc017596c33d5.png">
            <a:extLst>
              <a:ext uri="{FF2B5EF4-FFF2-40B4-BE49-F238E27FC236}">
                <a16:creationId xmlns:a16="http://schemas.microsoft.com/office/drawing/2014/main" id="{3366DDB5-A785-E461-5428-646F3F2B695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416745" y="3296654"/>
            <a:ext cx="304495" cy="304495"/>
          </a:xfrm>
          <a:prstGeom prst="rect">
            <a:avLst/>
          </a:prstGeom>
        </p:spPr>
      </p:pic>
      <p:pic>
        <p:nvPicPr>
          <p:cNvPr id="380" name="Image 40" descr="gen-dedup-dc408230497e128077e36d5c78b13b6d.png">
            <a:extLst>
              <a:ext uri="{FF2B5EF4-FFF2-40B4-BE49-F238E27FC236}">
                <a16:creationId xmlns:a16="http://schemas.microsoft.com/office/drawing/2014/main" id="{615D7C71-47A4-D87E-FBE9-DA9120CEA178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t="-6791" b="-6791"/>
          <a:stretch/>
        </p:blipFill>
        <p:spPr>
          <a:xfrm>
            <a:off x="9521901" y="3387180"/>
            <a:ext cx="95098" cy="123444"/>
          </a:xfrm>
          <a:prstGeom prst="rect">
            <a:avLst/>
          </a:prstGeom>
        </p:spPr>
      </p:pic>
      <p:sp>
        <p:nvSpPr>
          <p:cNvPr id="382" name="Text 59">
            <a:extLst>
              <a:ext uri="{FF2B5EF4-FFF2-40B4-BE49-F238E27FC236}">
                <a16:creationId xmlns:a16="http://schemas.microsoft.com/office/drawing/2014/main" id="{EE6A4528-0CFC-039C-DE28-2FE51D80F336}"/>
              </a:ext>
            </a:extLst>
          </p:cNvPr>
          <p:cNvSpPr txBox="1"/>
          <p:nvPr/>
        </p:nvSpPr>
        <p:spPr>
          <a:xfrm>
            <a:off x="9836455" y="3301226"/>
            <a:ext cx="162031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Populated Memory Store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4" name="Text 60">
            <a:extLst>
              <a:ext uri="{FF2B5EF4-FFF2-40B4-BE49-F238E27FC236}">
                <a16:creationId xmlns:a16="http://schemas.microsoft.com/office/drawing/2014/main" id="{60BD21D3-3B0B-D2E0-7F01-964EF48164AA}"/>
              </a:ext>
            </a:extLst>
          </p:cNvPr>
          <p:cNvSpPr txBox="1"/>
          <p:nvPr/>
        </p:nvSpPr>
        <p:spPr>
          <a:xfrm>
            <a:off x="9836455" y="3463075"/>
            <a:ext cx="163311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Event + decision tracking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3D7BAD-DF09-9ABB-1B66-BF85669BCABB}"/>
              </a:ext>
            </a:extLst>
          </p:cNvPr>
          <p:cNvSpPr/>
          <p:nvPr/>
        </p:nvSpPr>
        <p:spPr>
          <a:xfrm>
            <a:off x="502920" y="5760720"/>
            <a:ext cx="11155680" cy="384048"/>
          </a:xfrm>
          <a:prstGeom prst="roundRect">
            <a:avLst>
              <a:gd name="adj" fmla="val 8000"/>
            </a:avLst>
          </a:prstGeom>
          <a:solidFill>
            <a:srgbClr val="E84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3B147-7B4B-8A50-DF11-F4DB62E5C5A8}"/>
              </a:ext>
            </a:extLst>
          </p:cNvPr>
          <p:cNvSpPr txBox="1"/>
          <p:nvPr/>
        </p:nvSpPr>
        <p:spPr>
          <a:xfrm>
            <a:off x="502920" y="5842570"/>
            <a:ext cx="11155680" cy="220347"/>
          </a:xfrm>
          <a:prstGeom prst="rect">
            <a:avLst/>
          </a:prstGeom>
          <a:noFill/>
        </p:spPr>
        <p:txBody>
          <a:bodyPr wrap="square" lIns="36000" tIns="9000" rIns="36000" bIns="900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⚡   The agent </a:t>
            </a:r>
            <a:r>
              <a:rPr lang="en-US" sz="1150" b="1" i="0">
                <a:solidFill>
                  <a:srgbClr val="FFFFFF"/>
                </a:solidFill>
                <a:latin typeface="Arial"/>
              </a:rPr>
              <a:t>monitors emails and </a:t>
            </a:r>
            <a:r>
              <a:rPr sz="1150" b="1" i="0">
                <a:solidFill>
                  <a:srgbClr val="FFFFFF"/>
                </a:solidFill>
                <a:latin typeface="Arial"/>
              </a:rPr>
              <a:t>kicks off from the </a:t>
            </a:r>
            <a:r>
              <a:rPr lang="en-US" sz="1150" b="1" i="0">
                <a:solidFill>
                  <a:srgbClr val="FFFFFF"/>
                </a:solidFill>
                <a:latin typeface="Arial"/>
              </a:rPr>
              <a:t>SafetyNet Signals</a:t>
            </a:r>
            <a:r>
              <a:rPr sz="1150" b="1" i="0">
                <a:solidFill>
                  <a:srgbClr val="FFFFFF"/>
                </a:solidFill>
                <a:latin typeface="Arial"/>
              </a:rPr>
              <a:t> and does the data pull</a:t>
            </a:r>
            <a:r>
              <a:rPr lang="en-US" sz="1150" b="1" i="0">
                <a:solidFill>
                  <a:srgbClr val="FFFFFF"/>
                </a:solidFill>
                <a:latin typeface="Arial"/>
              </a:rPr>
              <a:t> from DB/</a:t>
            </a:r>
            <a:r>
              <a:rPr lang="en-US" sz="1150" b="1" i="0" err="1">
                <a:solidFill>
                  <a:srgbClr val="FFFFFF"/>
                </a:solidFill>
                <a:latin typeface="Arial"/>
              </a:rPr>
              <a:t>Datalake</a:t>
            </a:r>
            <a:endParaRPr sz="1150" b="1" i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0015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38659"/>
            <a:ext cx="48673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Assumptions &amp; Dependencies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520523"/>
            <a:ext cx="5553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Key requirements and stakeholder engagement for successful PoC execution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4661" y="913218"/>
            <a:ext cx="5989205" cy="322855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9516" y="1014525"/>
            <a:ext cx="381305" cy="38130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2960" y="1138883"/>
            <a:ext cx="133502" cy="13350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195121" y="1100479"/>
            <a:ext cx="16578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Key Assumptions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6"/>
          <p:cNvSpPr/>
          <p:nvPr/>
        </p:nvSpPr>
        <p:spPr>
          <a:xfrm>
            <a:off x="699516" y="1586025"/>
            <a:ext cx="2952598" cy="9144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699516" y="1586025"/>
            <a:ext cx="38405" cy="914400"/>
          </a:xfrm>
          <a:prstGeom prst="roundRect">
            <a:avLst>
              <a:gd name="adj" fmla="val 396823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52221" y="1746391"/>
            <a:ext cx="85954" cy="98977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33272" y="1577796"/>
            <a:ext cx="2505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Synthetic Data:</a:t>
            </a: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PoC uses synthetic/anonymized TRT data; no production access; no PII; encryption in transit/at rest. 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3766414" y="1586025"/>
            <a:ext cx="2952598" cy="9144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3766414" y="1586025"/>
            <a:ext cx="38405" cy="914400"/>
          </a:xfrm>
          <a:prstGeom prst="roundRect">
            <a:avLst>
              <a:gd name="adj" fmla="val 396823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919118" y="1746391"/>
            <a:ext cx="85954" cy="98977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086454" y="1663292"/>
            <a:ext cx="25054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Format:</a:t>
            </a: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Representative TRT Signal Data/ Excel formats and sample alert emails will be provided by Mastercard. 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699516" y="2614725"/>
            <a:ext cx="2952598" cy="743407"/>
          </a:xfrm>
          <a:prstGeom prst="roundRect">
            <a:avLst>
              <a:gd name="adj" fmla="val 2523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3"/>
          <p:cNvSpPr/>
          <p:nvPr/>
        </p:nvSpPr>
        <p:spPr>
          <a:xfrm>
            <a:off x="699516" y="2614725"/>
            <a:ext cx="38405" cy="743407"/>
          </a:xfrm>
          <a:prstGeom prst="roundRect">
            <a:avLst>
              <a:gd name="adj" fmla="val 4883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52221" y="2775091"/>
            <a:ext cx="85954" cy="98977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052474" y="2675076"/>
            <a:ext cx="25054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Domain Inputs:</a:t>
            </a: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Gate definitions (Gate1/Gate2), threshold references, merchant/PAN metadata, glossary. 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3766414" y="2614725"/>
            <a:ext cx="2952598" cy="743407"/>
          </a:xfrm>
          <a:prstGeom prst="roundRect">
            <a:avLst>
              <a:gd name="adj" fmla="val 25231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3766414" y="2614725"/>
            <a:ext cx="38405" cy="743407"/>
          </a:xfrm>
          <a:prstGeom prst="roundRect">
            <a:avLst>
              <a:gd name="adj" fmla="val 4883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919118" y="2775091"/>
            <a:ext cx="85954" cy="98977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4086454" y="2638602"/>
            <a:ext cx="2505456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Environment:</a:t>
            </a: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900" err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Apexon</a:t>
            </a: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-hosted Azure sandbox for the PoC or Mastercard provided; outbound actions (emails/exports) simulated. 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18"/>
          <p:cNvSpPr/>
          <p:nvPr/>
        </p:nvSpPr>
        <p:spPr>
          <a:xfrm>
            <a:off x="699516" y="3471518"/>
            <a:ext cx="2952598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699516" y="3471518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52221" y="3631884"/>
            <a:ext cx="85954" cy="98977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1099566" y="3567073"/>
            <a:ext cx="2505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Timeline:</a:t>
            </a: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10-week delivery with weekly checkpoints and rapid feedback cycles. 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21"/>
          <p:cNvSpPr/>
          <p:nvPr/>
        </p:nvSpPr>
        <p:spPr>
          <a:xfrm>
            <a:off x="3766414" y="3471518"/>
            <a:ext cx="2952598" cy="571500"/>
          </a:xfrm>
          <a:prstGeom prst="roundRect">
            <a:avLst>
              <a:gd name="adj" fmla="val 42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22"/>
          <p:cNvSpPr/>
          <p:nvPr/>
        </p:nvSpPr>
        <p:spPr>
          <a:xfrm>
            <a:off x="3766414" y="3471518"/>
            <a:ext cx="38405" cy="571500"/>
          </a:xfrm>
          <a:prstGeom prst="roundRect">
            <a:avLst>
              <a:gd name="adj" fmla="val 634917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919118" y="3631884"/>
            <a:ext cx="85954" cy="98977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4119371" y="3509923"/>
            <a:ext cx="25054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Access:</a:t>
            </a:r>
            <a:r>
              <a:rPr lang="en-US" sz="9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SSO/SAML or Cognito test users; allow-listing for demo access if needed. 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59986" y="4219042"/>
            <a:ext cx="5671122" cy="1938372"/>
          </a:xfrm>
          <a:prstGeom prst="rect">
            <a:avLst/>
          </a:prstGeom>
        </p:spPr>
      </p:pic>
      <p:pic>
        <p:nvPicPr>
          <p:cNvPr id="38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85800" y="4447641"/>
            <a:ext cx="381305" cy="381305"/>
          </a:xfrm>
          <a:prstGeom prst="rect">
            <a:avLst/>
          </a:prstGeom>
        </p:spPr>
      </p:pic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09244" y="4586102"/>
            <a:ext cx="133502" cy="105297"/>
          </a:xfrm>
          <a:prstGeom prst="rect">
            <a:avLst/>
          </a:prstGeom>
        </p:spPr>
      </p:pic>
      <p:sp>
        <p:nvSpPr>
          <p:cNvPr id="40" name="Text 24"/>
          <p:cNvSpPr txBox="1"/>
          <p:nvPr/>
        </p:nvSpPr>
        <p:spPr>
          <a:xfrm>
            <a:off x="1181405" y="4533594"/>
            <a:ext cx="231434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Required Stakeholders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699516" y="4908462"/>
            <a:ext cx="2952598" cy="533095"/>
          </a:xfrm>
          <a:prstGeom prst="roundRect">
            <a:avLst>
              <a:gd name="adj" fmla="val 49008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26"/>
          <p:cNvSpPr/>
          <p:nvPr/>
        </p:nvSpPr>
        <p:spPr>
          <a:xfrm>
            <a:off x="813816" y="5022762"/>
            <a:ext cx="304495" cy="304495"/>
          </a:xfrm>
          <a:prstGeom prst="ellipse">
            <a:avLst/>
          </a:prstGeom>
          <a:solidFill>
            <a:srgbClr val="219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13486" y="5114586"/>
            <a:ext cx="105156" cy="121759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1232611" y="5032820"/>
            <a:ext cx="829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TRT Lead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28"/>
          <p:cNvSpPr txBox="1"/>
          <p:nvPr/>
        </p:nvSpPr>
        <p:spPr>
          <a:xfrm>
            <a:off x="1232611" y="5184611"/>
            <a:ext cx="106801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Operational SME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29"/>
          <p:cNvSpPr/>
          <p:nvPr/>
        </p:nvSpPr>
        <p:spPr>
          <a:xfrm>
            <a:off x="3766414" y="4908462"/>
            <a:ext cx="2952598" cy="533095"/>
          </a:xfrm>
          <a:prstGeom prst="roundRect">
            <a:avLst>
              <a:gd name="adj" fmla="val 49008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30"/>
          <p:cNvSpPr/>
          <p:nvPr/>
        </p:nvSpPr>
        <p:spPr>
          <a:xfrm>
            <a:off x="3880714" y="5022762"/>
            <a:ext cx="304495" cy="304495"/>
          </a:xfrm>
          <a:prstGeom prst="ellipse">
            <a:avLst/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3981298" y="5122888"/>
            <a:ext cx="105156" cy="105156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4300423" y="5032820"/>
            <a:ext cx="11375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Fraud Ops SME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32"/>
          <p:cNvSpPr txBox="1"/>
          <p:nvPr/>
        </p:nvSpPr>
        <p:spPr>
          <a:xfrm>
            <a:off x="4300423" y="5184611"/>
            <a:ext cx="9244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Domain Expert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33"/>
          <p:cNvSpPr/>
          <p:nvPr/>
        </p:nvSpPr>
        <p:spPr>
          <a:xfrm>
            <a:off x="699516" y="5555857"/>
            <a:ext cx="2952598" cy="533095"/>
          </a:xfrm>
          <a:prstGeom prst="roundRect">
            <a:avLst>
              <a:gd name="adj" fmla="val 49008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34"/>
          <p:cNvSpPr/>
          <p:nvPr/>
        </p:nvSpPr>
        <p:spPr>
          <a:xfrm>
            <a:off x="813816" y="5670157"/>
            <a:ext cx="304495" cy="304495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3" name="Image 16" descr="preencoded.png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13486" y="5761982"/>
            <a:ext cx="105156" cy="121759"/>
          </a:xfrm>
          <a:prstGeom prst="rect">
            <a:avLst/>
          </a:prstGeom>
        </p:spPr>
      </p:pic>
      <p:sp>
        <p:nvSpPr>
          <p:cNvPr id="54" name="Text 35"/>
          <p:cNvSpPr txBox="1"/>
          <p:nvPr/>
        </p:nvSpPr>
        <p:spPr>
          <a:xfrm>
            <a:off x="1232611" y="5680215"/>
            <a:ext cx="105887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Steward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36"/>
          <p:cNvSpPr txBox="1"/>
          <p:nvPr/>
        </p:nvSpPr>
        <p:spPr>
          <a:xfrm>
            <a:off x="1232611" y="5832920"/>
            <a:ext cx="108082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Management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37"/>
          <p:cNvSpPr/>
          <p:nvPr/>
        </p:nvSpPr>
        <p:spPr>
          <a:xfrm>
            <a:off x="3766414" y="5555857"/>
            <a:ext cx="2952598" cy="533095"/>
          </a:xfrm>
          <a:prstGeom prst="roundRect">
            <a:avLst>
              <a:gd name="adj" fmla="val 49008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38"/>
          <p:cNvSpPr/>
          <p:nvPr/>
        </p:nvSpPr>
        <p:spPr>
          <a:xfrm>
            <a:off x="3880714" y="5670157"/>
            <a:ext cx="304495" cy="304495"/>
          </a:xfrm>
          <a:prstGeom prst="ellipse">
            <a:avLst/>
          </a:prstGeom>
          <a:solidFill>
            <a:srgbClr val="9C27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Image 17" descr="preencoded.png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3981298" y="5761982"/>
            <a:ext cx="105156" cy="121759"/>
          </a:xfrm>
          <a:prstGeom prst="rect">
            <a:avLst/>
          </a:prstGeom>
        </p:spPr>
      </p:pic>
      <p:sp>
        <p:nvSpPr>
          <p:cNvPr id="59" name="Text 39"/>
          <p:cNvSpPr txBox="1"/>
          <p:nvPr/>
        </p:nvSpPr>
        <p:spPr>
          <a:xfrm>
            <a:off x="4300423" y="5680215"/>
            <a:ext cx="164774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Security/Compliance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40"/>
          <p:cNvSpPr txBox="1"/>
          <p:nvPr/>
        </p:nvSpPr>
        <p:spPr>
          <a:xfrm>
            <a:off x="4300423" y="5832920"/>
            <a:ext cx="12573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Governance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1" name="Image 18" descr="preencoded.png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228078" y="913217"/>
            <a:ext cx="4431690" cy="3228556"/>
          </a:xfrm>
          <a:prstGeom prst="rect">
            <a:avLst/>
          </a:prstGeom>
        </p:spPr>
      </p:pic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367321" y="1014525"/>
            <a:ext cx="381305" cy="381305"/>
          </a:xfrm>
          <a:prstGeom prst="rect">
            <a:avLst/>
          </a:prstGeom>
        </p:spPr>
      </p:pic>
      <p:pic>
        <p:nvPicPr>
          <p:cNvPr id="63" name="Image 20" descr="preencoded.png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7490765" y="1152986"/>
            <a:ext cx="133502" cy="105297"/>
          </a:xfrm>
          <a:prstGeom prst="rect">
            <a:avLst/>
          </a:prstGeom>
        </p:spPr>
      </p:pic>
      <p:sp>
        <p:nvSpPr>
          <p:cNvPr id="64" name="Text 41"/>
          <p:cNvSpPr txBox="1"/>
          <p:nvPr/>
        </p:nvSpPr>
        <p:spPr>
          <a:xfrm>
            <a:off x="7862011" y="1100479"/>
            <a:ext cx="3090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Dependencies from Mastercard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42"/>
          <p:cNvSpPr/>
          <p:nvPr/>
        </p:nvSpPr>
        <p:spPr>
          <a:xfrm>
            <a:off x="7367321" y="1586025"/>
            <a:ext cx="4153205" cy="714146"/>
          </a:xfrm>
          <a:prstGeom prst="roundRect">
            <a:avLst>
              <a:gd name="adj" fmla="val 273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43"/>
          <p:cNvSpPr/>
          <p:nvPr/>
        </p:nvSpPr>
        <p:spPr>
          <a:xfrm>
            <a:off x="7367321" y="1586025"/>
            <a:ext cx="38405" cy="714146"/>
          </a:xfrm>
          <a:prstGeom prst="roundRect">
            <a:avLst>
              <a:gd name="adj" fmla="val 507934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7" name="Image 21" descr="preencoded.png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7557516" y="1720683"/>
            <a:ext cx="114300" cy="150394"/>
          </a:xfrm>
          <a:prstGeom prst="rect">
            <a:avLst/>
          </a:prstGeom>
        </p:spPr>
      </p:pic>
      <p:sp>
        <p:nvSpPr>
          <p:cNvPr id="68" name="Text 44"/>
          <p:cNvSpPr txBox="1"/>
          <p:nvPr/>
        </p:nvSpPr>
        <p:spPr>
          <a:xfrm>
            <a:off x="7786116" y="1700325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Package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 45"/>
          <p:cNvSpPr txBox="1"/>
          <p:nvPr/>
        </p:nvSpPr>
        <p:spPr>
          <a:xfrm>
            <a:off x="7786116" y="1890520"/>
            <a:ext cx="35817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10-20 historical TRT reports covering varied scenarios (BIN attack, promo spike, routing config issues)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Shape 46"/>
          <p:cNvSpPr/>
          <p:nvPr/>
        </p:nvSpPr>
        <p:spPr>
          <a:xfrm>
            <a:off x="7367321" y="2393440"/>
            <a:ext cx="4153205" cy="714146"/>
          </a:xfrm>
          <a:prstGeom prst="roundRect">
            <a:avLst>
              <a:gd name="adj" fmla="val 273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Shape 47"/>
          <p:cNvSpPr/>
          <p:nvPr/>
        </p:nvSpPr>
        <p:spPr>
          <a:xfrm>
            <a:off x="7367321" y="2393440"/>
            <a:ext cx="38405" cy="714146"/>
          </a:xfrm>
          <a:prstGeom prst="roundRect">
            <a:avLst>
              <a:gd name="adj" fmla="val 507934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7557516" y="2546145"/>
            <a:ext cx="114300" cy="114300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7786116" y="2507740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Access Decisions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49"/>
          <p:cNvSpPr txBox="1"/>
          <p:nvPr/>
        </p:nvSpPr>
        <p:spPr>
          <a:xfrm>
            <a:off x="7786116" y="2697936"/>
            <a:ext cx="35817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SSO/SAML federation or Cognito test users; allow-listing for demo access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50"/>
          <p:cNvSpPr/>
          <p:nvPr/>
        </p:nvSpPr>
        <p:spPr>
          <a:xfrm>
            <a:off x="7367321" y="3200856"/>
            <a:ext cx="4153205" cy="714146"/>
          </a:xfrm>
          <a:prstGeom prst="roundRect">
            <a:avLst>
              <a:gd name="adj" fmla="val 273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Shape 51"/>
          <p:cNvSpPr/>
          <p:nvPr/>
        </p:nvSpPr>
        <p:spPr>
          <a:xfrm>
            <a:off x="7367321" y="3200856"/>
            <a:ext cx="38405" cy="714146"/>
          </a:xfrm>
          <a:prstGeom prst="roundRect">
            <a:avLst>
              <a:gd name="adj" fmla="val 507934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7" name="Image 23" descr="preencoded.png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7557516" y="3335513"/>
            <a:ext cx="114300" cy="150394"/>
          </a:xfrm>
          <a:prstGeom prst="rect">
            <a:avLst/>
          </a:prstGeom>
        </p:spPr>
      </p:pic>
      <p:sp>
        <p:nvSpPr>
          <p:cNvPr id="78" name="Text 52"/>
          <p:cNvSpPr txBox="1"/>
          <p:nvPr/>
        </p:nvSpPr>
        <p:spPr>
          <a:xfrm>
            <a:off x="7786116" y="3315156"/>
            <a:ext cx="3581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UAT Coordination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 53"/>
          <p:cNvSpPr txBox="1"/>
          <p:nvPr/>
        </p:nvSpPr>
        <p:spPr>
          <a:xfrm>
            <a:off x="7786116" y="3506265"/>
            <a:ext cx="35817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Acceptance criteria, test cases, and 3-5 analysts for evaluation sessions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0" name="Image 24" descr="preencoded.png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7228078" y="4317006"/>
            <a:ext cx="4431690" cy="1865799"/>
          </a:xfrm>
          <a:prstGeom prst="rect">
            <a:avLst/>
          </a:prstGeom>
        </p:spPr>
      </p:pic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7367321" y="4523078"/>
            <a:ext cx="304495" cy="304495"/>
          </a:xfrm>
          <a:prstGeom prst="rect">
            <a:avLst/>
          </a:prstGeom>
        </p:spPr>
      </p:pic>
      <p:pic>
        <p:nvPicPr>
          <p:cNvPr id="82" name="Image 26" descr="preencoded.png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7466990" y="4623205"/>
            <a:ext cx="105156" cy="105156"/>
          </a:xfrm>
          <a:prstGeom prst="rect">
            <a:avLst/>
          </a:prstGeom>
        </p:spPr>
      </p:pic>
      <p:sp>
        <p:nvSpPr>
          <p:cNvPr id="83" name="Text 54"/>
          <p:cNvSpPr txBox="1"/>
          <p:nvPr/>
        </p:nvSpPr>
        <p:spPr>
          <a:xfrm>
            <a:off x="7786116" y="4570627"/>
            <a:ext cx="242224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Reaffirmed Constraints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Image 27" descr="preencoded.png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7368187" y="4999480"/>
            <a:ext cx="84221" cy="114300"/>
          </a:xfrm>
          <a:prstGeom prst="rect">
            <a:avLst/>
          </a:prstGeom>
        </p:spPr>
      </p:pic>
      <p:sp>
        <p:nvSpPr>
          <p:cNvPr id="85" name="Text 55"/>
          <p:cNvSpPr txBox="1"/>
          <p:nvPr/>
        </p:nvSpPr>
        <p:spPr>
          <a:xfrm>
            <a:off x="7548372" y="4980278"/>
            <a:ext cx="35213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 of scope: Fraud detection, real-time streaming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6" name="Image 28" descr="preencoded.png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7368187" y="5246368"/>
            <a:ext cx="84221" cy="114300"/>
          </a:xfrm>
          <a:prstGeom prst="rect">
            <a:avLst/>
          </a:prstGeom>
        </p:spPr>
      </p:pic>
      <p:sp>
        <p:nvSpPr>
          <p:cNvPr id="87" name="Text 56"/>
          <p:cNvSpPr txBox="1"/>
          <p:nvPr/>
        </p:nvSpPr>
        <p:spPr>
          <a:xfrm>
            <a:off x="7548372" y="5228080"/>
            <a:ext cx="36969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 of scope: Automated production rule deployment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8" name="Image 29" descr="preencoded.png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7368187" y="5494171"/>
            <a:ext cx="84221" cy="114300"/>
          </a:xfrm>
          <a:prstGeom prst="rect">
            <a:avLst/>
          </a:prstGeom>
        </p:spPr>
      </p:pic>
      <p:sp>
        <p:nvSpPr>
          <p:cNvPr id="89" name="Text 57"/>
          <p:cNvSpPr txBox="1"/>
          <p:nvPr/>
        </p:nvSpPr>
        <p:spPr>
          <a:xfrm>
            <a:off x="7548372" y="5474968"/>
            <a:ext cx="344454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 of scope: Splunk/X-Matters/Bears integration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0" name="Image 30" descr="preencoded.png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7368187" y="5741973"/>
            <a:ext cx="84221" cy="114300"/>
          </a:xfrm>
          <a:prstGeom prst="rect">
            <a:avLst/>
          </a:prstGeom>
        </p:spPr>
      </p:pic>
      <p:sp>
        <p:nvSpPr>
          <p:cNvPr id="91" name="Text 58"/>
          <p:cNvSpPr txBox="1"/>
          <p:nvPr/>
        </p:nvSpPr>
        <p:spPr>
          <a:xfrm>
            <a:off x="7548372" y="5722771"/>
            <a:ext cx="310621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Out of scope: Real-time transaction blocking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75B21-AC5F-66C5-27F4-340D925040E9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17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C21FFD-B274-8372-7C7B-E81CD08410D5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1B0F64-60AF-AA55-901C-A7162DCCC18B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EF6F598-D77A-006D-8AA7-128C75E24AF7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93" name="Freeform: Shape 3">
              <a:extLst>
                <a:ext uri="{FF2B5EF4-FFF2-40B4-BE49-F238E27FC236}">
                  <a16:creationId xmlns:a16="http://schemas.microsoft.com/office/drawing/2014/main" id="{68965835-163C-296B-1245-1EA6B2251E99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4" name="Freeform: Shape 4">
              <a:extLst>
                <a:ext uri="{FF2B5EF4-FFF2-40B4-BE49-F238E27FC236}">
                  <a16:creationId xmlns:a16="http://schemas.microsoft.com/office/drawing/2014/main" id="{19303833-45A7-21A9-4AAB-301848591A50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5" name="Freeform: Shape 5">
              <a:extLst>
                <a:ext uri="{FF2B5EF4-FFF2-40B4-BE49-F238E27FC236}">
                  <a16:creationId xmlns:a16="http://schemas.microsoft.com/office/drawing/2014/main" id="{A510F511-B3BF-829F-B26C-9C908AA21BD9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6" name="Freeform: Shape 6">
              <a:extLst>
                <a:ext uri="{FF2B5EF4-FFF2-40B4-BE49-F238E27FC236}">
                  <a16:creationId xmlns:a16="http://schemas.microsoft.com/office/drawing/2014/main" id="{FC417C7D-6C1E-CAA0-EABB-52AADD3BB0E1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7" name="Freeform: Shape 7">
              <a:extLst>
                <a:ext uri="{FF2B5EF4-FFF2-40B4-BE49-F238E27FC236}">
                  <a16:creationId xmlns:a16="http://schemas.microsoft.com/office/drawing/2014/main" id="{DCCB9159-1A56-94CD-90CE-D8128FE876FD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8" name="Freeform: Shape 8">
              <a:extLst>
                <a:ext uri="{FF2B5EF4-FFF2-40B4-BE49-F238E27FC236}">
                  <a16:creationId xmlns:a16="http://schemas.microsoft.com/office/drawing/2014/main" id="{C2F45656-6FCA-28FC-197D-7EDFF74C439C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11">
              <a:extLst>
                <a:ext uri="{FF2B5EF4-FFF2-40B4-BE49-F238E27FC236}">
                  <a16:creationId xmlns:a16="http://schemas.microsoft.com/office/drawing/2014/main" id="{5A90BE16-7596-E8EF-88F7-AAED8D853934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0" name="Freeform: Shape 12">
              <a:extLst>
                <a:ext uri="{FF2B5EF4-FFF2-40B4-BE49-F238E27FC236}">
                  <a16:creationId xmlns:a16="http://schemas.microsoft.com/office/drawing/2014/main" id="{552F462A-E0A1-CEDD-2F64-46688B5303C9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36992" y="355905"/>
            <a:ext cx="42291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10-Week Pilot Estimates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36992" y="679602"/>
            <a:ext cx="4914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Timeline breakdown, team composition, and milestone deliverables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9382" y="1444435"/>
            <a:ext cx="7138341" cy="2048891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7898" y="1611168"/>
            <a:ext cx="334268" cy="334268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51984" y="1706150"/>
            <a:ext cx="126966" cy="145104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05054" y="1636018"/>
            <a:ext cx="2573240" cy="15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Timeline Overview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6"/>
          <p:cNvSpPr txBox="1"/>
          <p:nvPr/>
        </p:nvSpPr>
        <p:spPr>
          <a:xfrm>
            <a:off x="1205054" y="1794735"/>
            <a:ext cx="3061972" cy="12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Weekly breakdown of deliverables and milestones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733714" y="2078501"/>
            <a:ext cx="1295751" cy="484167"/>
          </a:xfrm>
          <a:prstGeom prst="roundRect">
            <a:avLst>
              <a:gd name="adj" fmla="val 34254"/>
            </a:avLst>
          </a:prstGeom>
          <a:solidFill>
            <a:srgbClr val="FF6B35">
              <a:alpha val="1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842418" y="2178701"/>
            <a:ext cx="1078343" cy="15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1-2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842418" y="2362268"/>
            <a:ext cx="1078343" cy="1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Model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2096426" y="2078501"/>
            <a:ext cx="1295751" cy="484167"/>
          </a:xfrm>
          <a:prstGeom prst="roundRect">
            <a:avLst>
              <a:gd name="adj" fmla="val 34254"/>
            </a:avLst>
          </a:prstGeom>
          <a:solidFill>
            <a:srgbClr val="FF6B35">
              <a:alpha val="1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1"/>
          <p:cNvSpPr txBox="1"/>
          <p:nvPr/>
        </p:nvSpPr>
        <p:spPr>
          <a:xfrm>
            <a:off x="2205130" y="2178701"/>
            <a:ext cx="1078343" cy="15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3-4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2"/>
          <p:cNvSpPr txBox="1"/>
          <p:nvPr/>
        </p:nvSpPr>
        <p:spPr>
          <a:xfrm>
            <a:off x="2205130" y="2362268"/>
            <a:ext cx="1078343" cy="1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Analysis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3459139" y="2078501"/>
            <a:ext cx="1295751" cy="484167"/>
          </a:xfrm>
          <a:prstGeom prst="roundRect">
            <a:avLst>
              <a:gd name="adj" fmla="val 34254"/>
            </a:avLst>
          </a:prstGeom>
          <a:solidFill>
            <a:srgbClr val="FF6B35">
              <a:alpha val="1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3567843" y="2178701"/>
            <a:ext cx="1078343" cy="15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5-6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3567843" y="2362268"/>
            <a:ext cx="1078343" cy="1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Chatbot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4820981" y="2078501"/>
            <a:ext cx="1295751" cy="484167"/>
          </a:xfrm>
          <a:prstGeom prst="roundRect">
            <a:avLst>
              <a:gd name="adj" fmla="val 34254"/>
            </a:avLst>
          </a:prstGeom>
          <a:solidFill>
            <a:srgbClr val="F8F9FA"/>
          </a:solidFill>
          <a:ln w="254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4929685" y="2178701"/>
            <a:ext cx="1078343" cy="15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7-8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4929685" y="2362268"/>
            <a:ext cx="1078343" cy="1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Memory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6183694" y="2078501"/>
            <a:ext cx="1295751" cy="484167"/>
          </a:xfrm>
          <a:prstGeom prst="roundRect">
            <a:avLst>
              <a:gd name="adj" fmla="val 34254"/>
            </a:avLst>
          </a:prstGeom>
          <a:solidFill>
            <a:srgbClr val="F8F9FA"/>
          </a:solidFill>
          <a:ln w="254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733714" y="2730203"/>
            <a:ext cx="2174078" cy="601200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733714" y="2730203"/>
            <a:ext cx="36525" cy="601200"/>
          </a:xfrm>
          <a:prstGeom prst="roundRect">
            <a:avLst>
              <a:gd name="adj" fmla="val 529098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878942" y="2830403"/>
            <a:ext cx="217408" cy="200400"/>
          </a:xfrm>
          <a:prstGeom prst="roundRect">
            <a:avLst>
              <a:gd name="adj" fmla="val 133333"/>
            </a:avLst>
          </a:prstGeom>
          <a:solidFill>
            <a:srgbClr val="4CAF5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46774" y="2883135"/>
            <a:ext cx="81746" cy="94131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168530" y="2863268"/>
            <a:ext cx="663529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Week 1-2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878942" y="3097335"/>
            <a:ext cx="2285391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model + ingestion + UI foundation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3016496" y="2730203"/>
            <a:ext cx="2174078" cy="601200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3016496" y="2730203"/>
            <a:ext cx="36525" cy="601200"/>
          </a:xfrm>
          <a:prstGeom prst="roundRect">
            <a:avLst>
              <a:gd name="adj" fmla="val 529098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Shape 29"/>
          <p:cNvSpPr/>
          <p:nvPr/>
        </p:nvSpPr>
        <p:spPr>
          <a:xfrm>
            <a:off x="3161725" y="2830403"/>
            <a:ext cx="217408" cy="200400"/>
          </a:xfrm>
          <a:prstGeom prst="roundRect">
            <a:avLst>
              <a:gd name="adj" fmla="val 133333"/>
            </a:avLst>
          </a:prstGeom>
          <a:solidFill>
            <a:srgbClr val="219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229556" y="2889328"/>
            <a:ext cx="81746" cy="81746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3451312" y="2863268"/>
            <a:ext cx="668747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Week 3-4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1"/>
          <p:cNvSpPr txBox="1"/>
          <p:nvPr/>
        </p:nvSpPr>
        <p:spPr>
          <a:xfrm>
            <a:off x="3161725" y="3097335"/>
            <a:ext cx="2169730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Analysis + recommendation + chatbot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Shape 32"/>
          <p:cNvSpPr/>
          <p:nvPr/>
        </p:nvSpPr>
        <p:spPr>
          <a:xfrm>
            <a:off x="5299279" y="2730203"/>
            <a:ext cx="2174078" cy="601200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5299279" y="2730203"/>
            <a:ext cx="36525" cy="601200"/>
          </a:xfrm>
          <a:prstGeom prst="roundRect">
            <a:avLst>
              <a:gd name="adj" fmla="val 529098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34"/>
          <p:cNvSpPr/>
          <p:nvPr/>
        </p:nvSpPr>
        <p:spPr>
          <a:xfrm>
            <a:off x="5444507" y="2830403"/>
            <a:ext cx="217408" cy="200400"/>
          </a:xfrm>
          <a:prstGeom prst="roundRect">
            <a:avLst>
              <a:gd name="adj" fmla="val 133333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5512338" y="2897155"/>
            <a:ext cx="81746" cy="66092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5734094" y="2863268"/>
            <a:ext cx="667007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Week 5-6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5444507" y="3097335"/>
            <a:ext cx="1921016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Memory + workflow + demo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478237" y="3627193"/>
            <a:ext cx="7140632" cy="2638869"/>
          </a:xfrm>
          <a:prstGeom prst="rect">
            <a:avLst/>
          </a:prstGeom>
        </p:spPr>
      </p:pic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747898" y="3793926"/>
            <a:ext cx="334268" cy="334268"/>
          </a:xfrm>
          <a:prstGeom prst="rect">
            <a:avLst/>
          </a:prstGeom>
        </p:spPr>
      </p:pic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851984" y="3888107"/>
            <a:ext cx="126966" cy="145104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1205054" y="3818776"/>
            <a:ext cx="2046242" cy="15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Milestone Deliverables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38"/>
          <p:cNvSpPr txBox="1"/>
          <p:nvPr/>
        </p:nvSpPr>
        <p:spPr>
          <a:xfrm>
            <a:off x="1205054" y="3977493"/>
            <a:ext cx="1721870" cy="12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Key deliverables by phase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39"/>
          <p:cNvSpPr/>
          <p:nvPr/>
        </p:nvSpPr>
        <p:spPr>
          <a:xfrm>
            <a:off x="733714" y="4261260"/>
            <a:ext cx="6739643" cy="300600"/>
          </a:xfrm>
          <a:prstGeom prst="roundRect">
            <a:avLst>
              <a:gd name="adj" fmla="val 8888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40"/>
          <p:cNvSpPr/>
          <p:nvPr/>
        </p:nvSpPr>
        <p:spPr>
          <a:xfrm>
            <a:off x="878942" y="4378293"/>
            <a:ext cx="72179" cy="66533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41"/>
          <p:cNvSpPr txBox="1"/>
          <p:nvPr/>
        </p:nvSpPr>
        <p:spPr>
          <a:xfrm>
            <a:off x="1059826" y="4344625"/>
            <a:ext cx="5807398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M1 (</a:t>
            </a:r>
            <a:r>
              <a:rPr lang="en-US" sz="800" err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Wk</a:t>
            </a:r>
            <a:r>
              <a:rPr lang="en-US" sz="8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2-4): Ingestion pipeline + UI scaffold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42"/>
          <p:cNvSpPr txBox="1"/>
          <p:nvPr/>
        </p:nvSpPr>
        <p:spPr>
          <a:xfrm>
            <a:off x="6969841" y="4353444"/>
            <a:ext cx="425250" cy="117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888888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Week 2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43"/>
          <p:cNvSpPr/>
          <p:nvPr/>
        </p:nvSpPr>
        <p:spPr>
          <a:xfrm>
            <a:off x="733714" y="4645226"/>
            <a:ext cx="6739643" cy="300600"/>
          </a:xfrm>
          <a:prstGeom prst="roundRect">
            <a:avLst>
              <a:gd name="adj" fmla="val 8888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44"/>
          <p:cNvSpPr/>
          <p:nvPr/>
        </p:nvSpPr>
        <p:spPr>
          <a:xfrm>
            <a:off x="878942" y="4762260"/>
            <a:ext cx="72179" cy="66533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45"/>
          <p:cNvSpPr txBox="1"/>
          <p:nvPr/>
        </p:nvSpPr>
        <p:spPr>
          <a:xfrm>
            <a:off x="1059826" y="4729394"/>
            <a:ext cx="5807398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M2 (Wk 5): Analysis + explainable recommendations MVP 1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46"/>
          <p:cNvSpPr txBox="1"/>
          <p:nvPr/>
        </p:nvSpPr>
        <p:spPr>
          <a:xfrm>
            <a:off x="6971580" y="4737410"/>
            <a:ext cx="425250" cy="117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888888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Week 5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47"/>
          <p:cNvSpPr/>
          <p:nvPr/>
        </p:nvSpPr>
        <p:spPr>
          <a:xfrm>
            <a:off x="733714" y="5029994"/>
            <a:ext cx="6739643" cy="300600"/>
          </a:xfrm>
          <a:prstGeom prst="roundRect">
            <a:avLst>
              <a:gd name="adj" fmla="val 8888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Shape 48"/>
          <p:cNvSpPr/>
          <p:nvPr/>
        </p:nvSpPr>
        <p:spPr>
          <a:xfrm>
            <a:off x="878942" y="5146226"/>
            <a:ext cx="72179" cy="66533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 49"/>
          <p:cNvSpPr txBox="1"/>
          <p:nvPr/>
        </p:nvSpPr>
        <p:spPr>
          <a:xfrm>
            <a:off x="1059826" y="5113361"/>
            <a:ext cx="5807398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M3 (Wk 7): Co-pilot + visual TRT dashboard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50"/>
          <p:cNvSpPr txBox="1"/>
          <p:nvPr/>
        </p:nvSpPr>
        <p:spPr>
          <a:xfrm>
            <a:off x="6975058" y="5121377"/>
            <a:ext cx="425250" cy="117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888888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Week 7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51"/>
          <p:cNvSpPr/>
          <p:nvPr/>
        </p:nvSpPr>
        <p:spPr>
          <a:xfrm>
            <a:off x="733714" y="5413961"/>
            <a:ext cx="6739643" cy="300600"/>
          </a:xfrm>
          <a:prstGeom prst="roundRect">
            <a:avLst>
              <a:gd name="adj" fmla="val 8888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Shape 52"/>
          <p:cNvSpPr/>
          <p:nvPr/>
        </p:nvSpPr>
        <p:spPr>
          <a:xfrm>
            <a:off x="878942" y="5530994"/>
            <a:ext cx="72179" cy="66533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53"/>
          <p:cNvSpPr txBox="1"/>
          <p:nvPr/>
        </p:nvSpPr>
        <p:spPr>
          <a:xfrm>
            <a:off x="1059826" y="5497327"/>
            <a:ext cx="5807398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M4 (Wk 9): Memory, feedback, audit trail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54"/>
          <p:cNvSpPr txBox="1"/>
          <p:nvPr/>
        </p:nvSpPr>
        <p:spPr>
          <a:xfrm>
            <a:off x="6968971" y="5505343"/>
            <a:ext cx="425250" cy="117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888888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Week 9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Shape 55"/>
          <p:cNvSpPr/>
          <p:nvPr/>
        </p:nvSpPr>
        <p:spPr>
          <a:xfrm>
            <a:off x="733714" y="5797927"/>
            <a:ext cx="6739643" cy="300600"/>
          </a:xfrm>
          <a:prstGeom prst="roundRect">
            <a:avLst>
              <a:gd name="adj" fmla="val 8888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56"/>
          <p:cNvSpPr/>
          <p:nvPr/>
        </p:nvSpPr>
        <p:spPr>
          <a:xfrm>
            <a:off x="878942" y="5914961"/>
            <a:ext cx="72179" cy="66533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57"/>
          <p:cNvSpPr txBox="1"/>
          <p:nvPr/>
        </p:nvSpPr>
        <p:spPr>
          <a:xfrm>
            <a:off x="1059826" y="5881294"/>
            <a:ext cx="5761308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M5 (Wk 10): Final demo package and documentation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58"/>
          <p:cNvSpPr txBox="1"/>
          <p:nvPr/>
        </p:nvSpPr>
        <p:spPr>
          <a:xfrm>
            <a:off x="6924620" y="5889310"/>
            <a:ext cx="493950" cy="117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888888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Week 10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2" name="Image 11" descr="preencoded.png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998440" y="1444435"/>
            <a:ext cx="3117106" cy="4821627"/>
          </a:xfrm>
          <a:prstGeom prst="rect">
            <a:avLst/>
          </a:prstGeom>
        </p:spPr>
      </p:pic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8031061" y="1644835"/>
            <a:ext cx="334268" cy="334268"/>
          </a:xfrm>
          <a:prstGeom prst="rect">
            <a:avLst/>
          </a:prstGeom>
        </p:spPr>
      </p:pic>
      <p:pic>
        <p:nvPicPr>
          <p:cNvPr id="74" name="Image 13" descr="preencoded.png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8135147" y="1761497"/>
            <a:ext cx="126966" cy="100142"/>
          </a:xfrm>
          <a:prstGeom prst="rect">
            <a:avLst/>
          </a:prstGeom>
        </p:spPr>
      </p:pic>
      <p:sp>
        <p:nvSpPr>
          <p:cNvPr id="75" name="Text 59"/>
          <p:cNvSpPr txBox="1"/>
          <p:nvPr/>
        </p:nvSpPr>
        <p:spPr>
          <a:xfrm>
            <a:off x="8488217" y="1669684"/>
            <a:ext cx="1494897" cy="158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Team Composition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60"/>
          <p:cNvSpPr txBox="1"/>
          <p:nvPr/>
        </p:nvSpPr>
        <p:spPr>
          <a:xfrm>
            <a:off x="8488217" y="1828402"/>
            <a:ext cx="1422717" cy="12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Resource allocation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Shape 61"/>
          <p:cNvSpPr/>
          <p:nvPr/>
        </p:nvSpPr>
        <p:spPr>
          <a:xfrm>
            <a:off x="8016877" y="2178701"/>
            <a:ext cx="3080235" cy="459317"/>
          </a:xfrm>
          <a:prstGeom prst="roundRect">
            <a:avLst>
              <a:gd name="adj" fmla="val 5076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62"/>
          <p:cNvSpPr txBox="1"/>
          <p:nvPr/>
        </p:nvSpPr>
        <p:spPr>
          <a:xfrm>
            <a:off x="8143843" y="2278901"/>
            <a:ext cx="1070516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Tech Lead (Onsite)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0" name="Image 14" descr="preencoded.png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0275278" y="2375093"/>
            <a:ext cx="665330" cy="66533"/>
          </a:xfrm>
          <a:prstGeom prst="rect">
            <a:avLst/>
          </a:prstGeom>
        </p:spPr>
      </p:pic>
      <p:pic>
        <p:nvPicPr>
          <p:cNvPr id="81" name="Image 15" descr="preencoded.png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0260727" y="2375093"/>
            <a:ext cx="332665" cy="66533"/>
          </a:xfrm>
          <a:prstGeom prst="rect">
            <a:avLst/>
          </a:prstGeom>
        </p:spPr>
      </p:pic>
      <p:sp>
        <p:nvSpPr>
          <p:cNvPr id="82" name="Shape 64"/>
          <p:cNvSpPr/>
          <p:nvPr/>
        </p:nvSpPr>
        <p:spPr>
          <a:xfrm>
            <a:off x="8016877" y="2755052"/>
            <a:ext cx="3080235" cy="459317"/>
          </a:xfrm>
          <a:prstGeom prst="roundRect">
            <a:avLst>
              <a:gd name="adj" fmla="val 5076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 65"/>
          <p:cNvSpPr txBox="1"/>
          <p:nvPr/>
        </p:nvSpPr>
        <p:spPr>
          <a:xfrm>
            <a:off x="8143843" y="2855252"/>
            <a:ext cx="1070516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Data Engineer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5" name="Image 16" descr="preencoded.png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0275278" y="2951444"/>
            <a:ext cx="665330" cy="66533"/>
          </a:xfrm>
          <a:prstGeom prst="rect">
            <a:avLst/>
          </a:prstGeom>
        </p:spPr>
      </p:pic>
      <p:pic>
        <p:nvPicPr>
          <p:cNvPr id="86" name="Image 17" descr="preencoded.png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10275278" y="2951444"/>
            <a:ext cx="665330" cy="66533"/>
          </a:xfrm>
          <a:prstGeom prst="rect">
            <a:avLst/>
          </a:prstGeom>
        </p:spPr>
      </p:pic>
      <p:sp>
        <p:nvSpPr>
          <p:cNvPr id="87" name="Shape 67"/>
          <p:cNvSpPr/>
          <p:nvPr/>
        </p:nvSpPr>
        <p:spPr>
          <a:xfrm>
            <a:off x="8016877" y="3331403"/>
            <a:ext cx="3080235" cy="459317"/>
          </a:xfrm>
          <a:prstGeom prst="roundRect">
            <a:avLst>
              <a:gd name="adj" fmla="val 5076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68"/>
          <p:cNvSpPr txBox="1"/>
          <p:nvPr/>
        </p:nvSpPr>
        <p:spPr>
          <a:xfrm>
            <a:off x="8143843" y="3431603"/>
            <a:ext cx="1154001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ML/AI Engineer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0" name="Image 18" descr="preencoded.png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0275278" y="3527795"/>
            <a:ext cx="665330" cy="66533"/>
          </a:xfrm>
          <a:prstGeom prst="rect">
            <a:avLst/>
          </a:prstGeom>
        </p:spPr>
      </p:pic>
      <p:pic>
        <p:nvPicPr>
          <p:cNvPr id="91" name="Image 19" descr="preencoded.png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10275278" y="3527795"/>
            <a:ext cx="665330" cy="66533"/>
          </a:xfrm>
          <a:prstGeom prst="rect">
            <a:avLst/>
          </a:prstGeom>
        </p:spPr>
      </p:pic>
      <p:sp>
        <p:nvSpPr>
          <p:cNvPr id="92" name="Shape 70"/>
          <p:cNvSpPr/>
          <p:nvPr/>
        </p:nvSpPr>
        <p:spPr>
          <a:xfrm>
            <a:off x="8016877" y="3907753"/>
            <a:ext cx="3080235" cy="459317"/>
          </a:xfrm>
          <a:prstGeom prst="roundRect">
            <a:avLst>
              <a:gd name="adj" fmla="val 5076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Text 71"/>
          <p:cNvSpPr txBox="1"/>
          <p:nvPr/>
        </p:nvSpPr>
        <p:spPr>
          <a:xfrm>
            <a:off x="8143843" y="4007953"/>
            <a:ext cx="1147913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Full-Stack Dev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5" name="Image 20" descr="preencoded.png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0275278" y="4103344"/>
            <a:ext cx="665330" cy="66533"/>
          </a:xfrm>
          <a:prstGeom prst="rect">
            <a:avLst/>
          </a:prstGeom>
        </p:spPr>
      </p:pic>
      <p:pic>
        <p:nvPicPr>
          <p:cNvPr id="96" name="Image 21" descr="preencoded.png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10275278" y="4103344"/>
            <a:ext cx="665330" cy="66533"/>
          </a:xfrm>
          <a:prstGeom prst="rect">
            <a:avLst/>
          </a:prstGeom>
        </p:spPr>
      </p:pic>
      <p:sp>
        <p:nvSpPr>
          <p:cNvPr id="97" name="Shape 73"/>
          <p:cNvSpPr/>
          <p:nvPr/>
        </p:nvSpPr>
        <p:spPr>
          <a:xfrm>
            <a:off x="8016877" y="4483302"/>
            <a:ext cx="3080235" cy="459317"/>
          </a:xfrm>
          <a:prstGeom prst="roundRect">
            <a:avLst>
              <a:gd name="adj" fmla="val 5076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74"/>
          <p:cNvSpPr txBox="1"/>
          <p:nvPr/>
        </p:nvSpPr>
        <p:spPr>
          <a:xfrm>
            <a:off x="8143843" y="4583502"/>
            <a:ext cx="910504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UX Designer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0" name="Image 22" descr="preencoded.png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0275278" y="4679694"/>
            <a:ext cx="665330" cy="66533"/>
          </a:xfrm>
          <a:prstGeom prst="rect">
            <a:avLst/>
          </a:prstGeom>
        </p:spPr>
      </p:pic>
      <p:pic>
        <p:nvPicPr>
          <p:cNvPr id="101" name="Image 23" descr="preencoded.png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0254646" y="4679694"/>
            <a:ext cx="199599" cy="66533"/>
          </a:xfrm>
          <a:prstGeom prst="rect">
            <a:avLst/>
          </a:prstGeom>
        </p:spPr>
      </p:pic>
      <p:sp>
        <p:nvSpPr>
          <p:cNvPr id="102" name="Shape 76"/>
          <p:cNvSpPr/>
          <p:nvPr/>
        </p:nvSpPr>
        <p:spPr>
          <a:xfrm>
            <a:off x="8016877" y="5059653"/>
            <a:ext cx="3080235" cy="459317"/>
          </a:xfrm>
          <a:prstGeom prst="roundRect">
            <a:avLst>
              <a:gd name="adj" fmla="val 50769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Text 77"/>
          <p:cNvSpPr txBox="1"/>
          <p:nvPr/>
        </p:nvSpPr>
        <p:spPr>
          <a:xfrm>
            <a:off x="8143843" y="5159853"/>
            <a:ext cx="910504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QA Engineer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5" name="Image 24" descr="preencoded.png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10275278" y="5256045"/>
            <a:ext cx="665330" cy="66533"/>
          </a:xfrm>
          <a:prstGeom prst="rect">
            <a:avLst/>
          </a:prstGeom>
        </p:spPr>
      </p:pic>
      <p:pic>
        <p:nvPicPr>
          <p:cNvPr id="106" name="Image 25" descr="preencoded.png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0260727" y="5256045"/>
            <a:ext cx="332665" cy="66533"/>
          </a:xfrm>
          <a:prstGeom prst="rect">
            <a:avLst/>
          </a:prstGeom>
        </p:spPr>
      </p:pic>
      <p:sp>
        <p:nvSpPr>
          <p:cNvPr id="117" name="Shape 86"/>
          <p:cNvSpPr/>
          <p:nvPr/>
        </p:nvSpPr>
        <p:spPr>
          <a:xfrm>
            <a:off x="118015" y="5560654"/>
            <a:ext cx="11594795" cy="801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 89"/>
          <p:cNvSpPr txBox="1"/>
          <p:nvPr/>
        </p:nvSpPr>
        <p:spPr>
          <a:xfrm>
            <a:off x="10633598" y="5702537"/>
            <a:ext cx="860935" cy="12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38">
                <a:solidFill>
                  <a:srgbClr val="FFFFFF">
                    <a:alpha val="6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Page 3 of 4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Shape 13">
            <a:extLst>
              <a:ext uri="{FF2B5EF4-FFF2-40B4-BE49-F238E27FC236}">
                <a16:creationId xmlns:a16="http://schemas.microsoft.com/office/drawing/2014/main" id="{0AE0A3A1-922E-2013-21D6-7EEF78C2D4E9}"/>
              </a:ext>
            </a:extLst>
          </p:cNvPr>
          <p:cNvSpPr/>
          <p:nvPr/>
        </p:nvSpPr>
        <p:spPr>
          <a:xfrm>
            <a:off x="4864462" y="2078501"/>
            <a:ext cx="1295751" cy="484167"/>
          </a:xfrm>
          <a:prstGeom prst="roundRect">
            <a:avLst>
              <a:gd name="adj" fmla="val 34254"/>
            </a:avLst>
          </a:prstGeom>
          <a:solidFill>
            <a:srgbClr val="FF6B35">
              <a:alpha val="1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Shape 13">
            <a:extLst>
              <a:ext uri="{FF2B5EF4-FFF2-40B4-BE49-F238E27FC236}">
                <a16:creationId xmlns:a16="http://schemas.microsoft.com/office/drawing/2014/main" id="{5C4223FD-BFB9-FDD3-2DE5-1FB31EE100E5}"/>
              </a:ext>
            </a:extLst>
          </p:cNvPr>
          <p:cNvSpPr/>
          <p:nvPr/>
        </p:nvSpPr>
        <p:spPr>
          <a:xfrm>
            <a:off x="6227176" y="2062067"/>
            <a:ext cx="1295751" cy="484167"/>
          </a:xfrm>
          <a:prstGeom prst="roundRect">
            <a:avLst>
              <a:gd name="adj" fmla="val 34254"/>
            </a:avLst>
          </a:prstGeom>
          <a:solidFill>
            <a:srgbClr val="FF6B35">
              <a:alpha val="1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Text 62">
            <a:extLst>
              <a:ext uri="{FF2B5EF4-FFF2-40B4-BE49-F238E27FC236}">
                <a16:creationId xmlns:a16="http://schemas.microsoft.com/office/drawing/2014/main" id="{7C91A1C2-1313-5405-06D3-EB025438A96F}"/>
              </a:ext>
            </a:extLst>
          </p:cNvPr>
          <p:cNvSpPr txBox="1"/>
          <p:nvPr/>
        </p:nvSpPr>
        <p:spPr>
          <a:xfrm>
            <a:off x="8135146" y="5842451"/>
            <a:ext cx="1505943" cy="133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333333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Total Price: USD 175,000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6292398" y="2178701"/>
            <a:ext cx="1078343" cy="15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9-10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6292398" y="2362268"/>
            <a:ext cx="1078343" cy="1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Final Demo</a:t>
            </a:r>
            <a:endParaRPr lang="en-US" sz="7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21">
            <a:extLst>
              <a:ext uri="{FF2B5EF4-FFF2-40B4-BE49-F238E27FC236}">
                <a16:creationId xmlns:a16="http://schemas.microsoft.com/office/drawing/2014/main" id="{32B5B695-3DF7-A97B-0B6F-B66B75FDA0B1}"/>
              </a:ext>
            </a:extLst>
          </p:cNvPr>
          <p:cNvSpPr txBox="1"/>
          <p:nvPr/>
        </p:nvSpPr>
        <p:spPr>
          <a:xfrm>
            <a:off x="8054953" y="6001782"/>
            <a:ext cx="1855981" cy="101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Exclusive of any taxes and travel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C67D6E1-E816-A33C-93ED-394CCBA4044F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18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58633-B252-5A27-A9B6-FD8C2F3FB020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F37D954-ADE6-8358-DCAA-BEF75AB1AEE2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516A88B-EFD8-78B9-76BE-CB532F06FF5E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89" name="Freeform: Shape 3">
              <a:extLst>
                <a:ext uri="{FF2B5EF4-FFF2-40B4-BE49-F238E27FC236}">
                  <a16:creationId xmlns:a16="http://schemas.microsoft.com/office/drawing/2014/main" id="{43CF8183-DCB0-EA0C-9065-7C9932C6DC07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4" name="Freeform: Shape 4">
              <a:extLst>
                <a:ext uri="{FF2B5EF4-FFF2-40B4-BE49-F238E27FC236}">
                  <a16:creationId xmlns:a16="http://schemas.microsoft.com/office/drawing/2014/main" id="{07D7522D-64AC-3AA0-A124-716255F9A9A7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9" name="Freeform: Shape 5">
              <a:extLst>
                <a:ext uri="{FF2B5EF4-FFF2-40B4-BE49-F238E27FC236}">
                  <a16:creationId xmlns:a16="http://schemas.microsoft.com/office/drawing/2014/main" id="{EC18F033-66FF-2767-1D07-BBE4D41EE068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4" name="Freeform: Shape 6">
              <a:extLst>
                <a:ext uri="{FF2B5EF4-FFF2-40B4-BE49-F238E27FC236}">
                  <a16:creationId xmlns:a16="http://schemas.microsoft.com/office/drawing/2014/main" id="{D9C53B1C-1AB4-5B34-817A-90141DA4AEC9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7" name="Freeform: Shape 7">
              <a:extLst>
                <a:ext uri="{FF2B5EF4-FFF2-40B4-BE49-F238E27FC236}">
                  <a16:creationId xmlns:a16="http://schemas.microsoft.com/office/drawing/2014/main" id="{2D6C102D-1B08-B812-5042-8510736FC8D3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8" name="Freeform: Shape 8">
              <a:extLst>
                <a:ext uri="{FF2B5EF4-FFF2-40B4-BE49-F238E27FC236}">
                  <a16:creationId xmlns:a16="http://schemas.microsoft.com/office/drawing/2014/main" id="{20CDE15C-CEBF-6E80-20AC-7DAD88E23A97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9" name="Freeform: Shape 11">
              <a:extLst>
                <a:ext uri="{FF2B5EF4-FFF2-40B4-BE49-F238E27FC236}">
                  <a16:creationId xmlns:a16="http://schemas.microsoft.com/office/drawing/2014/main" id="{AEE6F212-3E33-42C9-4468-3E8A5C8ADDBE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0" name="Freeform: Shape 12">
              <a:extLst>
                <a:ext uri="{FF2B5EF4-FFF2-40B4-BE49-F238E27FC236}">
                  <a16:creationId xmlns:a16="http://schemas.microsoft.com/office/drawing/2014/main" id="{8A7E596E-CFD8-750D-9F97-D750905F2420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6700" y="10758"/>
            <a:ext cx="12188952" cy="685800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4508" y="320041"/>
            <a:ext cx="10058400" cy="405683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/>
              </a:rPr>
              <a:t>Roadmap – </a:t>
            </a:r>
            <a:r>
              <a:rPr sz="2400" b="1">
                <a:solidFill>
                  <a:srgbClr val="FFFFFF"/>
                </a:solidFill>
                <a:latin typeface="Segoe UI"/>
              </a:rPr>
              <a:t>From PoC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4508" y="822960"/>
            <a:ext cx="10972800" cy="22101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200" i="1">
                <a:solidFill>
                  <a:srgbClr val="CBD5E0"/>
                </a:solidFill>
                <a:latin typeface="Segoe UI"/>
              </a:rPr>
              <a:t>The PoC is 1</a:t>
            </a:r>
            <a:r>
              <a:rPr lang="en-US" sz="1200" i="1">
                <a:solidFill>
                  <a:srgbClr val="CBD5E0"/>
                </a:solidFill>
                <a:latin typeface="Segoe UI"/>
              </a:rPr>
              <a:t>0</a:t>
            </a:r>
            <a:r>
              <a:rPr sz="1200" i="1">
                <a:solidFill>
                  <a:srgbClr val="CBD5E0"/>
                </a:solidFill>
                <a:latin typeface="Segoe UI"/>
              </a:rPr>
              <a:t> weeks.  The enterprise gates are the 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508" y="1246756"/>
            <a:ext cx="11292840" cy="274320"/>
          </a:xfrm>
          <a:prstGeom prst="roundRect">
            <a:avLst>
              <a:gd name="adj" fmla="val 10000"/>
            </a:avLst>
          </a:prstGeom>
          <a:solidFill>
            <a:srgbClr val="1A2A44"/>
          </a:solidFill>
          <a:ln w="6350">
            <a:solidFill>
              <a:srgbClr val="28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4509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5579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6649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7718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8788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9859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0928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1998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3069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4139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5209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56279" y="1296491"/>
            <a:ext cx="941069" cy="174851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900" b="1">
                <a:solidFill>
                  <a:srgbClr val="CBD5E0"/>
                </a:solidFill>
                <a:latin typeface="Segoe UI"/>
              </a:rPr>
              <a:t>M12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1941" y="1310764"/>
            <a:ext cx="2768345" cy="146304"/>
          </a:xfrm>
          <a:prstGeom prst="roundRect">
            <a:avLst>
              <a:gd name="adj" fmla="val 10000"/>
            </a:avLst>
          </a:prstGeom>
          <a:solidFill>
            <a:srgbClr val="2B8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355150" y="1310764"/>
            <a:ext cx="2768345" cy="146304"/>
          </a:xfrm>
          <a:prstGeom prst="roundRect">
            <a:avLst>
              <a:gd name="adj" fmla="val 10000"/>
            </a:avLst>
          </a:prstGeom>
          <a:solidFill>
            <a:srgbClr val="F7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8360" y="1310764"/>
            <a:ext cx="2768345" cy="146304"/>
          </a:xfrm>
          <a:prstGeom prst="roundRect">
            <a:avLst>
              <a:gd name="adj" fmla="val 10000"/>
            </a:avLst>
          </a:prstGeom>
          <a:solidFill>
            <a:srgbClr val="2FB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001571" y="1310764"/>
            <a:ext cx="2768345" cy="146304"/>
          </a:xfrm>
          <a:prstGeom prst="roundRect">
            <a:avLst>
              <a:gd name="adj" fmla="val 10000"/>
            </a:avLst>
          </a:prstGeom>
          <a:solidFill>
            <a:srgbClr val="8B7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Diamond 22"/>
          <p:cNvSpPr/>
          <p:nvPr/>
        </p:nvSpPr>
        <p:spPr>
          <a:xfrm>
            <a:off x="3227133" y="1283332"/>
            <a:ext cx="201168" cy="201168"/>
          </a:xfrm>
          <a:prstGeom prst="diamond">
            <a:avLst/>
          </a:prstGeom>
          <a:solidFill>
            <a:srgbClr val="F763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iamond 23"/>
          <p:cNvSpPr/>
          <p:nvPr/>
        </p:nvSpPr>
        <p:spPr>
          <a:xfrm>
            <a:off x="6050343" y="1283332"/>
            <a:ext cx="201168" cy="201168"/>
          </a:xfrm>
          <a:prstGeom prst="diamond">
            <a:avLst/>
          </a:prstGeom>
          <a:solidFill>
            <a:srgbClr val="F763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Diamond 24"/>
          <p:cNvSpPr/>
          <p:nvPr/>
        </p:nvSpPr>
        <p:spPr>
          <a:xfrm>
            <a:off x="8873554" y="1283332"/>
            <a:ext cx="201168" cy="201168"/>
          </a:xfrm>
          <a:prstGeom prst="diamond">
            <a:avLst/>
          </a:prstGeom>
          <a:solidFill>
            <a:srgbClr val="F7634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87637" y="1548509"/>
            <a:ext cx="1280160" cy="16715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850" b="1">
                <a:solidFill>
                  <a:srgbClr val="F7634A"/>
                </a:solidFill>
                <a:latin typeface="Segoe UI"/>
              </a:rPr>
              <a:t>ARB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0847" y="1548509"/>
            <a:ext cx="1280160" cy="16715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850" b="1">
                <a:solidFill>
                  <a:srgbClr val="F7634A"/>
                </a:solidFill>
                <a:latin typeface="Segoe UI"/>
              </a:rPr>
              <a:t>Prod Cutover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4058" y="1548509"/>
            <a:ext cx="1280160" cy="167157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/>
            <a:r>
              <a:rPr sz="850" b="1">
                <a:solidFill>
                  <a:srgbClr val="F7634A"/>
                </a:solidFill>
                <a:latin typeface="Segoe UI"/>
              </a:rPr>
              <a:t>Handover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508" y="1932556"/>
            <a:ext cx="2713482" cy="3858768"/>
          </a:xfrm>
          <a:prstGeom prst="roundRect">
            <a:avLst>
              <a:gd name="adj" fmla="val 10000"/>
            </a:avLst>
          </a:prstGeom>
          <a:solidFill>
            <a:srgbClr val="14243E"/>
          </a:solidFill>
          <a:ln w="9525">
            <a:solidFill>
              <a:srgbClr val="28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4508" y="1932556"/>
            <a:ext cx="2713482" cy="73152"/>
          </a:xfrm>
          <a:prstGeom prst="rect">
            <a:avLst/>
          </a:prstGeom>
          <a:solidFill>
            <a:srgbClr val="2B8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87388" y="2115436"/>
            <a:ext cx="402336" cy="402336"/>
          </a:xfrm>
          <a:prstGeom prst="ellipse">
            <a:avLst/>
          </a:prstGeom>
          <a:solidFill>
            <a:srgbClr val="2B8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7388" y="2213790"/>
            <a:ext cx="402336" cy="20562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0309" y="2206876"/>
            <a:ext cx="1936241" cy="190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>
                <a:solidFill>
                  <a:srgbClr val="2B8BE2"/>
                </a:solidFill>
                <a:latin typeface="Segoe UI"/>
              </a:rPr>
              <a:t>Months 1–3  ·  1</a:t>
            </a:r>
            <a:r>
              <a:rPr lang="en-US" sz="1000" b="1">
                <a:solidFill>
                  <a:srgbClr val="2B8BE2"/>
                </a:solidFill>
                <a:latin typeface="Segoe UI"/>
              </a:rPr>
              <a:t>0</a:t>
            </a:r>
            <a:r>
              <a:rPr sz="1000" b="1">
                <a:solidFill>
                  <a:srgbClr val="2B8BE2"/>
                </a:solidFill>
                <a:latin typeface="Segoe UI"/>
              </a:rPr>
              <a:t> </a:t>
            </a:r>
            <a:r>
              <a:rPr sz="1000" b="1" err="1">
                <a:solidFill>
                  <a:srgbClr val="2B8BE2"/>
                </a:solidFill>
                <a:latin typeface="Segoe UI"/>
              </a:rPr>
              <a:t>wks</a:t>
            </a:r>
            <a:endParaRPr sz="1000" b="1">
              <a:solidFill>
                <a:srgbClr val="2B8BE2"/>
              </a:solidFill>
              <a:latin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7388" y="2645788"/>
            <a:ext cx="2347722" cy="23916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PoC · Working AI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388" y="3212717"/>
            <a:ext cx="2347722" cy="35336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i="1">
                <a:solidFill>
                  <a:srgbClr val="CBD5E0"/>
                </a:solidFill>
                <a:latin typeface="Segoe UI"/>
              </a:rPr>
              <a:t>Mastercard</a:t>
            </a:r>
            <a:r>
              <a:rPr sz="900" i="1">
                <a:solidFill>
                  <a:srgbClr val="CBD5E0"/>
                </a:solidFill>
                <a:latin typeface="Segoe UI"/>
              </a:rPr>
              <a:t> sandbox · synthetic TRT data · 10-week pilot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7388" y="3733924"/>
            <a:ext cx="2347722" cy="13716"/>
          </a:xfrm>
          <a:prstGeom prst="rect">
            <a:avLst/>
          </a:prstGeom>
          <a:solidFill>
            <a:srgbClr val="283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7388" y="3779644"/>
            <a:ext cx="2347722" cy="1594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>
                <a:solidFill>
                  <a:srgbClr val="7E8BA3"/>
                </a:solidFill>
                <a:latin typeface="Segoe UI"/>
              </a:rPr>
              <a:t>KEY ACTIVITIES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388" y="4017388"/>
            <a:ext cx="2347722" cy="6961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Data ingestion + UI (</a:t>
            </a:r>
            <a:r>
              <a:rPr sz="900" err="1">
                <a:solidFill>
                  <a:srgbClr val="FFFFFF"/>
                </a:solidFill>
                <a:latin typeface="Segoe UI"/>
              </a:rPr>
              <a:t>Wk</a:t>
            </a:r>
            <a:r>
              <a:rPr sz="900">
                <a:solidFill>
                  <a:srgbClr val="FFFFFF"/>
                </a:solidFill>
                <a:latin typeface="Segoe UI"/>
              </a:rPr>
              <a:t> 1–2)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Analysis + explainable recs (</a:t>
            </a:r>
            <a:r>
              <a:rPr sz="900" err="1">
                <a:solidFill>
                  <a:srgbClr val="FFFFFF"/>
                </a:solidFill>
                <a:latin typeface="Segoe UI"/>
              </a:rPr>
              <a:t>Wk</a:t>
            </a:r>
            <a:r>
              <a:rPr sz="900">
                <a:solidFill>
                  <a:srgbClr val="FFFFFF"/>
                </a:solidFill>
                <a:latin typeface="Segoe UI"/>
              </a:rPr>
              <a:t> 3–5)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Co-Pilot + TRT dashboard (</a:t>
            </a:r>
            <a:r>
              <a:rPr sz="900" err="1">
                <a:solidFill>
                  <a:srgbClr val="FFFFFF"/>
                </a:solidFill>
                <a:latin typeface="Segoe UI"/>
              </a:rPr>
              <a:t>Wk</a:t>
            </a:r>
            <a:r>
              <a:rPr sz="900">
                <a:solidFill>
                  <a:srgbClr val="FFFFFF"/>
                </a:solidFill>
                <a:latin typeface="Segoe UI"/>
              </a:rPr>
              <a:t> 5–7)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Memory · audit · demo (</a:t>
            </a:r>
            <a:r>
              <a:rPr sz="900" err="1">
                <a:solidFill>
                  <a:srgbClr val="FFFFFF"/>
                </a:solidFill>
                <a:latin typeface="Segoe UI"/>
              </a:rPr>
              <a:t>Wk</a:t>
            </a:r>
            <a:r>
              <a:rPr sz="900">
                <a:solidFill>
                  <a:srgbClr val="FFFFFF"/>
                </a:solidFill>
                <a:latin typeface="Segoe UI"/>
              </a:rPr>
              <a:t> 8–10)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668" y="5288404"/>
            <a:ext cx="2439162" cy="438912"/>
          </a:xfrm>
          <a:prstGeom prst="roundRect">
            <a:avLst>
              <a:gd name="adj" fmla="val 10000"/>
            </a:avLst>
          </a:prstGeom>
          <a:solidFill>
            <a:srgbClr val="1B2E4A"/>
          </a:solidFill>
          <a:ln w="9525">
            <a:solidFill>
              <a:srgbClr val="2B8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3108" y="5345702"/>
            <a:ext cx="2256282" cy="3243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FFFFFF"/>
                </a:solidFill>
                <a:latin typeface="Segoe UI"/>
              </a:rPr>
              <a:t>Exit  →  Working PoC · validated architecture · ready for ARB submission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64294" y="1932556"/>
            <a:ext cx="2713482" cy="3858768"/>
          </a:xfrm>
          <a:prstGeom prst="roundRect">
            <a:avLst>
              <a:gd name="adj" fmla="val 10000"/>
            </a:avLst>
          </a:prstGeom>
          <a:solidFill>
            <a:srgbClr val="14243E"/>
          </a:solidFill>
          <a:ln w="9525">
            <a:solidFill>
              <a:srgbClr val="28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364294" y="1932556"/>
            <a:ext cx="2713482" cy="73152"/>
          </a:xfrm>
          <a:prstGeom prst="rect">
            <a:avLst/>
          </a:prstGeom>
          <a:solidFill>
            <a:srgbClr val="F7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547174" y="2115436"/>
            <a:ext cx="402336" cy="402336"/>
          </a:xfrm>
          <a:prstGeom prst="ellipse">
            <a:avLst/>
          </a:prstGeom>
          <a:solidFill>
            <a:srgbClr val="F7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47174" y="2213790"/>
            <a:ext cx="402336" cy="20562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50095" y="2206876"/>
            <a:ext cx="1936241" cy="190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>
                <a:solidFill>
                  <a:srgbClr val="F7634A"/>
                </a:solidFill>
                <a:latin typeface="Segoe UI"/>
              </a:rPr>
              <a:t>Months 4–</a:t>
            </a:r>
            <a:r>
              <a:rPr lang="en-US" sz="1000" b="1">
                <a:solidFill>
                  <a:srgbClr val="F7634A"/>
                </a:solidFill>
                <a:latin typeface="Segoe UI"/>
              </a:rPr>
              <a:t>5</a:t>
            </a:r>
            <a:r>
              <a:rPr sz="1000" b="1">
                <a:solidFill>
                  <a:srgbClr val="F7634A"/>
                </a:solidFill>
                <a:latin typeface="Segoe UI"/>
              </a:rPr>
              <a:t>  ·  ~</a:t>
            </a:r>
            <a:r>
              <a:rPr lang="en-US" sz="1000" b="1">
                <a:solidFill>
                  <a:srgbClr val="F7634A"/>
                </a:solidFill>
                <a:latin typeface="Segoe UI"/>
              </a:rPr>
              <a:t>8</a:t>
            </a:r>
            <a:r>
              <a:rPr sz="1000" b="1">
                <a:solidFill>
                  <a:srgbClr val="F7634A"/>
                </a:solidFill>
                <a:latin typeface="Segoe UI"/>
              </a:rPr>
              <a:t> </a:t>
            </a:r>
            <a:r>
              <a:rPr sz="1000" b="1" err="1">
                <a:solidFill>
                  <a:srgbClr val="F7634A"/>
                </a:solidFill>
                <a:latin typeface="Segoe UI"/>
              </a:rPr>
              <a:t>wks</a:t>
            </a:r>
            <a:endParaRPr sz="1000" b="1">
              <a:solidFill>
                <a:srgbClr val="F7634A"/>
              </a:solidFill>
              <a:latin typeface="Segoe U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47174" y="2645788"/>
            <a:ext cx="2347722" cy="45922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Enterprise Architecture </a:t>
            </a:r>
            <a:r>
              <a:rPr lang="en-US" sz="1300" b="1">
                <a:solidFill>
                  <a:srgbClr val="FFFFFF"/>
                </a:solidFill>
                <a:latin typeface="Segoe UI"/>
              </a:rPr>
              <a:t>(ARB) </a:t>
            </a:r>
            <a:r>
              <a:rPr sz="1300" b="1">
                <a:solidFill>
                  <a:srgbClr val="FFFFFF"/>
                </a:solidFill>
                <a:latin typeface="Segoe UI"/>
              </a:rPr>
              <a:t>Approval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7174" y="3212717"/>
            <a:ext cx="2347722" cy="35336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i="1">
                <a:solidFill>
                  <a:srgbClr val="CBD5E0"/>
                </a:solidFill>
                <a:latin typeface="Segoe UI"/>
              </a:rPr>
              <a:t>Mastercard ARB · Security · Compliance · Data Governance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47174" y="3733924"/>
            <a:ext cx="2347722" cy="13716"/>
          </a:xfrm>
          <a:prstGeom prst="rect">
            <a:avLst/>
          </a:prstGeom>
          <a:solidFill>
            <a:srgbClr val="283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547174" y="3779644"/>
            <a:ext cx="2347722" cy="1594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>
                <a:solidFill>
                  <a:srgbClr val="7E8BA3"/>
                </a:solidFill>
                <a:latin typeface="Segoe UI"/>
              </a:rPr>
              <a:t>KEY ACTIVITIES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47174" y="4017388"/>
            <a:ext cx="2347722" cy="6961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Enterprise architecture + ARB sign-off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InfoSec · encryption · secrets · RBAC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Data governance · PII · retention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Prod tenant + Microsoft stack lock-in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501454" y="5288404"/>
            <a:ext cx="2439162" cy="438912"/>
          </a:xfrm>
          <a:prstGeom prst="roundRect">
            <a:avLst>
              <a:gd name="adj" fmla="val 10000"/>
            </a:avLst>
          </a:prstGeom>
          <a:solidFill>
            <a:srgbClr val="1B2E4A"/>
          </a:solidFill>
          <a:ln w="9525">
            <a:solidFill>
              <a:srgbClr val="F76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92894" y="5345702"/>
            <a:ext cx="2256282" cy="3243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FFFFFF"/>
                </a:solidFill>
                <a:latin typeface="Segoe UI"/>
              </a:rPr>
              <a:t>Exit  →  ARB-approved architecture · production tenant ready · SSO/SAML live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24080" y="1932556"/>
            <a:ext cx="2713482" cy="3858768"/>
          </a:xfrm>
          <a:prstGeom prst="roundRect">
            <a:avLst>
              <a:gd name="adj" fmla="val 10000"/>
            </a:avLst>
          </a:prstGeom>
          <a:solidFill>
            <a:srgbClr val="14243E"/>
          </a:solidFill>
          <a:ln w="9525">
            <a:solidFill>
              <a:srgbClr val="28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24080" y="1932556"/>
            <a:ext cx="2713482" cy="73152"/>
          </a:xfrm>
          <a:prstGeom prst="rect">
            <a:avLst/>
          </a:prstGeom>
          <a:solidFill>
            <a:srgbClr val="2FB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406960" y="2115436"/>
            <a:ext cx="402336" cy="402336"/>
          </a:xfrm>
          <a:prstGeom prst="ellipse">
            <a:avLst/>
          </a:prstGeom>
          <a:solidFill>
            <a:srgbClr val="2FB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06960" y="2213790"/>
            <a:ext cx="402336" cy="20562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09881" y="2206876"/>
            <a:ext cx="1936241" cy="190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1000" b="1">
                <a:solidFill>
                  <a:srgbClr val="2FB06E"/>
                </a:solidFill>
                <a:latin typeface="Segoe UI"/>
              </a:rPr>
              <a:t>Months </a:t>
            </a:r>
            <a:r>
              <a:rPr lang="en-US" sz="1000" b="1">
                <a:solidFill>
                  <a:srgbClr val="2FB06E"/>
                </a:solidFill>
                <a:latin typeface="Segoe UI"/>
              </a:rPr>
              <a:t>6</a:t>
            </a:r>
            <a:r>
              <a:rPr sz="1000" b="1">
                <a:solidFill>
                  <a:srgbClr val="2FB06E"/>
                </a:solidFill>
                <a:latin typeface="Segoe UI"/>
              </a:rPr>
              <a:t>–</a:t>
            </a:r>
            <a:r>
              <a:rPr lang="en-US" sz="1000" b="1">
                <a:solidFill>
                  <a:srgbClr val="2FB06E"/>
                </a:solidFill>
                <a:latin typeface="Segoe UI"/>
              </a:rPr>
              <a:t>7</a:t>
            </a:r>
            <a:r>
              <a:rPr sz="1000" b="1">
                <a:solidFill>
                  <a:srgbClr val="2FB06E"/>
                </a:solidFill>
                <a:latin typeface="Segoe UI"/>
              </a:rPr>
              <a:t>  ·  ~</a:t>
            </a:r>
            <a:r>
              <a:rPr lang="en-US" sz="1000" b="1">
                <a:solidFill>
                  <a:srgbClr val="2FB06E"/>
                </a:solidFill>
                <a:latin typeface="Segoe UI"/>
              </a:rPr>
              <a:t>8</a:t>
            </a:r>
            <a:r>
              <a:rPr sz="1000" b="1">
                <a:solidFill>
                  <a:srgbClr val="2FB06E"/>
                </a:solidFill>
                <a:latin typeface="Segoe UI"/>
              </a:rPr>
              <a:t> </a:t>
            </a:r>
            <a:r>
              <a:rPr sz="1000" b="1" err="1">
                <a:solidFill>
                  <a:srgbClr val="2FB06E"/>
                </a:solidFill>
                <a:latin typeface="Segoe UI"/>
              </a:rPr>
              <a:t>wks</a:t>
            </a:r>
            <a:endParaRPr sz="1000" b="1">
              <a:solidFill>
                <a:srgbClr val="2FB06E"/>
              </a:solidFill>
              <a:latin typeface="Segoe U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406960" y="2645788"/>
            <a:ext cx="2347722" cy="45922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300" b="1">
                <a:solidFill>
                  <a:srgbClr val="FFFFFF"/>
                </a:solidFill>
                <a:latin typeface="Segoe UI"/>
              </a:rPr>
              <a:t>Business QA &amp; </a:t>
            </a:r>
            <a:r>
              <a:rPr sz="1300" b="1">
                <a:solidFill>
                  <a:srgbClr val="FFFFFF"/>
                </a:solidFill>
                <a:latin typeface="Segoe UI"/>
              </a:rPr>
              <a:t>Production Deployment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6960" y="3212717"/>
            <a:ext cx="2347722" cy="35336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900" i="1">
                <a:solidFill>
                  <a:srgbClr val="CBD5E0"/>
                </a:solidFill>
                <a:latin typeface="Segoe UI"/>
              </a:rPr>
              <a:t>Mastercard sandbox</a:t>
            </a:r>
            <a:r>
              <a:rPr sz="900" i="1">
                <a:solidFill>
                  <a:srgbClr val="CBD5E0"/>
                </a:solidFill>
                <a:latin typeface="Segoe UI"/>
              </a:rPr>
              <a:t>→ Mastercard production · real data · real integrations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6960" y="3733924"/>
            <a:ext cx="2347722" cy="13716"/>
          </a:xfrm>
          <a:prstGeom prst="rect">
            <a:avLst/>
          </a:prstGeom>
          <a:solidFill>
            <a:srgbClr val="283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06960" y="3779644"/>
            <a:ext cx="2347722" cy="1594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>
                <a:solidFill>
                  <a:srgbClr val="7E8BA3"/>
                </a:solidFill>
                <a:latin typeface="Segoe UI"/>
              </a:rPr>
              <a:t>KEY ACTIVITIES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6960" y="4017388"/>
            <a:ext cx="2347722" cy="696148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Migration</a:t>
            </a:r>
            <a:r>
              <a:rPr lang="en-US" sz="900">
                <a:solidFill>
                  <a:srgbClr val="FFFFFF"/>
                </a:solidFill>
                <a:latin typeface="Segoe UI"/>
              </a:rPr>
              <a:t>/Deployment </a:t>
            </a:r>
            <a:r>
              <a:rPr sz="900">
                <a:solidFill>
                  <a:srgbClr val="FFFFFF"/>
                </a:solidFill>
                <a:latin typeface="Segoe UI"/>
              </a:rPr>
              <a:t>to </a:t>
            </a:r>
            <a:r>
              <a:rPr lang="en-US" sz="900">
                <a:solidFill>
                  <a:srgbClr val="FFFFFF"/>
                </a:solidFill>
                <a:latin typeface="Segoe UI"/>
              </a:rPr>
              <a:t>Prod </a:t>
            </a:r>
            <a:r>
              <a:rPr sz="900">
                <a:solidFill>
                  <a:srgbClr val="FFFFFF"/>
                </a:solidFill>
                <a:latin typeface="Segoe UI"/>
              </a:rPr>
              <a:t>tenant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SafetyNet · Bears · EventHub live wiring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UAT with 3–5 TRT analysts · sign-off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Analyst training + Wave-1 go-live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361240" y="5288404"/>
            <a:ext cx="2439162" cy="438912"/>
          </a:xfrm>
          <a:prstGeom prst="roundRect">
            <a:avLst>
              <a:gd name="adj" fmla="val 10000"/>
            </a:avLst>
          </a:prstGeom>
          <a:solidFill>
            <a:srgbClr val="1B2E4A"/>
          </a:solidFill>
          <a:ln w="9525">
            <a:solidFill>
              <a:srgbClr val="2FB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52680" y="5345702"/>
            <a:ext cx="2256282" cy="3243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FFFFFF"/>
                </a:solidFill>
                <a:latin typeface="Segoe UI"/>
              </a:rPr>
              <a:t>Exit  →  System live on real signals · analysts operating · hypercare begins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083866" y="1932556"/>
            <a:ext cx="2713482" cy="3858768"/>
          </a:xfrm>
          <a:prstGeom prst="roundRect">
            <a:avLst>
              <a:gd name="adj" fmla="val 10000"/>
            </a:avLst>
          </a:prstGeom>
          <a:solidFill>
            <a:srgbClr val="14243E"/>
          </a:solidFill>
          <a:ln w="9525">
            <a:solidFill>
              <a:srgbClr val="28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083866" y="1932556"/>
            <a:ext cx="2713482" cy="73152"/>
          </a:xfrm>
          <a:prstGeom prst="rect">
            <a:avLst/>
          </a:prstGeom>
          <a:solidFill>
            <a:srgbClr val="8B7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9266746" y="2115436"/>
            <a:ext cx="402336" cy="402336"/>
          </a:xfrm>
          <a:prstGeom prst="ellipse">
            <a:avLst/>
          </a:prstGeom>
          <a:solidFill>
            <a:srgbClr val="8B7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66746" y="2213790"/>
            <a:ext cx="402336" cy="20562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69667" y="2206876"/>
            <a:ext cx="1936241" cy="19024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lang="en-US" sz="1000" b="1">
                <a:solidFill>
                  <a:srgbClr val="8B7AE0"/>
                </a:solidFill>
                <a:latin typeface="Segoe UI"/>
              </a:rPr>
              <a:t>2</a:t>
            </a:r>
            <a:r>
              <a:rPr sz="1000" b="1">
                <a:solidFill>
                  <a:srgbClr val="8B7AE0"/>
                </a:solidFill>
                <a:latin typeface="Segoe UI"/>
              </a:rPr>
              <a:t> </a:t>
            </a:r>
            <a:r>
              <a:rPr sz="1000" b="1" err="1">
                <a:solidFill>
                  <a:srgbClr val="8B7AE0"/>
                </a:solidFill>
                <a:latin typeface="Segoe UI"/>
              </a:rPr>
              <a:t>wks</a:t>
            </a:r>
            <a:endParaRPr sz="1000" b="1">
              <a:solidFill>
                <a:srgbClr val="8B7AE0"/>
              </a:solidFill>
              <a:latin typeface="Segoe UI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266746" y="2645788"/>
            <a:ext cx="2347722" cy="239164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Hypercare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66746" y="3212717"/>
            <a:ext cx="2347722" cy="353361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i="1">
                <a:solidFill>
                  <a:srgbClr val="CBD5E0"/>
                </a:solidFill>
                <a:latin typeface="Segoe UI"/>
              </a:rPr>
              <a:t>Post-go-live stabilization · feedback tuning · handover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66746" y="3733924"/>
            <a:ext cx="2347722" cy="13716"/>
          </a:xfrm>
          <a:prstGeom prst="rect">
            <a:avLst/>
          </a:prstGeom>
          <a:solidFill>
            <a:srgbClr val="283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266746" y="3779644"/>
            <a:ext cx="2347722" cy="1594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 b="1">
                <a:solidFill>
                  <a:srgbClr val="7E8BA3"/>
                </a:solidFill>
                <a:latin typeface="Segoe UI"/>
              </a:rPr>
              <a:t>KEY ACTIVITIES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66746" y="4017389"/>
            <a:ext cx="2347722" cy="865105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Hypercare · defect triage · SLO tuning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Org-memory refinement · real events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Agent tuning · analyst feedback loop</a:t>
            </a:r>
          </a:p>
          <a:p>
            <a:pPr algn="l">
              <a:lnSpc>
                <a:spcPct val="122000"/>
              </a:lnSpc>
            </a:pPr>
            <a:r>
              <a:rPr sz="900">
                <a:solidFill>
                  <a:srgbClr val="FFFFFF"/>
                </a:solidFill>
                <a:latin typeface="Segoe UI"/>
              </a:rPr>
              <a:t>·  KT · runbooks · handover to Mastercard ops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221026" y="5288404"/>
            <a:ext cx="2439162" cy="438912"/>
          </a:xfrm>
          <a:prstGeom prst="roundRect">
            <a:avLst>
              <a:gd name="adj" fmla="val 10000"/>
            </a:avLst>
          </a:prstGeom>
          <a:solidFill>
            <a:srgbClr val="1B2E4A"/>
          </a:solidFill>
          <a:ln w="9525">
            <a:solidFill>
              <a:srgbClr val="8B7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312466" y="5345702"/>
            <a:ext cx="2256282" cy="324316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FFFFFF"/>
                </a:solidFill>
                <a:latin typeface="Segoe UI"/>
              </a:rPr>
              <a:t>Exit  →  Steady-state · Apexon transitions to on-call support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4508" y="5891908"/>
            <a:ext cx="11292840" cy="292608"/>
          </a:xfrm>
          <a:prstGeom prst="roundRect">
            <a:avLst>
              <a:gd name="adj" fmla="val 10000"/>
            </a:avLst>
          </a:prstGeom>
          <a:solidFill>
            <a:srgbClr val="223654"/>
          </a:solidFill>
          <a:ln w="9525">
            <a:solidFill>
              <a:srgbClr val="F76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49644" y="5952689"/>
            <a:ext cx="11530584" cy="19024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sz="1000" b="1" err="1">
                <a:solidFill>
                  <a:srgbClr val="FFFFFF"/>
                </a:solidFill>
                <a:latin typeface="Segoe UI"/>
              </a:rPr>
              <a:t>Apexon</a:t>
            </a:r>
            <a:r>
              <a:rPr sz="1000" b="1">
                <a:solidFill>
                  <a:srgbClr val="FFFFFF"/>
                </a:solidFill>
                <a:latin typeface="Segoe UI"/>
              </a:rPr>
              <a:t> delivers the PoC in 1</a:t>
            </a:r>
            <a:r>
              <a:rPr lang="en-US" sz="1000" b="1">
                <a:solidFill>
                  <a:srgbClr val="FFFFFF"/>
                </a:solidFill>
                <a:latin typeface="Segoe UI"/>
              </a:rPr>
              <a:t>0 </a:t>
            </a:r>
            <a:r>
              <a:rPr sz="1000" b="1">
                <a:solidFill>
                  <a:srgbClr val="FFFFFF"/>
                </a:solidFill>
                <a:latin typeface="Segoe UI"/>
              </a:rPr>
              <a:t>weeks.  The </a:t>
            </a:r>
            <a:r>
              <a:rPr lang="en-US" sz="1000" b="1">
                <a:solidFill>
                  <a:srgbClr val="FFFFFF"/>
                </a:solidFill>
                <a:latin typeface="Segoe UI"/>
              </a:rPr>
              <a:t>rest of the duration is </a:t>
            </a:r>
            <a:r>
              <a:rPr sz="1000" b="1">
                <a:solidFill>
                  <a:srgbClr val="FFFFFF"/>
                </a:solidFill>
                <a:latin typeface="Segoe UI"/>
              </a:rPr>
              <a:t>Mastercard's own governance:  ARB approval · InfoSec · data governance · production cutover · </a:t>
            </a:r>
            <a:r>
              <a:rPr sz="1000" b="1" err="1">
                <a:solidFill>
                  <a:srgbClr val="FFFFFF"/>
                </a:solidFill>
                <a:latin typeface="Segoe UI"/>
              </a:rPr>
              <a:t>hypercare</a:t>
            </a:r>
            <a:r>
              <a:rPr sz="1000" b="1">
                <a:solidFill>
                  <a:srgbClr val="FFFFFF"/>
                </a:solidFill>
                <a:latin typeface="Segoe UI"/>
              </a:rPr>
              <a:t>. Enterprise gates.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3068" y="6583680"/>
            <a:ext cx="8229600" cy="1594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/>
            <a:r>
              <a:rPr sz="800">
                <a:solidFill>
                  <a:srgbClr val="7E8BA3"/>
                </a:solidFill>
                <a:latin typeface="Segoe UI"/>
              </a:rPr>
              <a:t>Confidential Information – For intended recipients only.  Apexon, Copyright © 2026 All rights reserved.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340148" y="6583680"/>
            <a:ext cx="640080" cy="159462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r"/>
            <a:r>
              <a:rPr sz="800">
                <a:solidFill>
                  <a:srgbClr val="7E8BA3"/>
                </a:solidFill>
                <a:latin typeface="Segoe UI"/>
              </a:rPr>
              <a:t>20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D6529D-97A0-2D40-864D-EE0DDAA12A28}"/>
              </a:ext>
            </a:extLst>
          </p:cNvPr>
          <p:cNvSpPr/>
          <p:nvPr/>
        </p:nvSpPr>
        <p:spPr>
          <a:xfrm>
            <a:off x="506800" y="6236814"/>
            <a:ext cx="2711190" cy="2502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$175,000 (Fixed fee)</a:t>
            </a:r>
            <a:endParaRPr lang="en-US" b="1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C6B52AC-9E98-1185-5B82-AE67E529B787}"/>
              </a:ext>
            </a:extLst>
          </p:cNvPr>
          <p:cNvSpPr/>
          <p:nvPr/>
        </p:nvSpPr>
        <p:spPr>
          <a:xfrm>
            <a:off x="3355150" y="6240658"/>
            <a:ext cx="8412480" cy="25024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ysClr val="windowText" lastClr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$30,000 per month to support production deployment</a:t>
            </a:r>
            <a:endParaRPr lang="en-US" b="1">
              <a:solidFill>
                <a:sysClr val="windowText" lastClr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EB8E6-EDBF-FFED-5413-35E199590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316680-A5DA-D88E-AA9D-60396572D1E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E3F7100-09DC-AE83-204F-1B43A486AB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71931F3-B49A-2841-D459-0A8BC33C8E70}"/>
              </a:ext>
            </a:extLst>
          </p:cNvPr>
          <p:cNvSpPr txBox="1"/>
          <p:nvPr/>
        </p:nvSpPr>
        <p:spPr>
          <a:xfrm>
            <a:off x="436992" y="355905"/>
            <a:ext cx="633210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Deployment Strategy: Hybrid Approach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7DF2AF7-AD1F-7054-56A1-2BEC45944CA7}"/>
              </a:ext>
            </a:extLst>
          </p:cNvPr>
          <p:cNvSpPr txBox="1"/>
          <p:nvPr/>
        </p:nvSpPr>
        <p:spPr>
          <a:xfrm>
            <a:off x="436992" y="679602"/>
            <a:ext cx="6046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Phase 1: Build fast in </a:t>
            </a:r>
            <a:r>
              <a:rPr lang="en-US" sz="1000" err="1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Apexon</a:t>
            </a:r>
            <a:r>
              <a:rPr lang="en-US" sz="10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environment (Weeks 1-4) | Phase 2: Transfer to Mastercard (Weeks 5-10)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F7924B42-EFD4-0CA7-CF59-8DCEE9103493}"/>
              </a:ext>
            </a:extLst>
          </p:cNvPr>
          <p:cNvGrpSpPr/>
          <p:nvPr/>
        </p:nvGrpSpPr>
        <p:grpSpPr>
          <a:xfrm>
            <a:off x="549354" y="1195504"/>
            <a:ext cx="11150599" cy="4695448"/>
            <a:chOff x="457200" y="1752905"/>
            <a:chExt cx="11506810" cy="5052060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47C7D43D-5FEB-B259-DC44-AA02037AAB4D}"/>
                </a:ext>
              </a:extLst>
            </p:cNvPr>
            <p:cNvSpPr/>
            <p:nvPr/>
          </p:nvSpPr>
          <p:spPr>
            <a:xfrm>
              <a:off x="457200" y="1752905"/>
              <a:ext cx="3638398" cy="647395"/>
            </a:xfrm>
            <a:prstGeom prst="roundRect">
              <a:avLst>
                <a:gd name="adj" fmla="val 49850"/>
              </a:avLst>
            </a:prstGeom>
            <a:solidFill>
              <a:srgbClr val="FFFFFF">
                <a:alpha val="9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254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84" name="Image 2" descr="gen-dedup-b27aba1731c4e6c4aa394a86af3c4dbc.png">
              <a:extLst>
                <a:ext uri="{FF2B5EF4-FFF2-40B4-BE49-F238E27FC236}">
                  <a16:creationId xmlns:a16="http://schemas.microsoft.com/office/drawing/2014/main" id="{E6E192FE-F989-CA8D-8D51-44A182EE4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647395" y="1867205"/>
              <a:ext cx="418795" cy="418795"/>
            </a:xfrm>
            <a:prstGeom prst="rect">
              <a:avLst/>
            </a:prstGeom>
          </p:spPr>
        </p:pic>
        <p:pic>
          <p:nvPicPr>
            <p:cNvPr id="94" name="Image 3" descr="gen-dedup-84911712b7eb3ad2de36077a1c185669.png">
              <a:extLst>
                <a:ext uri="{FF2B5EF4-FFF2-40B4-BE49-F238E27FC236}">
                  <a16:creationId xmlns:a16="http://schemas.microsoft.com/office/drawing/2014/main" id="{50300AC0-94BE-C048-7B1E-E83C2980D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/>
          </p:blipFill>
          <p:spPr>
            <a:xfrm>
              <a:off x="780898" y="2000250"/>
              <a:ext cx="152705" cy="152705"/>
            </a:xfrm>
            <a:prstGeom prst="rect">
              <a:avLst/>
            </a:prstGeom>
          </p:spPr>
        </p:pic>
        <p:sp>
          <p:nvSpPr>
            <p:cNvPr id="104" name="Text 6">
              <a:extLst>
                <a:ext uri="{FF2B5EF4-FFF2-40B4-BE49-F238E27FC236}">
                  <a16:creationId xmlns:a16="http://schemas.microsoft.com/office/drawing/2014/main" id="{8BE53137-5600-D6EE-EEFC-71ADFA0C747F}"/>
                </a:ext>
              </a:extLst>
            </p:cNvPr>
            <p:cNvSpPr txBox="1"/>
            <p:nvPr/>
          </p:nvSpPr>
          <p:spPr>
            <a:xfrm>
              <a:off x="1181405" y="1900123"/>
              <a:ext cx="1972361" cy="2103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>
                  <a:solidFill>
                    <a:srgbClr val="1A1F3E"/>
                  </a:solidFill>
                  <a:latin typeface="Arial" panose="020B0604020202020204" pitchFamily="34" charset="0"/>
                  <a:ea typeface="Montserrat" pitchFamily="34" charset="-122"/>
                  <a:cs typeface="Arial" panose="020B0604020202020204" pitchFamily="34" charset="0"/>
                </a:rPr>
                <a:t>Phase 1: Build Fast</a:t>
              </a:r>
              <a:endParaRPr lang="en-US" sz="13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Text 7">
              <a:extLst>
                <a:ext uri="{FF2B5EF4-FFF2-40B4-BE49-F238E27FC236}">
                  <a16:creationId xmlns:a16="http://schemas.microsoft.com/office/drawing/2014/main" id="{4D0E3D59-3F91-5B4C-A4CF-68E3505062F4}"/>
                </a:ext>
              </a:extLst>
            </p:cNvPr>
            <p:cNvSpPr txBox="1"/>
            <p:nvPr/>
          </p:nvSpPr>
          <p:spPr>
            <a:xfrm>
              <a:off x="1181405" y="2109521"/>
              <a:ext cx="1657807" cy="1435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Weeks 1-4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0" name="Image 4" descr="gen-dedup-2371f3e627d18fb6b3ce1d907bf7d28d.png">
              <a:extLst>
                <a:ext uri="{FF2B5EF4-FFF2-40B4-BE49-F238E27FC236}">
                  <a16:creationId xmlns:a16="http://schemas.microsoft.com/office/drawing/2014/main" id="{0AD362D4-4015-CCDE-6B30-120126851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2" b="-2"/>
            <a:stretch/>
          </p:blipFill>
          <p:spPr>
            <a:xfrm>
              <a:off x="457200" y="2514600"/>
              <a:ext cx="3631997" cy="4290365"/>
            </a:xfrm>
            <a:prstGeom prst="rect">
              <a:avLst/>
            </a:prstGeom>
          </p:spPr>
        </p:pic>
        <p:sp>
          <p:nvSpPr>
            <p:cNvPr id="112" name="Shape 8">
              <a:extLst>
                <a:ext uri="{FF2B5EF4-FFF2-40B4-BE49-F238E27FC236}">
                  <a16:creationId xmlns:a16="http://schemas.microsoft.com/office/drawing/2014/main" id="{028F97CC-4712-E19D-55E1-2918E7768DBB}"/>
                </a:ext>
              </a:extLst>
            </p:cNvPr>
            <p:cNvSpPr/>
            <p:nvPr/>
          </p:nvSpPr>
          <p:spPr>
            <a:xfrm>
              <a:off x="685800" y="2743200"/>
              <a:ext cx="3181198" cy="694944"/>
            </a:xfrm>
            <a:prstGeom prst="roundRect">
              <a:avLst>
                <a:gd name="adj" fmla="val 28839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Shape 9">
              <a:extLst>
                <a:ext uri="{FF2B5EF4-FFF2-40B4-BE49-F238E27FC236}">
                  <a16:creationId xmlns:a16="http://schemas.microsoft.com/office/drawing/2014/main" id="{6D5BD815-D683-8DBD-4B62-A2DFB67A7EF6}"/>
                </a:ext>
              </a:extLst>
            </p:cNvPr>
            <p:cNvSpPr/>
            <p:nvPr/>
          </p:nvSpPr>
          <p:spPr>
            <a:xfrm>
              <a:off x="685800" y="2743200"/>
              <a:ext cx="38405" cy="694944"/>
            </a:xfrm>
            <a:prstGeom prst="roundRect">
              <a:avLst>
                <a:gd name="adj" fmla="val 521850"/>
              </a:avLst>
            </a:prstGeom>
            <a:solidFill>
              <a:srgbClr val="2196F3"/>
            </a:solidFill>
            <a:ln w="12700">
              <a:solidFill>
                <a:srgbClr val="2196F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Shape 10">
              <a:extLst>
                <a:ext uri="{FF2B5EF4-FFF2-40B4-BE49-F238E27FC236}">
                  <a16:creationId xmlns:a16="http://schemas.microsoft.com/office/drawing/2014/main" id="{D9EE2320-02EE-9DAC-28BF-7167ADCCEBE6}"/>
                </a:ext>
              </a:extLst>
            </p:cNvPr>
            <p:cNvSpPr/>
            <p:nvPr/>
          </p:nvSpPr>
          <p:spPr>
            <a:xfrm>
              <a:off x="838505" y="2857500"/>
              <a:ext cx="247802" cy="247802"/>
            </a:xfrm>
            <a:prstGeom prst="ellipse">
              <a:avLst/>
            </a:prstGeom>
            <a:solidFill>
              <a:srgbClr val="2196F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Text 11">
              <a:extLst>
                <a:ext uri="{FF2B5EF4-FFF2-40B4-BE49-F238E27FC236}">
                  <a16:creationId xmlns:a16="http://schemas.microsoft.com/office/drawing/2014/main" id="{53A28B58-FF49-83FA-4058-4EE4A592F93C}"/>
                </a:ext>
              </a:extLst>
            </p:cNvPr>
            <p:cNvSpPr/>
            <p:nvPr/>
          </p:nvSpPr>
          <p:spPr>
            <a:xfrm>
              <a:off x="838505" y="2857500"/>
              <a:ext cx="247802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1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Text 12">
              <a:extLst>
                <a:ext uri="{FF2B5EF4-FFF2-40B4-BE49-F238E27FC236}">
                  <a16:creationId xmlns:a16="http://schemas.microsoft.com/office/drawing/2014/main" id="{F76ED9EC-A3DC-65F2-47D8-8E8CF5A00B4A}"/>
                </a:ext>
              </a:extLst>
            </p:cNvPr>
            <p:cNvSpPr txBox="1"/>
            <p:nvPr/>
          </p:nvSpPr>
          <p:spPr>
            <a:xfrm>
              <a:off x="1200607" y="2857500"/>
              <a:ext cx="255300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 1: Setup &amp; Ingestion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Text 13">
              <a:extLst>
                <a:ext uri="{FF2B5EF4-FFF2-40B4-BE49-F238E27FC236}">
                  <a16:creationId xmlns:a16="http://schemas.microsoft.com/office/drawing/2014/main" id="{BDE2FCE3-B223-1B01-F80C-AF402AC4D868}"/>
                </a:ext>
              </a:extLst>
            </p:cNvPr>
            <p:cNvSpPr txBox="1"/>
            <p:nvPr/>
          </p:nvSpPr>
          <p:spPr>
            <a:xfrm>
              <a:off x="1200607" y="3029407"/>
              <a:ext cx="2553005" cy="2953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Azure sandbox setup, S3 bucket creation, initial data pipeline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Shape 14">
              <a:extLst>
                <a:ext uri="{FF2B5EF4-FFF2-40B4-BE49-F238E27FC236}">
                  <a16:creationId xmlns:a16="http://schemas.microsoft.com/office/drawing/2014/main" id="{E376ED0C-4AC7-05E6-AB0F-F76BB5373564}"/>
                </a:ext>
              </a:extLst>
            </p:cNvPr>
            <p:cNvSpPr/>
            <p:nvPr/>
          </p:nvSpPr>
          <p:spPr>
            <a:xfrm>
              <a:off x="685800" y="3550615"/>
              <a:ext cx="3181198" cy="552298"/>
            </a:xfrm>
            <a:prstGeom prst="roundRect">
              <a:avLst>
                <a:gd name="adj" fmla="val 45672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Shape 15">
              <a:extLst>
                <a:ext uri="{FF2B5EF4-FFF2-40B4-BE49-F238E27FC236}">
                  <a16:creationId xmlns:a16="http://schemas.microsoft.com/office/drawing/2014/main" id="{B57457B2-AEAB-327F-D20B-06A72F5E5430}"/>
                </a:ext>
              </a:extLst>
            </p:cNvPr>
            <p:cNvSpPr/>
            <p:nvPr/>
          </p:nvSpPr>
          <p:spPr>
            <a:xfrm>
              <a:off x="685800" y="3550615"/>
              <a:ext cx="38405" cy="552298"/>
            </a:xfrm>
            <a:prstGeom prst="roundRect">
              <a:avLst>
                <a:gd name="adj" fmla="val 656811"/>
              </a:avLst>
            </a:prstGeom>
            <a:solidFill>
              <a:srgbClr val="2196F3"/>
            </a:solidFill>
            <a:ln w="12700">
              <a:solidFill>
                <a:srgbClr val="2196F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Shape 16">
              <a:extLst>
                <a:ext uri="{FF2B5EF4-FFF2-40B4-BE49-F238E27FC236}">
                  <a16:creationId xmlns:a16="http://schemas.microsoft.com/office/drawing/2014/main" id="{34CD14FE-8743-7B2B-1518-20F3F8587DC4}"/>
                </a:ext>
              </a:extLst>
            </p:cNvPr>
            <p:cNvSpPr/>
            <p:nvPr/>
          </p:nvSpPr>
          <p:spPr>
            <a:xfrm>
              <a:off x="838505" y="3664915"/>
              <a:ext cx="247802" cy="247802"/>
            </a:xfrm>
            <a:prstGeom prst="ellipse">
              <a:avLst/>
            </a:prstGeom>
            <a:solidFill>
              <a:srgbClr val="2196F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Text 17">
              <a:extLst>
                <a:ext uri="{FF2B5EF4-FFF2-40B4-BE49-F238E27FC236}">
                  <a16:creationId xmlns:a16="http://schemas.microsoft.com/office/drawing/2014/main" id="{1C5F349F-6D18-935F-6479-AFCCD06D3E32}"/>
                </a:ext>
              </a:extLst>
            </p:cNvPr>
            <p:cNvSpPr/>
            <p:nvPr/>
          </p:nvSpPr>
          <p:spPr>
            <a:xfrm>
              <a:off x="838505" y="3664915"/>
              <a:ext cx="247802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2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Text 18">
              <a:extLst>
                <a:ext uri="{FF2B5EF4-FFF2-40B4-BE49-F238E27FC236}">
                  <a16:creationId xmlns:a16="http://schemas.microsoft.com/office/drawing/2014/main" id="{B495FB4B-7665-7CA9-C26C-39E6F6734376}"/>
                </a:ext>
              </a:extLst>
            </p:cNvPr>
            <p:cNvSpPr txBox="1"/>
            <p:nvPr/>
          </p:nvSpPr>
          <p:spPr>
            <a:xfrm>
              <a:off x="1200607" y="3664915"/>
              <a:ext cx="255300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 2: Data Pipeline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Text 19">
              <a:extLst>
                <a:ext uri="{FF2B5EF4-FFF2-40B4-BE49-F238E27FC236}">
                  <a16:creationId xmlns:a16="http://schemas.microsoft.com/office/drawing/2014/main" id="{B82A16B7-6712-6C8A-6F22-1BB3B6F19BCC}"/>
                </a:ext>
              </a:extLst>
            </p:cNvPr>
            <p:cNvSpPr txBox="1"/>
            <p:nvPr/>
          </p:nvSpPr>
          <p:spPr>
            <a:xfrm>
              <a:off x="1200607" y="3836822"/>
              <a:ext cx="255300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Glue ETL, Athena queries, DynamoDB setup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Shape 20">
              <a:extLst>
                <a:ext uri="{FF2B5EF4-FFF2-40B4-BE49-F238E27FC236}">
                  <a16:creationId xmlns:a16="http://schemas.microsoft.com/office/drawing/2014/main" id="{6CF9CB22-7EA5-86EB-707C-C489AA5493AC}"/>
                </a:ext>
              </a:extLst>
            </p:cNvPr>
            <p:cNvSpPr/>
            <p:nvPr/>
          </p:nvSpPr>
          <p:spPr>
            <a:xfrm>
              <a:off x="685800" y="4211726"/>
              <a:ext cx="3181198" cy="694944"/>
            </a:xfrm>
            <a:prstGeom prst="roundRect">
              <a:avLst>
                <a:gd name="adj" fmla="val 28839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Shape 21">
              <a:extLst>
                <a:ext uri="{FF2B5EF4-FFF2-40B4-BE49-F238E27FC236}">
                  <a16:creationId xmlns:a16="http://schemas.microsoft.com/office/drawing/2014/main" id="{DED43D00-BFD1-6776-1898-EB485077324B}"/>
                </a:ext>
              </a:extLst>
            </p:cNvPr>
            <p:cNvSpPr/>
            <p:nvPr/>
          </p:nvSpPr>
          <p:spPr>
            <a:xfrm>
              <a:off x="685800" y="4211726"/>
              <a:ext cx="38405" cy="694944"/>
            </a:xfrm>
            <a:prstGeom prst="roundRect">
              <a:avLst>
                <a:gd name="adj" fmla="val 521850"/>
              </a:avLst>
            </a:prstGeom>
            <a:solidFill>
              <a:srgbClr val="2196F3"/>
            </a:solidFill>
            <a:ln w="12700">
              <a:solidFill>
                <a:srgbClr val="2196F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Shape 22">
              <a:extLst>
                <a:ext uri="{FF2B5EF4-FFF2-40B4-BE49-F238E27FC236}">
                  <a16:creationId xmlns:a16="http://schemas.microsoft.com/office/drawing/2014/main" id="{56C31938-7344-6C11-F61F-F85EED7AA5E6}"/>
                </a:ext>
              </a:extLst>
            </p:cNvPr>
            <p:cNvSpPr/>
            <p:nvPr/>
          </p:nvSpPr>
          <p:spPr>
            <a:xfrm>
              <a:off x="838505" y="4326026"/>
              <a:ext cx="247802" cy="247802"/>
            </a:xfrm>
            <a:prstGeom prst="ellipse">
              <a:avLst/>
            </a:prstGeom>
            <a:solidFill>
              <a:srgbClr val="2196F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Text 23">
              <a:extLst>
                <a:ext uri="{FF2B5EF4-FFF2-40B4-BE49-F238E27FC236}">
                  <a16:creationId xmlns:a16="http://schemas.microsoft.com/office/drawing/2014/main" id="{84BE167E-CC1D-7E2B-2513-36280DB27D0F}"/>
                </a:ext>
              </a:extLst>
            </p:cNvPr>
            <p:cNvSpPr/>
            <p:nvPr/>
          </p:nvSpPr>
          <p:spPr>
            <a:xfrm>
              <a:off x="838505" y="4326026"/>
              <a:ext cx="247802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3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Text 24">
              <a:extLst>
                <a:ext uri="{FF2B5EF4-FFF2-40B4-BE49-F238E27FC236}">
                  <a16:creationId xmlns:a16="http://schemas.microsoft.com/office/drawing/2014/main" id="{18D5B912-E81A-9AAD-30A6-403F88005852}"/>
                </a:ext>
              </a:extLst>
            </p:cNvPr>
            <p:cNvSpPr txBox="1"/>
            <p:nvPr/>
          </p:nvSpPr>
          <p:spPr>
            <a:xfrm>
              <a:off x="1200607" y="4326026"/>
              <a:ext cx="255300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 3: Analysis Engine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Text 25">
              <a:extLst>
                <a:ext uri="{FF2B5EF4-FFF2-40B4-BE49-F238E27FC236}">
                  <a16:creationId xmlns:a16="http://schemas.microsoft.com/office/drawing/2014/main" id="{9D553DE7-FB2F-CBD2-0861-B20015E4F3F3}"/>
                </a:ext>
              </a:extLst>
            </p:cNvPr>
            <p:cNvSpPr txBox="1"/>
            <p:nvPr/>
          </p:nvSpPr>
          <p:spPr>
            <a:xfrm>
              <a:off x="1200607" y="4497934"/>
              <a:ext cx="2553005" cy="2953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Bedrock integration, analysis logic, recommendations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Shape 26">
              <a:extLst>
                <a:ext uri="{FF2B5EF4-FFF2-40B4-BE49-F238E27FC236}">
                  <a16:creationId xmlns:a16="http://schemas.microsoft.com/office/drawing/2014/main" id="{080EF6C2-EAF1-1EA6-56F0-A653B01D606F}"/>
                </a:ext>
              </a:extLst>
            </p:cNvPr>
            <p:cNvSpPr/>
            <p:nvPr/>
          </p:nvSpPr>
          <p:spPr>
            <a:xfrm>
              <a:off x="685800" y="5020056"/>
              <a:ext cx="3181198" cy="552298"/>
            </a:xfrm>
            <a:prstGeom prst="roundRect">
              <a:avLst>
                <a:gd name="adj" fmla="val 45672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Shape 27">
              <a:extLst>
                <a:ext uri="{FF2B5EF4-FFF2-40B4-BE49-F238E27FC236}">
                  <a16:creationId xmlns:a16="http://schemas.microsoft.com/office/drawing/2014/main" id="{9B4B46AB-5084-0029-D28B-6CDBB1342652}"/>
                </a:ext>
              </a:extLst>
            </p:cNvPr>
            <p:cNvSpPr/>
            <p:nvPr/>
          </p:nvSpPr>
          <p:spPr>
            <a:xfrm>
              <a:off x="685800" y="5020056"/>
              <a:ext cx="38405" cy="552298"/>
            </a:xfrm>
            <a:prstGeom prst="roundRect">
              <a:avLst>
                <a:gd name="adj" fmla="val 656811"/>
              </a:avLst>
            </a:prstGeom>
            <a:solidFill>
              <a:srgbClr val="2196F3"/>
            </a:solidFill>
            <a:ln w="12700">
              <a:solidFill>
                <a:srgbClr val="2196F3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Shape 28">
              <a:extLst>
                <a:ext uri="{FF2B5EF4-FFF2-40B4-BE49-F238E27FC236}">
                  <a16:creationId xmlns:a16="http://schemas.microsoft.com/office/drawing/2014/main" id="{97F29E01-139A-6531-6A77-1398C798200B}"/>
                </a:ext>
              </a:extLst>
            </p:cNvPr>
            <p:cNvSpPr/>
            <p:nvPr/>
          </p:nvSpPr>
          <p:spPr>
            <a:xfrm>
              <a:off x="838505" y="5134356"/>
              <a:ext cx="247802" cy="247802"/>
            </a:xfrm>
            <a:prstGeom prst="ellipse">
              <a:avLst/>
            </a:prstGeom>
            <a:solidFill>
              <a:srgbClr val="2196F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Text 29">
              <a:extLst>
                <a:ext uri="{FF2B5EF4-FFF2-40B4-BE49-F238E27FC236}">
                  <a16:creationId xmlns:a16="http://schemas.microsoft.com/office/drawing/2014/main" id="{1C7035DA-4B68-1ADB-BF3D-31CA7EB486B2}"/>
                </a:ext>
              </a:extLst>
            </p:cNvPr>
            <p:cNvSpPr/>
            <p:nvPr/>
          </p:nvSpPr>
          <p:spPr>
            <a:xfrm>
              <a:off x="838505" y="5134356"/>
              <a:ext cx="247802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4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Text 30">
              <a:extLst>
                <a:ext uri="{FF2B5EF4-FFF2-40B4-BE49-F238E27FC236}">
                  <a16:creationId xmlns:a16="http://schemas.microsoft.com/office/drawing/2014/main" id="{1E3F8AE1-B7CC-4806-751D-D7C9347F00B2}"/>
                </a:ext>
              </a:extLst>
            </p:cNvPr>
            <p:cNvSpPr txBox="1"/>
            <p:nvPr/>
          </p:nvSpPr>
          <p:spPr>
            <a:xfrm>
              <a:off x="1200607" y="5134356"/>
              <a:ext cx="255300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 4: UI Development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Text 31">
              <a:extLst>
                <a:ext uri="{FF2B5EF4-FFF2-40B4-BE49-F238E27FC236}">
                  <a16:creationId xmlns:a16="http://schemas.microsoft.com/office/drawing/2014/main" id="{01ACBD6B-B0AE-4779-F234-3E1E76A4547B}"/>
                </a:ext>
              </a:extLst>
            </p:cNvPr>
            <p:cNvSpPr txBox="1"/>
            <p:nvPr/>
          </p:nvSpPr>
          <p:spPr>
            <a:xfrm>
              <a:off x="1200607" y="5305349"/>
              <a:ext cx="2868473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Dashboard, chat interface, visual components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Shape 32">
              <a:extLst>
                <a:ext uri="{FF2B5EF4-FFF2-40B4-BE49-F238E27FC236}">
                  <a16:creationId xmlns:a16="http://schemas.microsoft.com/office/drawing/2014/main" id="{3D33AC6F-893B-ADBA-D8DE-71675CDE9044}"/>
                </a:ext>
              </a:extLst>
            </p:cNvPr>
            <p:cNvSpPr/>
            <p:nvPr/>
          </p:nvSpPr>
          <p:spPr>
            <a:xfrm>
              <a:off x="685800" y="5757062"/>
              <a:ext cx="3181198" cy="819302"/>
            </a:xfrm>
            <a:prstGeom prst="roundRect">
              <a:avLst>
                <a:gd name="adj" fmla="val 20764"/>
              </a:avLst>
            </a:prstGeom>
            <a:solidFill>
              <a:srgbClr val="FFF3E0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Shape 33">
              <a:extLst>
                <a:ext uri="{FF2B5EF4-FFF2-40B4-BE49-F238E27FC236}">
                  <a16:creationId xmlns:a16="http://schemas.microsoft.com/office/drawing/2014/main" id="{005DD210-7F0E-02D3-F026-8EEFC230DEE3}"/>
                </a:ext>
              </a:extLst>
            </p:cNvPr>
            <p:cNvSpPr/>
            <p:nvPr/>
          </p:nvSpPr>
          <p:spPr>
            <a:xfrm>
              <a:off x="685800" y="5757062"/>
              <a:ext cx="38405" cy="819302"/>
            </a:xfrm>
            <a:prstGeom prst="roundRect">
              <a:avLst>
                <a:gd name="adj" fmla="val 442966"/>
              </a:avLst>
            </a:prstGeom>
            <a:solidFill>
              <a:srgbClr val="FF9800"/>
            </a:solidFill>
            <a:ln w="12700">
              <a:solidFill>
                <a:srgbClr val="FF98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69" name="Image 5" descr="gen-dedup-65397911070aff31ce55aa81a5d1f5f4.png">
              <a:extLst>
                <a:ext uri="{FF2B5EF4-FFF2-40B4-BE49-F238E27FC236}">
                  <a16:creationId xmlns:a16="http://schemas.microsoft.com/office/drawing/2014/main" id="{88315381-86FD-4C5D-337A-D723A3A3E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/>
          </p:blipFill>
          <p:spPr>
            <a:xfrm>
              <a:off x="857707" y="5919368"/>
              <a:ext cx="95098" cy="95098"/>
            </a:xfrm>
            <a:prstGeom prst="rect">
              <a:avLst/>
            </a:prstGeom>
          </p:spPr>
        </p:pic>
        <p:sp>
          <p:nvSpPr>
            <p:cNvPr id="171" name="Text 34">
              <a:extLst>
                <a:ext uri="{FF2B5EF4-FFF2-40B4-BE49-F238E27FC236}">
                  <a16:creationId xmlns:a16="http://schemas.microsoft.com/office/drawing/2014/main" id="{D50D055A-3032-8854-8273-0BFC62628140}"/>
                </a:ext>
              </a:extLst>
            </p:cNvPr>
            <p:cNvSpPr txBox="1"/>
            <p:nvPr/>
          </p:nvSpPr>
          <p:spPr>
            <a:xfrm>
              <a:off x="1028700" y="5890565"/>
              <a:ext cx="1286561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E65100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Risk Mitigation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3" name="Image 6" descr="gen-dedup-b5124a1b601f215fa2f0095d43caf49e.png">
              <a:extLst>
                <a:ext uri="{FF2B5EF4-FFF2-40B4-BE49-F238E27FC236}">
                  <a16:creationId xmlns:a16="http://schemas.microsoft.com/office/drawing/2014/main" id="{45BA8241-2695-4A21-E2B0-E31674529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/>
          </p:blipFill>
          <p:spPr>
            <a:xfrm>
              <a:off x="857707" y="6142347"/>
              <a:ext cx="75895" cy="87138"/>
            </a:xfrm>
            <a:prstGeom prst="rect">
              <a:avLst/>
            </a:prstGeom>
          </p:spPr>
        </p:pic>
        <p:sp>
          <p:nvSpPr>
            <p:cNvPr id="175" name="Text 35">
              <a:extLst>
                <a:ext uri="{FF2B5EF4-FFF2-40B4-BE49-F238E27FC236}">
                  <a16:creationId xmlns:a16="http://schemas.microsoft.com/office/drawing/2014/main" id="{E1DF538E-79E4-9527-3523-D4B16F9769AA}"/>
                </a:ext>
              </a:extLst>
            </p:cNvPr>
            <p:cNvSpPr txBox="1"/>
            <p:nvPr/>
          </p:nvSpPr>
          <p:spPr>
            <a:xfrm>
              <a:off x="1114654" y="6119165"/>
              <a:ext cx="2377440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444444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Start off-network to avoid approval delays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7" name="Image 7" descr="gen-dedup-b5124a1b601f215fa2f0095d43caf49e.png">
              <a:extLst>
                <a:ext uri="{FF2B5EF4-FFF2-40B4-BE49-F238E27FC236}">
                  <a16:creationId xmlns:a16="http://schemas.microsoft.com/office/drawing/2014/main" id="{C2F146EE-2DCB-A50E-E693-53C8FA96F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/>
          </p:blipFill>
          <p:spPr>
            <a:xfrm>
              <a:off x="857707" y="6332542"/>
              <a:ext cx="75895" cy="87138"/>
            </a:xfrm>
            <a:prstGeom prst="rect">
              <a:avLst/>
            </a:prstGeom>
          </p:spPr>
        </p:pic>
        <p:sp>
          <p:nvSpPr>
            <p:cNvPr id="179" name="Text 36">
              <a:extLst>
                <a:ext uri="{FF2B5EF4-FFF2-40B4-BE49-F238E27FC236}">
                  <a16:creationId xmlns:a16="http://schemas.microsoft.com/office/drawing/2014/main" id="{589E7DC2-439D-B50C-A4F7-617B41C75B0F}"/>
                </a:ext>
              </a:extLst>
            </p:cNvPr>
            <p:cNvSpPr txBox="1"/>
            <p:nvPr/>
          </p:nvSpPr>
          <p:spPr>
            <a:xfrm>
              <a:off x="1114654" y="6309360"/>
              <a:ext cx="1969618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444444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Use synthetic data for initial testing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Shape 37">
              <a:extLst>
                <a:ext uri="{FF2B5EF4-FFF2-40B4-BE49-F238E27FC236}">
                  <a16:creationId xmlns:a16="http://schemas.microsoft.com/office/drawing/2014/main" id="{B00ECDC8-6760-DB70-01EF-A9ACAF9EDF35}"/>
                </a:ext>
              </a:extLst>
            </p:cNvPr>
            <p:cNvSpPr/>
            <p:nvPr/>
          </p:nvSpPr>
          <p:spPr>
            <a:xfrm>
              <a:off x="4280306" y="1752905"/>
              <a:ext cx="3638398" cy="647395"/>
            </a:xfrm>
            <a:prstGeom prst="roundRect">
              <a:avLst>
                <a:gd name="adj" fmla="val 49850"/>
              </a:avLst>
            </a:prstGeom>
            <a:solidFill>
              <a:srgbClr val="FFFFFF">
                <a:alpha val="9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254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83" name="Image 8" descr="gen-dedup-9e13f1a5591f1171859c2dcbe3a5c2e5.png">
              <a:extLst>
                <a:ext uri="{FF2B5EF4-FFF2-40B4-BE49-F238E27FC236}">
                  <a16:creationId xmlns:a16="http://schemas.microsoft.com/office/drawing/2014/main" id="{D6D9D6DD-8C7C-FF64-2314-1B77C3431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4470502" y="1867205"/>
              <a:ext cx="418795" cy="418795"/>
            </a:xfrm>
            <a:prstGeom prst="rect">
              <a:avLst/>
            </a:prstGeom>
          </p:spPr>
        </p:pic>
        <p:pic>
          <p:nvPicPr>
            <p:cNvPr id="185" name="Image 9" descr="gen-dedup-8ccd004e2fad2da80f4b6129a6cb75c9.png">
              <a:extLst>
                <a:ext uri="{FF2B5EF4-FFF2-40B4-BE49-F238E27FC236}">
                  <a16:creationId xmlns:a16="http://schemas.microsoft.com/office/drawing/2014/main" id="{2CC157BB-75DB-B34E-D6B8-C0F7C9F49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/>
          </p:blipFill>
          <p:spPr>
            <a:xfrm>
              <a:off x="4604004" y="2000250"/>
              <a:ext cx="152705" cy="152705"/>
            </a:xfrm>
            <a:prstGeom prst="rect">
              <a:avLst/>
            </a:prstGeom>
          </p:spPr>
        </p:pic>
        <p:sp>
          <p:nvSpPr>
            <p:cNvPr id="187" name="Text 38">
              <a:extLst>
                <a:ext uri="{FF2B5EF4-FFF2-40B4-BE49-F238E27FC236}">
                  <a16:creationId xmlns:a16="http://schemas.microsoft.com/office/drawing/2014/main" id="{C57501AC-6704-7D77-F850-C7DAFEEDD63F}"/>
                </a:ext>
              </a:extLst>
            </p:cNvPr>
            <p:cNvSpPr txBox="1"/>
            <p:nvPr/>
          </p:nvSpPr>
          <p:spPr>
            <a:xfrm>
              <a:off x="5003597" y="1900123"/>
              <a:ext cx="1825142" cy="2103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>
                  <a:solidFill>
                    <a:srgbClr val="1A1F3E"/>
                  </a:solidFill>
                  <a:latin typeface="Arial" panose="020B0604020202020204" pitchFamily="34" charset="0"/>
                  <a:ea typeface="Montserrat" pitchFamily="34" charset="-122"/>
                  <a:cs typeface="Arial" panose="020B0604020202020204" pitchFamily="34" charset="0"/>
                </a:rPr>
                <a:t>Phase 2: Transfer</a:t>
              </a:r>
              <a:endParaRPr lang="en-US" sz="13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Text 39">
              <a:extLst>
                <a:ext uri="{FF2B5EF4-FFF2-40B4-BE49-F238E27FC236}">
                  <a16:creationId xmlns:a16="http://schemas.microsoft.com/office/drawing/2014/main" id="{00D2F00B-9C44-1E1B-C113-C3416942E4C7}"/>
                </a:ext>
              </a:extLst>
            </p:cNvPr>
            <p:cNvSpPr txBox="1"/>
            <p:nvPr/>
          </p:nvSpPr>
          <p:spPr>
            <a:xfrm>
              <a:off x="5003597" y="2109521"/>
              <a:ext cx="1534363" cy="1435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Weeks 5-10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91" name="Image 10" descr="gen-dedup-b70d588590bd554161788da9a8b42d7e.png">
              <a:extLst>
                <a:ext uri="{FF2B5EF4-FFF2-40B4-BE49-F238E27FC236}">
                  <a16:creationId xmlns:a16="http://schemas.microsoft.com/office/drawing/2014/main" id="{EF0D71E5-D62E-D65D-928F-5195B8654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t="-4" b="-4"/>
            <a:stretch/>
          </p:blipFill>
          <p:spPr>
            <a:xfrm>
              <a:off x="4280306" y="2514600"/>
              <a:ext cx="3631997" cy="4290365"/>
            </a:xfrm>
            <a:prstGeom prst="rect">
              <a:avLst/>
            </a:prstGeom>
          </p:spPr>
        </p:pic>
        <p:sp>
          <p:nvSpPr>
            <p:cNvPr id="193" name="Shape 40">
              <a:extLst>
                <a:ext uri="{FF2B5EF4-FFF2-40B4-BE49-F238E27FC236}">
                  <a16:creationId xmlns:a16="http://schemas.microsoft.com/office/drawing/2014/main" id="{FB462DE3-69E3-9669-E5D7-AF553B8CA5F2}"/>
                </a:ext>
              </a:extLst>
            </p:cNvPr>
            <p:cNvSpPr/>
            <p:nvPr/>
          </p:nvSpPr>
          <p:spPr>
            <a:xfrm>
              <a:off x="4508906" y="2743200"/>
              <a:ext cx="3181198" cy="552298"/>
            </a:xfrm>
            <a:prstGeom prst="roundRect">
              <a:avLst>
                <a:gd name="adj" fmla="val 45672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Shape 41">
              <a:extLst>
                <a:ext uri="{FF2B5EF4-FFF2-40B4-BE49-F238E27FC236}">
                  <a16:creationId xmlns:a16="http://schemas.microsoft.com/office/drawing/2014/main" id="{18835581-14AE-C69B-C965-495DC6BE9FD8}"/>
                </a:ext>
              </a:extLst>
            </p:cNvPr>
            <p:cNvSpPr/>
            <p:nvPr/>
          </p:nvSpPr>
          <p:spPr>
            <a:xfrm>
              <a:off x="4508906" y="2743200"/>
              <a:ext cx="38405" cy="552298"/>
            </a:xfrm>
            <a:prstGeom prst="roundRect">
              <a:avLst>
                <a:gd name="adj" fmla="val 656811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Shape 42">
              <a:extLst>
                <a:ext uri="{FF2B5EF4-FFF2-40B4-BE49-F238E27FC236}">
                  <a16:creationId xmlns:a16="http://schemas.microsoft.com/office/drawing/2014/main" id="{2B5D3B4F-C8F1-B4B1-CF9B-7729E104695C}"/>
                </a:ext>
              </a:extLst>
            </p:cNvPr>
            <p:cNvSpPr/>
            <p:nvPr/>
          </p:nvSpPr>
          <p:spPr>
            <a:xfrm>
              <a:off x="4660697" y="2857500"/>
              <a:ext cx="247802" cy="247802"/>
            </a:xfrm>
            <a:prstGeom prst="ellipse">
              <a:avLst/>
            </a:prstGeom>
            <a:solidFill>
              <a:srgbClr val="4CAF5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Text 43">
              <a:extLst>
                <a:ext uri="{FF2B5EF4-FFF2-40B4-BE49-F238E27FC236}">
                  <a16:creationId xmlns:a16="http://schemas.microsoft.com/office/drawing/2014/main" id="{EF5B843D-FFD4-6E8A-59DB-B9A6C6525CE6}"/>
                </a:ext>
              </a:extLst>
            </p:cNvPr>
            <p:cNvSpPr/>
            <p:nvPr/>
          </p:nvSpPr>
          <p:spPr>
            <a:xfrm>
              <a:off x="4660697" y="2857500"/>
              <a:ext cx="247802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5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Text 44">
              <a:extLst>
                <a:ext uri="{FF2B5EF4-FFF2-40B4-BE49-F238E27FC236}">
                  <a16:creationId xmlns:a16="http://schemas.microsoft.com/office/drawing/2014/main" id="{AADFAD08-D548-B1CC-B786-281B6E421554}"/>
                </a:ext>
              </a:extLst>
            </p:cNvPr>
            <p:cNvSpPr txBox="1"/>
            <p:nvPr/>
          </p:nvSpPr>
          <p:spPr>
            <a:xfrm>
              <a:off x="5022799" y="2857500"/>
              <a:ext cx="255300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 5: Environment Setup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Text 45">
              <a:extLst>
                <a:ext uri="{FF2B5EF4-FFF2-40B4-BE49-F238E27FC236}">
                  <a16:creationId xmlns:a16="http://schemas.microsoft.com/office/drawing/2014/main" id="{3BF2ACC3-0704-5F7B-E6EC-41F3A5C757F1}"/>
                </a:ext>
              </a:extLst>
            </p:cNvPr>
            <p:cNvSpPr txBox="1"/>
            <p:nvPr/>
          </p:nvSpPr>
          <p:spPr>
            <a:xfrm>
              <a:off x="5022799" y="3029407"/>
              <a:ext cx="3038551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Mastercard VPC, SSO integration, security config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Shape 46">
              <a:extLst>
                <a:ext uri="{FF2B5EF4-FFF2-40B4-BE49-F238E27FC236}">
                  <a16:creationId xmlns:a16="http://schemas.microsoft.com/office/drawing/2014/main" id="{90B0113C-12AA-83E8-8580-5651C4B30FBA}"/>
                </a:ext>
              </a:extLst>
            </p:cNvPr>
            <p:cNvSpPr/>
            <p:nvPr/>
          </p:nvSpPr>
          <p:spPr>
            <a:xfrm>
              <a:off x="4508906" y="3404311"/>
              <a:ext cx="3181198" cy="694944"/>
            </a:xfrm>
            <a:prstGeom prst="roundRect">
              <a:avLst>
                <a:gd name="adj" fmla="val 28839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Shape 47">
              <a:extLst>
                <a:ext uri="{FF2B5EF4-FFF2-40B4-BE49-F238E27FC236}">
                  <a16:creationId xmlns:a16="http://schemas.microsoft.com/office/drawing/2014/main" id="{4EED58A5-B7ED-DA05-C55E-FEC7102D149F}"/>
                </a:ext>
              </a:extLst>
            </p:cNvPr>
            <p:cNvSpPr/>
            <p:nvPr/>
          </p:nvSpPr>
          <p:spPr>
            <a:xfrm>
              <a:off x="4508906" y="3404311"/>
              <a:ext cx="38405" cy="694944"/>
            </a:xfrm>
            <a:prstGeom prst="roundRect">
              <a:avLst>
                <a:gd name="adj" fmla="val 521850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Shape 48">
              <a:extLst>
                <a:ext uri="{FF2B5EF4-FFF2-40B4-BE49-F238E27FC236}">
                  <a16:creationId xmlns:a16="http://schemas.microsoft.com/office/drawing/2014/main" id="{79BB6C6F-CE9C-4DBA-DEE0-DCB9FBECCBEC}"/>
                </a:ext>
              </a:extLst>
            </p:cNvPr>
            <p:cNvSpPr/>
            <p:nvPr/>
          </p:nvSpPr>
          <p:spPr>
            <a:xfrm>
              <a:off x="4660697" y="3518611"/>
              <a:ext cx="247802" cy="247802"/>
            </a:xfrm>
            <a:prstGeom prst="ellipse">
              <a:avLst/>
            </a:prstGeom>
            <a:solidFill>
              <a:srgbClr val="4CAF5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Text 49">
              <a:extLst>
                <a:ext uri="{FF2B5EF4-FFF2-40B4-BE49-F238E27FC236}">
                  <a16:creationId xmlns:a16="http://schemas.microsoft.com/office/drawing/2014/main" id="{3E05DA0E-F652-26FA-5704-779BC009B4E6}"/>
                </a:ext>
              </a:extLst>
            </p:cNvPr>
            <p:cNvSpPr/>
            <p:nvPr/>
          </p:nvSpPr>
          <p:spPr>
            <a:xfrm>
              <a:off x="4660697" y="3518611"/>
              <a:ext cx="247802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6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Text 50">
              <a:extLst>
                <a:ext uri="{FF2B5EF4-FFF2-40B4-BE49-F238E27FC236}">
                  <a16:creationId xmlns:a16="http://schemas.microsoft.com/office/drawing/2014/main" id="{40A2EBE7-6E1E-F9D2-63E6-7F850D519E5D}"/>
                </a:ext>
              </a:extLst>
            </p:cNvPr>
            <p:cNvSpPr txBox="1"/>
            <p:nvPr/>
          </p:nvSpPr>
          <p:spPr>
            <a:xfrm>
              <a:off x="5022799" y="3518611"/>
              <a:ext cx="255300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 6: Data Migration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Text 51">
              <a:extLst>
                <a:ext uri="{FF2B5EF4-FFF2-40B4-BE49-F238E27FC236}">
                  <a16:creationId xmlns:a16="http://schemas.microsoft.com/office/drawing/2014/main" id="{54965911-CC33-AC3D-C42A-14F0382646FF}"/>
                </a:ext>
              </a:extLst>
            </p:cNvPr>
            <p:cNvSpPr txBox="1"/>
            <p:nvPr/>
          </p:nvSpPr>
          <p:spPr>
            <a:xfrm>
              <a:off x="5022799" y="3689604"/>
              <a:ext cx="2553005" cy="2953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Transfer to Mastercard environment, data validation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Shape 52">
              <a:extLst>
                <a:ext uri="{FF2B5EF4-FFF2-40B4-BE49-F238E27FC236}">
                  <a16:creationId xmlns:a16="http://schemas.microsoft.com/office/drawing/2014/main" id="{226BB1D2-9CAD-1A34-ED41-D6FC8CA8D7FD}"/>
                </a:ext>
              </a:extLst>
            </p:cNvPr>
            <p:cNvSpPr/>
            <p:nvPr/>
          </p:nvSpPr>
          <p:spPr>
            <a:xfrm>
              <a:off x="4508906" y="4211726"/>
              <a:ext cx="3181198" cy="552298"/>
            </a:xfrm>
            <a:prstGeom prst="roundRect">
              <a:avLst>
                <a:gd name="adj" fmla="val 45672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Shape 53">
              <a:extLst>
                <a:ext uri="{FF2B5EF4-FFF2-40B4-BE49-F238E27FC236}">
                  <a16:creationId xmlns:a16="http://schemas.microsoft.com/office/drawing/2014/main" id="{7E749D5C-D998-6730-086E-40F32F44C0AB}"/>
                </a:ext>
              </a:extLst>
            </p:cNvPr>
            <p:cNvSpPr/>
            <p:nvPr/>
          </p:nvSpPr>
          <p:spPr>
            <a:xfrm>
              <a:off x="4508906" y="4211726"/>
              <a:ext cx="38405" cy="552298"/>
            </a:xfrm>
            <a:prstGeom prst="roundRect">
              <a:avLst>
                <a:gd name="adj" fmla="val 656811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Shape 54">
              <a:extLst>
                <a:ext uri="{FF2B5EF4-FFF2-40B4-BE49-F238E27FC236}">
                  <a16:creationId xmlns:a16="http://schemas.microsoft.com/office/drawing/2014/main" id="{40C552EC-118B-0CD4-DDE1-4E4EB31B90CD}"/>
                </a:ext>
              </a:extLst>
            </p:cNvPr>
            <p:cNvSpPr/>
            <p:nvPr/>
          </p:nvSpPr>
          <p:spPr>
            <a:xfrm>
              <a:off x="4660697" y="4326026"/>
              <a:ext cx="247802" cy="247802"/>
            </a:xfrm>
            <a:prstGeom prst="ellipse">
              <a:avLst/>
            </a:prstGeom>
            <a:solidFill>
              <a:srgbClr val="4CAF5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Text 55">
              <a:extLst>
                <a:ext uri="{FF2B5EF4-FFF2-40B4-BE49-F238E27FC236}">
                  <a16:creationId xmlns:a16="http://schemas.microsoft.com/office/drawing/2014/main" id="{4F6278DD-CD8C-8895-CB4F-735A8645FB7D}"/>
                </a:ext>
              </a:extLst>
            </p:cNvPr>
            <p:cNvSpPr/>
            <p:nvPr/>
          </p:nvSpPr>
          <p:spPr>
            <a:xfrm>
              <a:off x="4660697" y="4326026"/>
              <a:ext cx="247802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7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Text 56">
              <a:extLst>
                <a:ext uri="{FF2B5EF4-FFF2-40B4-BE49-F238E27FC236}">
                  <a16:creationId xmlns:a16="http://schemas.microsoft.com/office/drawing/2014/main" id="{74C47B3F-2CF3-CB63-FE95-804289D9D59F}"/>
                </a:ext>
              </a:extLst>
            </p:cNvPr>
            <p:cNvSpPr txBox="1"/>
            <p:nvPr/>
          </p:nvSpPr>
          <p:spPr>
            <a:xfrm>
              <a:off x="5022799" y="4326026"/>
              <a:ext cx="255300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 7: Integration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Text 57">
              <a:extLst>
                <a:ext uri="{FF2B5EF4-FFF2-40B4-BE49-F238E27FC236}">
                  <a16:creationId xmlns:a16="http://schemas.microsoft.com/office/drawing/2014/main" id="{640B7199-E12C-441C-D173-7B37356BE199}"/>
                </a:ext>
              </a:extLst>
            </p:cNvPr>
            <p:cNvSpPr txBox="1"/>
            <p:nvPr/>
          </p:nvSpPr>
          <p:spPr>
            <a:xfrm>
              <a:off x="5022799" y="4497934"/>
              <a:ext cx="2994660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Connect to Mastercard systems, tune thresholds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Shape 58">
              <a:extLst>
                <a:ext uri="{FF2B5EF4-FFF2-40B4-BE49-F238E27FC236}">
                  <a16:creationId xmlns:a16="http://schemas.microsoft.com/office/drawing/2014/main" id="{96BCDA8C-013B-B4AA-9240-34F16909B011}"/>
                </a:ext>
              </a:extLst>
            </p:cNvPr>
            <p:cNvSpPr/>
            <p:nvPr/>
          </p:nvSpPr>
          <p:spPr>
            <a:xfrm>
              <a:off x="4508906" y="4872838"/>
              <a:ext cx="3181198" cy="552298"/>
            </a:xfrm>
            <a:prstGeom prst="roundRect">
              <a:avLst>
                <a:gd name="adj" fmla="val 45672"/>
              </a:avLst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Shape 59">
              <a:extLst>
                <a:ext uri="{FF2B5EF4-FFF2-40B4-BE49-F238E27FC236}">
                  <a16:creationId xmlns:a16="http://schemas.microsoft.com/office/drawing/2014/main" id="{0078747E-CBF7-B880-415E-879157AB0954}"/>
                </a:ext>
              </a:extLst>
            </p:cNvPr>
            <p:cNvSpPr/>
            <p:nvPr/>
          </p:nvSpPr>
          <p:spPr>
            <a:xfrm>
              <a:off x="4508906" y="4872838"/>
              <a:ext cx="38405" cy="552298"/>
            </a:xfrm>
            <a:prstGeom prst="roundRect">
              <a:avLst>
                <a:gd name="adj" fmla="val 656811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Shape 60">
              <a:extLst>
                <a:ext uri="{FF2B5EF4-FFF2-40B4-BE49-F238E27FC236}">
                  <a16:creationId xmlns:a16="http://schemas.microsoft.com/office/drawing/2014/main" id="{1DCC8C3F-87DD-B019-4B0B-AA30F7751DC6}"/>
                </a:ext>
              </a:extLst>
            </p:cNvPr>
            <p:cNvSpPr/>
            <p:nvPr/>
          </p:nvSpPr>
          <p:spPr>
            <a:xfrm>
              <a:off x="4660697" y="4987138"/>
              <a:ext cx="418795" cy="247802"/>
            </a:xfrm>
            <a:prstGeom prst="roundRect">
              <a:avLst>
                <a:gd name="adj" fmla="val 369004"/>
              </a:avLst>
            </a:prstGeom>
            <a:solidFill>
              <a:srgbClr val="4CAF5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Text 61">
              <a:extLst>
                <a:ext uri="{FF2B5EF4-FFF2-40B4-BE49-F238E27FC236}">
                  <a16:creationId xmlns:a16="http://schemas.microsoft.com/office/drawing/2014/main" id="{5E91423B-78BE-2158-A6B5-7893553E7F2A}"/>
                </a:ext>
              </a:extLst>
            </p:cNvPr>
            <p:cNvSpPr/>
            <p:nvPr/>
          </p:nvSpPr>
          <p:spPr>
            <a:xfrm>
              <a:off x="4660697" y="4987138"/>
              <a:ext cx="419710" cy="247802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non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>
                  <a:solidFill>
                    <a:srgbClr val="FFFFFF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8-10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Text 62">
              <a:extLst>
                <a:ext uri="{FF2B5EF4-FFF2-40B4-BE49-F238E27FC236}">
                  <a16:creationId xmlns:a16="http://schemas.microsoft.com/office/drawing/2014/main" id="{8E42E9C0-E2D9-AAE3-EE81-E9716821C2FA}"/>
                </a:ext>
              </a:extLst>
            </p:cNvPr>
            <p:cNvSpPr txBox="1"/>
            <p:nvPr/>
          </p:nvSpPr>
          <p:spPr>
            <a:xfrm>
              <a:off x="5194706" y="4987138"/>
              <a:ext cx="2382012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1A1F3E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Weeks 8-10: UAT &amp; Handover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Text 63">
              <a:extLst>
                <a:ext uri="{FF2B5EF4-FFF2-40B4-BE49-F238E27FC236}">
                  <a16:creationId xmlns:a16="http://schemas.microsoft.com/office/drawing/2014/main" id="{4BC53376-27D7-B243-076A-1E70B99A403E}"/>
                </a:ext>
              </a:extLst>
            </p:cNvPr>
            <p:cNvSpPr txBox="1"/>
            <p:nvPr/>
          </p:nvSpPr>
          <p:spPr>
            <a:xfrm>
              <a:off x="5194706" y="5159045"/>
              <a:ext cx="273588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Testing, documentation, knowledge transfer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Shape 64">
              <a:extLst>
                <a:ext uri="{FF2B5EF4-FFF2-40B4-BE49-F238E27FC236}">
                  <a16:creationId xmlns:a16="http://schemas.microsoft.com/office/drawing/2014/main" id="{186EB116-6CFA-4D0F-7DC4-29F6796F25F4}"/>
                </a:ext>
              </a:extLst>
            </p:cNvPr>
            <p:cNvSpPr/>
            <p:nvPr/>
          </p:nvSpPr>
          <p:spPr>
            <a:xfrm>
              <a:off x="4508906" y="5757062"/>
              <a:ext cx="3181198" cy="819302"/>
            </a:xfrm>
            <a:prstGeom prst="roundRect">
              <a:avLst>
                <a:gd name="adj" fmla="val 20764"/>
              </a:avLst>
            </a:prstGeom>
            <a:solidFill>
              <a:srgbClr val="E8F5E9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Shape 65">
              <a:extLst>
                <a:ext uri="{FF2B5EF4-FFF2-40B4-BE49-F238E27FC236}">
                  <a16:creationId xmlns:a16="http://schemas.microsoft.com/office/drawing/2014/main" id="{A238AC8D-FCE3-779F-E7EF-F859DBDECC63}"/>
                </a:ext>
              </a:extLst>
            </p:cNvPr>
            <p:cNvSpPr/>
            <p:nvPr/>
          </p:nvSpPr>
          <p:spPr>
            <a:xfrm>
              <a:off x="4508906" y="5757062"/>
              <a:ext cx="38405" cy="819302"/>
            </a:xfrm>
            <a:prstGeom prst="roundRect">
              <a:avLst>
                <a:gd name="adj" fmla="val 442966"/>
              </a:avLst>
            </a:prstGeom>
            <a:solidFill>
              <a:srgbClr val="4CAF50"/>
            </a:solidFill>
            <a:ln w="12700">
              <a:solidFill>
                <a:srgbClr val="4CAF5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45" name="Image 11" descr="gen-dedup-ac0dbb7b6bcd5d19be69650e426bbfe6.png">
              <a:extLst>
                <a:ext uri="{FF2B5EF4-FFF2-40B4-BE49-F238E27FC236}">
                  <a16:creationId xmlns:a16="http://schemas.microsoft.com/office/drawing/2014/main" id="{A9D865AC-75A4-00B5-4156-DF7C5775A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/>
          </p:blipFill>
          <p:spPr>
            <a:xfrm>
              <a:off x="4679899" y="5919368"/>
              <a:ext cx="95098" cy="95098"/>
            </a:xfrm>
            <a:prstGeom prst="rect">
              <a:avLst/>
            </a:prstGeom>
          </p:spPr>
        </p:pic>
        <p:sp>
          <p:nvSpPr>
            <p:cNvPr id="247" name="Text 66">
              <a:extLst>
                <a:ext uri="{FF2B5EF4-FFF2-40B4-BE49-F238E27FC236}">
                  <a16:creationId xmlns:a16="http://schemas.microsoft.com/office/drawing/2014/main" id="{821601C0-38C5-580C-E46D-5B275436C9B3}"/>
                </a:ext>
              </a:extLst>
            </p:cNvPr>
            <p:cNvSpPr txBox="1"/>
            <p:nvPr/>
          </p:nvSpPr>
          <p:spPr>
            <a:xfrm>
              <a:off x="4851806" y="5890565"/>
              <a:ext cx="1378915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2E7D32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Success Criteria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49" name="Image 12" descr="gen-dedup-a68e4858c7c072f6444cad59abba12d1.png">
              <a:extLst>
                <a:ext uri="{FF2B5EF4-FFF2-40B4-BE49-F238E27FC236}">
                  <a16:creationId xmlns:a16="http://schemas.microsoft.com/office/drawing/2014/main" id="{E37C1C2C-A570-5F83-965E-4A89EE5D5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/>
          </p:blipFill>
          <p:spPr>
            <a:xfrm>
              <a:off x="4679899" y="6142347"/>
              <a:ext cx="75895" cy="87138"/>
            </a:xfrm>
            <a:prstGeom prst="rect">
              <a:avLst/>
            </a:prstGeom>
          </p:spPr>
        </p:pic>
        <p:sp>
          <p:nvSpPr>
            <p:cNvPr id="251" name="Text 67">
              <a:extLst>
                <a:ext uri="{FF2B5EF4-FFF2-40B4-BE49-F238E27FC236}">
                  <a16:creationId xmlns:a16="http://schemas.microsoft.com/office/drawing/2014/main" id="{17DABCE5-2CED-1359-5B55-88AAD29F33D0}"/>
                </a:ext>
              </a:extLst>
            </p:cNvPr>
            <p:cNvSpPr txBox="1"/>
            <p:nvPr/>
          </p:nvSpPr>
          <p:spPr>
            <a:xfrm>
              <a:off x="4937760" y="6119165"/>
              <a:ext cx="1269187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444444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Faster analyst TAT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3" name="Image 13" descr="gen-dedup-a68e4858c7c072f6444cad59abba12d1.png">
              <a:extLst>
                <a:ext uri="{FF2B5EF4-FFF2-40B4-BE49-F238E27FC236}">
                  <a16:creationId xmlns:a16="http://schemas.microsoft.com/office/drawing/2014/main" id="{379349DA-6B05-2C55-491C-D98D7732C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/>
          </p:blipFill>
          <p:spPr>
            <a:xfrm>
              <a:off x="4679899" y="6332542"/>
              <a:ext cx="75895" cy="87138"/>
            </a:xfrm>
            <a:prstGeom prst="rect">
              <a:avLst/>
            </a:prstGeom>
          </p:spPr>
        </p:pic>
        <p:sp>
          <p:nvSpPr>
            <p:cNvPr id="255" name="Text 68">
              <a:extLst>
                <a:ext uri="{FF2B5EF4-FFF2-40B4-BE49-F238E27FC236}">
                  <a16:creationId xmlns:a16="http://schemas.microsoft.com/office/drawing/2014/main" id="{7B8ED18B-049B-53A5-136F-221AE93E460D}"/>
                </a:ext>
              </a:extLst>
            </p:cNvPr>
            <p:cNvSpPr txBox="1"/>
            <p:nvPr/>
          </p:nvSpPr>
          <p:spPr>
            <a:xfrm>
              <a:off x="4937760" y="6309360"/>
              <a:ext cx="1663294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444444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Explainable recommendations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Shape 69">
              <a:extLst>
                <a:ext uri="{FF2B5EF4-FFF2-40B4-BE49-F238E27FC236}">
                  <a16:creationId xmlns:a16="http://schemas.microsoft.com/office/drawing/2014/main" id="{428000E1-FC2C-1A40-FAFA-DDB5ABC77312}"/>
                </a:ext>
              </a:extLst>
            </p:cNvPr>
            <p:cNvSpPr/>
            <p:nvPr/>
          </p:nvSpPr>
          <p:spPr>
            <a:xfrm>
              <a:off x="8102498" y="1752905"/>
              <a:ext cx="3638398" cy="647395"/>
            </a:xfrm>
            <a:prstGeom prst="roundRect">
              <a:avLst>
                <a:gd name="adj" fmla="val 49850"/>
              </a:avLst>
            </a:prstGeom>
            <a:solidFill>
              <a:srgbClr val="FFFFFF">
                <a:alpha val="95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  <a:effectLst>
              <a:outerShdw blurRad="101600" dist="25400" dir="162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9" name="Image 14" descr="gen-dedup-b27aba1731c4e6c4aa394a86af3c4dbc.png">
              <a:extLst>
                <a:ext uri="{FF2B5EF4-FFF2-40B4-BE49-F238E27FC236}">
                  <a16:creationId xmlns:a16="http://schemas.microsoft.com/office/drawing/2014/main" id="{B7D38E59-C2CE-9069-A29F-01A223FF8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8292694" y="1867205"/>
              <a:ext cx="418795" cy="418795"/>
            </a:xfrm>
            <a:prstGeom prst="rect">
              <a:avLst/>
            </a:prstGeom>
          </p:spPr>
        </p:pic>
        <p:pic>
          <p:nvPicPr>
            <p:cNvPr id="261" name="Image 15" descr="gen-dedup-8bdc7f5bd9bcc7e992ad3d82da0762d0.png">
              <a:extLst>
                <a:ext uri="{FF2B5EF4-FFF2-40B4-BE49-F238E27FC236}">
                  <a16:creationId xmlns:a16="http://schemas.microsoft.com/office/drawing/2014/main" id="{B5FCC9C8-B68C-AFFA-5146-C52949256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/>
          </p:blipFill>
          <p:spPr>
            <a:xfrm>
              <a:off x="8426196" y="2015912"/>
              <a:ext cx="152705" cy="121380"/>
            </a:xfrm>
            <a:prstGeom prst="rect">
              <a:avLst/>
            </a:prstGeom>
          </p:spPr>
        </p:pic>
        <p:sp>
          <p:nvSpPr>
            <p:cNvPr id="263" name="Text 70">
              <a:extLst>
                <a:ext uri="{FF2B5EF4-FFF2-40B4-BE49-F238E27FC236}">
                  <a16:creationId xmlns:a16="http://schemas.microsoft.com/office/drawing/2014/main" id="{FB20FA36-334F-2112-D899-4F33578BEA5A}"/>
                </a:ext>
              </a:extLst>
            </p:cNvPr>
            <p:cNvSpPr txBox="1"/>
            <p:nvPr/>
          </p:nvSpPr>
          <p:spPr>
            <a:xfrm>
              <a:off x="8826703" y="1900123"/>
              <a:ext cx="1295705" cy="2103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>
                  <a:solidFill>
                    <a:srgbClr val="1A1F3E"/>
                  </a:solidFill>
                  <a:latin typeface="Arial" panose="020B0604020202020204" pitchFamily="34" charset="0"/>
                  <a:ea typeface="Montserrat" pitchFamily="34" charset="-122"/>
                  <a:cs typeface="Arial" panose="020B0604020202020204" pitchFamily="34" charset="0"/>
                </a:rPr>
                <a:t>Dependencies</a:t>
              </a:r>
              <a:endParaRPr lang="en-US" sz="13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Text 71">
              <a:extLst>
                <a:ext uri="{FF2B5EF4-FFF2-40B4-BE49-F238E27FC236}">
                  <a16:creationId xmlns:a16="http://schemas.microsoft.com/office/drawing/2014/main" id="{516C7415-8070-B4B7-4D1C-D4041F051B27}"/>
                </a:ext>
              </a:extLst>
            </p:cNvPr>
            <p:cNvSpPr txBox="1"/>
            <p:nvPr/>
          </p:nvSpPr>
          <p:spPr>
            <a:xfrm>
              <a:off x="8826703" y="2109521"/>
              <a:ext cx="1492301" cy="1435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666666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Critical Requirements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67" name="Image 16" descr="gen-dedup-2371f3e627d18fb6b3ce1d907bf7d28d.png">
              <a:extLst>
                <a:ext uri="{FF2B5EF4-FFF2-40B4-BE49-F238E27FC236}">
                  <a16:creationId xmlns:a16="http://schemas.microsoft.com/office/drawing/2014/main" id="{8A339899-61F7-47E1-E49F-4BAC8F06F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-2" b="-2"/>
            <a:stretch/>
          </p:blipFill>
          <p:spPr>
            <a:xfrm>
              <a:off x="8102498" y="2514600"/>
              <a:ext cx="3631997" cy="4290365"/>
            </a:xfrm>
            <a:prstGeom prst="rect">
              <a:avLst/>
            </a:prstGeom>
          </p:spPr>
        </p:pic>
        <p:sp>
          <p:nvSpPr>
            <p:cNvPr id="269" name="Shape 72">
              <a:extLst>
                <a:ext uri="{FF2B5EF4-FFF2-40B4-BE49-F238E27FC236}">
                  <a16:creationId xmlns:a16="http://schemas.microsoft.com/office/drawing/2014/main" id="{5A682D5D-E2F2-37A3-9751-2DF354D0B45F}"/>
                </a:ext>
              </a:extLst>
            </p:cNvPr>
            <p:cNvSpPr/>
            <p:nvPr/>
          </p:nvSpPr>
          <p:spPr>
            <a:xfrm>
              <a:off x="8331098" y="2743200"/>
              <a:ext cx="1543507" cy="286207"/>
            </a:xfrm>
            <a:prstGeom prst="roundRect">
              <a:avLst>
                <a:gd name="adj" fmla="val 127796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71" name="Image 17" descr="gen-dedup-3cb17c2f9b646626481d3fe7dd0df13f.png">
              <a:extLst>
                <a:ext uri="{FF2B5EF4-FFF2-40B4-BE49-F238E27FC236}">
                  <a16:creationId xmlns:a16="http://schemas.microsoft.com/office/drawing/2014/main" id="{2E14283A-1ACA-9B8F-25B0-194E1995C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/>
          </p:blipFill>
          <p:spPr>
            <a:xfrm>
              <a:off x="8452417" y="2829154"/>
              <a:ext cx="100263" cy="114300"/>
            </a:xfrm>
            <a:prstGeom prst="rect">
              <a:avLst/>
            </a:prstGeom>
          </p:spPr>
        </p:pic>
        <p:sp>
          <p:nvSpPr>
            <p:cNvPr id="273" name="Text 73">
              <a:extLst>
                <a:ext uri="{FF2B5EF4-FFF2-40B4-BE49-F238E27FC236}">
                  <a16:creationId xmlns:a16="http://schemas.microsoft.com/office/drawing/2014/main" id="{FF5D120A-92E3-3B3B-C9DC-040A3DAC47BF}"/>
                </a:ext>
              </a:extLst>
            </p:cNvPr>
            <p:cNvSpPr txBox="1"/>
            <p:nvPr/>
          </p:nvSpPr>
          <p:spPr>
            <a:xfrm>
              <a:off x="8654796" y="2743200"/>
              <a:ext cx="905256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10-20 TRT reports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Shape 74">
              <a:extLst>
                <a:ext uri="{FF2B5EF4-FFF2-40B4-BE49-F238E27FC236}">
                  <a16:creationId xmlns:a16="http://schemas.microsoft.com/office/drawing/2014/main" id="{97AB6127-0945-08E7-98F4-279CCF5E0BB7}"/>
                </a:ext>
              </a:extLst>
            </p:cNvPr>
            <p:cNvSpPr/>
            <p:nvPr/>
          </p:nvSpPr>
          <p:spPr>
            <a:xfrm>
              <a:off x="9966046" y="2743200"/>
              <a:ext cx="1543507" cy="286207"/>
            </a:xfrm>
            <a:prstGeom prst="roundRect">
              <a:avLst>
                <a:gd name="adj" fmla="val 127796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77" name="Image 18" descr="gen-dedup-366ba69b47e41327f3b04242aa09d203.png">
              <a:extLst>
                <a:ext uri="{FF2B5EF4-FFF2-40B4-BE49-F238E27FC236}">
                  <a16:creationId xmlns:a16="http://schemas.microsoft.com/office/drawing/2014/main" id="{246819DD-302F-E6AD-C01D-D3CF8605F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/>
          </p:blipFill>
          <p:spPr>
            <a:xfrm>
              <a:off x="10080345" y="2829154"/>
              <a:ext cx="114300" cy="114300"/>
            </a:xfrm>
            <a:prstGeom prst="rect">
              <a:avLst/>
            </a:prstGeom>
          </p:spPr>
        </p:pic>
        <p:sp>
          <p:nvSpPr>
            <p:cNvPr id="279" name="Text 75">
              <a:extLst>
                <a:ext uri="{FF2B5EF4-FFF2-40B4-BE49-F238E27FC236}">
                  <a16:creationId xmlns:a16="http://schemas.microsoft.com/office/drawing/2014/main" id="{69809778-06F4-AB2C-3B51-6571E1D53241}"/>
                </a:ext>
              </a:extLst>
            </p:cNvPr>
            <p:cNvSpPr txBox="1"/>
            <p:nvPr/>
          </p:nvSpPr>
          <p:spPr>
            <a:xfrm>
              <a:off x="10289743" y="2743200"/>
              <a:ext cx="924458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SSO/SAML access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Shape 76">
              <a:extLst>
                <a:ext uri="{FF2B5EF4-FFF2-40B4-BE49-F238E27FC236}">
                  <a16:creationId xmlns:a16="http://schemas.microsoft.com/office/drawing/2014/main" id="{9E1754EA-703C-0FB6-6328-6CF029CF5E01}"/>
                </a:ext>
              </a:extLst>
            </p:cNvPr>
            <p:cNvSpPr/>
            <p:nvPr/>
          </p:nvSpPr>
          <p:spPr>
            <a:xfrm>
              <a:off x="8331098" y="3124505"/>
              <a:ext cx="1543507" cy="286207"/>
            </a:xfrm>
            <a:prstGeom prst="roundRect">
              <a:avLst>
                <a:gd name="adj" fmla="val 127796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3" name="Image 19" descr="gen-dedup-ac770186330c82ffa8c0638fee843453.png">
              <a:extLst>
                <a:ext uri="{FF2B5EF4-FFF2-40B4-BE49-F238E27FC236}">
                  <a16:creationId xmlns:a16="http://schemas.microsoft.com/office/drawing/2014/main" id="{BDCD4C91-6D5C-B587-16C8-6A9650F70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/>
          </p:blipFill>
          <p:spPr>
            <a:xfrm>
              <a:off x="8445398" y="3209544"/>
              <a:ext cx="114300" cy="114300"/>
            </a:xfrm>
            <a:prstGeom prst="rect">
              <a:avLst/>
            </a:prstGeom>
          </p:spPr>
        </p:pic>
        <p:sp>
          <p:nvSpPr>
            <p:cNvPr id="285" name="Text 77">
              <a:extLst>
                <a:ext uri="{FF2B5EF4-FFF2-40B4-BE49-F238E27FC236}">
                  <a16:creationId xmlns:a16="http://schemas.microsoft.com/office/drawing/2014/main" id="{2546A609-DE9B-6C88-1F97-F7CB095E0036}"/>
                </a:ext>
              </a:extLst>
            </p:cNvPr>
            <p:cNvSpPr txBox="1"/>
            <p:nvPr/>
          </p:nvSpPr>
          <p:spPr>
            <a:xfrm>
              <a:off x="8654796" y="3124505"/>
              <a:ext cx="876910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Security approval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Shape 78">
              <a:extLst>
                <a:ext uri="{FF2B5EF4-FFF2-40B4-BE49-F238E27FC236}">
                  <a16:creationId xmlns:a16="http://schemas.microsoft.com/office/drawing/2014/main" id="{28815C9E-BCBB-4B4D-6C85-E3F110DFAC0C}"/>
                </a:ext>
              </a:extLst>
            </p:cNvPr>
            <p:cNvSpPr/>
            <p:nvPr/>
          </p:nvSpPr>
          <p:spPr>
            <a:xfrm>
              <a:off x="9966046" y="3124505"/>
              <a:ext cx="1543507" cy="286207"/>
            </a:xfrm>
            <a:prstGeom prst="roundRect">
              <a:avLst>
                <a:gd name="adj" fmla="val 127796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89" name="Image 20" descr="gen-dedup-98e5bcdcae1b948ef9859e1573f86c11.png">
              <a:extLst>
                <a:ext uri="{FF2B5EF4-FFF2-40B4-BE49-F238E27FC236}">
                  <a16:creationId xmlns:a16="http://schemas.microsoft.com/office/drawing/2014/main" id="{921EF9BD-B56A-864C-F82D-EB75BDA3C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/>
          </p:blipFill>
          <p:spPr>
            <a:xfrm>
              <a:off x="10066058" y="3209544"/>
              <a:ext cx="142875" cy="114300"/>
            </a:xfrm>
            <a:prstGeom prst="rect">
              <a:avLst/>
            </a:prstGeom>
          </p:spPr>
        </p:pic>
        <p:sp>
          <p:nvSpPr>
            <p:cNvPr id="291" name="Text 79">
              <a:extLst>
                <a:ext uri="{FF2B5EF4-FFF2-40B4-BE49-F238E27FC236}">
                  <a16:creationId xmlns:a16="http://schemas.microsoft.com/office/drawing/2014/main" id="{2A9FE533-0830-5522-4185-8A8C30969FF4}"/>
                </a:ext>
              </a:extLst>
            </p:cNvPr>
            <p:cNvSpPr txBox="1"/>
            <p:nvPr/>
          </p:nvSpPr>
          <p:spPr>
            <a:xfrm>
              <a:off x="10289743" y="3124505"/>
              <a:ext cx="857707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3-5 analysts UAT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Shape 80">
              <a:extLst>
                <a:ext uri="{FF2B5EF4-FFF2-40B4-BE49-F238E27FC236}">
                  <a16:creationId xmlns:a16="http://schemas.microsoft.com/office/drawing/2014/main" id="{FE9D8DB3-61F1-D7F0-4D4E-E5A5E220205E}"/>
                </a:ext>
              </a:extLst>
            </p:cNvPr>
            <p:cNvSpPr/>
            <p:nvPr/>
          </p:nvSpPr>
          <p:spPr>
            <a:xfrm>
              <a:off x="8331098" y="3504895"/>
              <a:ext cx="1543507" cy="286207"/>
            </a:xfrm>
            <a:prstGeom prst="roundRect">
              <a:avLst>
                <a:gd name="adj" fmla="val 127796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95" name="Image 21" descr="gen-dedup-9d333d13d748ab838eeabf846985328d.png">
              <a:extLst>
                <a:ext uri="{FF2B5EF4-FFF2-40B4-BE49-F238E27FC236}">
                  <a16:creationId xmlns:a16="http://schemas.microsoft.com/office/drawing/2014/main" id="{EF5E69E3-6E5E-F571-5CAC-021940FAD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/>
          </p:blipFill>
          <p:spPr>
            <a:xfrm>
              <a:off x="8459899" y="3590849"/>
              <a:ext cx="85298" cy="114300"/>
            </a:xfrm>
            <a:prstGeom prst="rect">
              <a:avLst/>
            </a:prstGeom>
          </p:spPr>
        </p:pic>
        <p:sp>
          <p:nvSpPr>
            <p:cNvPr id="297" name="Text 81">
              <a:extLst>
                <a:ext uri="{FF2B5EF4-FFF2-40B4-BE49-F238E27FC236}">
                  <a16:creationId xmlns:a16="http://schemas.microsoft.com/office/drawing/2014/main" id="{02CA951C-AA3F-46AA-FF56-42A6700A31DD}"/>
                </a:ext>
              </a:extLst>
            </p:cNvPr>
            <p:cNvSpPr txBox="1"/>
            <p:nvPr/>
          </p:nvSpPr>
          <p:spPr>
            <a:xfrm>
              <a:off x="8654796" y="3504895"/>
              <a:ext cx="914400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Test data package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Shape 82">
              <a:extLst>
                <a:ext uri="{FF2B5EF4-FFF2-40B4-BE49-F238E27FC236}">
                  <a16:creationId xmlns:a16="http://schemas.microsoft.com/office/drawing/2014/main" id="{08A9736D-F4FF-19D7-EE5A-9086EF41FFF3}"/>
                </a:ext>
              </a:extLst>
            </p:cNvPr>
            <p:cNvSpPr/>
            <p:nvPr/>
          </p:nvSpPr>
          <p:spPr>
            <a:xfrm>
              <a:off x="9966046" y="3504895"/>
              <a:ext cx="1543507" cy="286207"/>
            </a:xfrm>
            <a:prstGeom prst="roundRect">
              <a:avLst>
                <a:gd name="adj" fmla="val 127796"/>
              </a:avLst>
            </a:prstGeom>
            <a:solidFill>
              <a:srgbClr val="F8F9FA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01" name="Image 22" descr="gen-dedup-a1073cedf440d805768be75e61ca04c6.png">
              <a:extLst>
                <a:ext uri="{FF2B5EF4-FFF2-40B4-BE49-F238E27FC236}">
                  <a16:creationId xmlns:a16="http://schemas.microsoft.com/office/drawing/2014/main" id="{0C6B3B7C-0107-03FA-5F08-841DE3932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/>
          </p:blipFill>
          <p:spPr>
            <a:xfrm>
              <a:off x="10080345" y="3590849"/>
              <a:ext cx="114300" cy="114300"/>
            </a:xfrm>
            <a:prstGeom prst="rect">
              <a:avLst/>
            </a:prstGeom>
          </p:spPr>
        </p:pic>
        <p:sp>
          <p:nvSpPr>
            <p:cNvPr id="303" name="Text 83">
              <a:extLst>
                <a:ext uri="{FF2B5EF4-FFF2-40B4-BE49-F238E27FC236}">
                  <a16:creationId xmlns:a16="http://schemas.microsoft.com/office/drawing/2014/main" id="{41A0FFB8-C844-0D3A-38A0-9193C9099ED0}"/>
                </a:ext>
              </a:extLst>
            </p:cNvPr>
            <p:cNvSpPr txBox="1"/>
            <p:nvPr/>
          </p:nvSpPr>
          <p:spPr>
            <a:xfrm>
              <a:off x="10289743" y="3504895"/>
              <a:ext cx="790956" cy="286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333333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2-day feedback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Shape 84">
              <a:extLst>
                <a:ext uri="{FF2B5EF4-FFF2-40B4-BE49-F238E27FC236}">
                  <a16:creationId xmlns:a16="http://schemas.microsoft.com/office/drawing/2014/main" id="{CD4CCD7C-F004-2027-E3D9-590B23F5934D}"/>
                </a:ext>
              </a:extLst>
            </p:cNvPr>
            <p:cNvSpPr/>
            <p:nvPr/>
          </p:nvSpPr>
          <p:spPr>
            <a:xfrm>
              <a:off x="8331098" y="5757062"/>
              <a:ext cx="3181198" cy="819302"/>
            </a:xfrm>
            <a:prstGeom prst="roundRect">
              <a:avLst>
                <a:gd name="adj" fmla="val 20764"/>
              </a:avLst>
            </a:prstGeom>
            <a:solidFill>
              <a:srgbClr val="FFF3E0"/>
            </a:solidFill>
            <a:ln/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Shape 85">
              <a:extLst>
                <a:ext uri="{FF2B5EF4-FFF2-40B4-BE49-F238E27FC236}">
                  <a16:creationId xmlns:a16="http://schemas.microsoft.com/office/drawing/2014/main" id="{C4C8F1AA-C9BF-8F9E-B387-5E2E1A421550}"/>
                </a:ext>
              </a:extLst>
            </p:cNvPr>
            <p:cNvSpPr/>
            <p:nvPr/>
          </p:nvSpPr>
          <p:spPr>
            <a:xfrm>
              <a:off x="8331098" y="5757062"/>
              <a:ext cx="38405" cy="819302"/>
            </a:xfrm>
            <a:prstGeom prst="roundRect">
              <a:avLst>
                <a:gd name="adj" fmla="val 442966"/>
              </a:avLst>
            </a:prstGeom>
            <a:solidFill>
              <a:srgbClr val="FF9800"/>
            </a:solidFill>
            <a:ln w="12700">
              <a:solidFill>
                <a:srgbClr val="FF98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09" name="Image 23" descr="gen-dedup-65397911070aff31ce55aa81a5d1f5f4.png">
              <a:extLst>
                <a:ext uri="{FF2B5EF4-FFF2-40B4-BE49-F238E27FC236}">
                  <a16:creationId xmlns:a16="http://schemas.microsoft.com/office/drawing/2014/main" id="{76998D19-C11C-6E7E-F7F4-336174D4E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/>
          </p:blipFill>
          <p:spPr>
            <a:xfrm>
              <a:off x="8503006" y="5919368"/>
              <a:ext cx="95098" cy="95098"/>
            </a:xfrm>
            <a:prstGeom prst="rect">
              <a:avLst/>
            </a:prstGeom>
          </p:spPr>
        </p:pic>
        <p:sp>
          <p:nvSpPr>
            <p:cNvPr id="311" name="Text 86">
              <a:extLst>
                <a:ext uri="{FF2B5EF4-FFF2-40B4-BE49-F238E27FC236}">
                  <a16:creationId xmlns:a16="http://schemas.microsoft.com/office/drawing/2014/main" id="{44B05381-B413-48D1-E125-D64F0C102991}"/>
                </a:ext>
              </a:extLst>
            </p:cNvPr>
            <p:cNvSpPr txBox="1"/>
            <p:nvPr/>
          </p:nvSpPr>
          <p:spPr>
            <a:xfrm>
              <a:off x="8673998" y="5890565"/>
              <a:ext cx="779983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>
                  <a:solidFill>
                    <a:srgbClr val="E65100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Key Risks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13" name="Image 24" descr="gen-dedup-b5124a1b601f215fa2f0095d43caf49e.png">
              <a:extLst>
                <a:ext uri="{FF2B5EF4-FFF2-40B4-BE49-F238E27FC236}">
                  <a16:creationId xmlns:a16="http://schemas.microsoft.com/office/drawing/2014/main" id="{11E8B372-6134-07EB-C948-F56272CD9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/>
          </p:blipFill>
          <p:spPr>
            <a:xfrm>
              <a:off x="8503006" y="6142347"/>
              <a:ext cx="75895" cy="87138"/>
            </a:xfrm>
            <a:prstGeom prst="rect">
              <a:avLst/>
            </a:prstGeom>
          </p:spPr>
        </p:pic>
        <p:sp>
          <p:nvSpPr>
            <p:cNvPr id="315" name="Text 87">
              <a:extLst>
                <a:ext uri="{FF2B5EF4-FFF2-40B4-BE49-F238E27FC236}">
                  <a16:creationId xmlns:a16="http://schemas.microsoft.com/office/drawing/2014/main" id="{C3B5E28D-C987-B242-C7CF-AEDBA6752217}"/>
                </a:ext>
              </a:extLst>
            </p:cNvPr>
            <p:cNvSpPr txBox="1"/>
            <p:nvPr/>
          </p:nvSpPr>
          <p:spPr>
            <a:xfrm>
              <a:off x="8759952" y="6119165"/>
              <a:ext cx="1416406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444444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Approval bottlenecks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17" name="Image 25" descr="gen-dedup-b5124a1b601f215fa2f0095d43caf49e.png">
              <a:extLst>
                <a:ext uri="{FF2B5EF4-FFF2-40B4-BE49-F238E27FC236}">
                  <a16:creationId xmlns:a16="http://schemas.microsoft.com/office/drawing/2014/main" id="{E10DD9EC-D1B2-D290-3BB2-F432BDBB6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/>
          </p:blipFill>
          <p:spPr>
            <a:xfrm>
              <a:off x="8503006" y="6332542"/>
              <a:ext cx="75895" cy="87138"/>
            </a:xfrm>
            <a:prstGeom prst="rect">
              <a:avLst/>
            </a:prstGeom>
          </p:spPr>
        </p:pic>
        <p:sp>
          <p:nvSpPr>
            <p:cNvPr id="319" name="Text 88">
              <a:extLst>
                <a:ext uri="{FF2B5EF4-FFF2-40B4-BE49-F238E27FC236}">
                  <a16:creationId xmlns:a16="http://schemas.microsoft.com/office/drawing/2014/main" id="{6F23087E-6ADD-46A1-734E-F2E1B241FFBC}"/>
                </a:ext>
              </a:extLst>
            </p:cNvPr>
            <p:cNvSpPr txBox="1"/>
            <p:nvPr/>
          </p:nvSpPr>
          <p:spPr>
            <a:xfrm>
              <a:off x="8759952" y="6309360"/>
              <a:ext cx="991210" cy="1335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800">
                  <a:solidFill>
                    <a:srgbClr val="444444"/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Data readiness</a:t>
              </a:r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Text 89">
              <a:extLst>
                <a:ext uri="{FF2B5EF4-FFF2-40B4-BE49-F238E27FC236}">
                  <a16:creationId xmlns:a16="http://schemas.microsoft.com/office/drawing/2014/main" id="{464E97E5-E836-CAB5-4C1B-D498C54F62EB}"/>
                </a:ext>
              </a:extLst>
            </p:cNvPr>
            <p:cNvSpPr txBox="1"/>
            <p:nvPr/>
          </p:nvSpPr>
          <p:spPr>
            <a:xfrm>
              <a:off x="629107" y="6362395"/>
              <a:ext cx="1847088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FFFFFF">
                      <a:alpha val="80000"/>
                    </a:srgbClr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Prepared by: Apexon Team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Text 90">
              <a:extLst>
                <a:ext uri="{FF2B5EF4-FFF2-40B4-BE49-F238E27FC236}">
                  <a16:creationId xmlns:a16="http://schemas.microsoft.com/office/drawing/2014/main" id="{F1DB8190-5EF2-6C7A-D22F-59DCEC09B747}"/>
                </a:ext>
              </a:extLst>
            </p:cNvPr>
            <p:cNvSpPr txBox="1"/>
            <p:nvPr/>
          </p:nvSpPr>
          <p:spPr>
            <a:xfrm>
              <a:off x="2611526" y="6362395"/>
              <a:ext cx="1849831" cy="15270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>
                  <a:solidFill>
                    <a:srgbClr val="FFFFFF">
                      <a:alpha val="80000"/>
                    </a:srgbClr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Contact: team@apexon.com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Text 91">
              <a:extLst>
                <a:ext uri="{FF2B5EF4-FFF2-40B4-BE49-F238E27FC236}">
                  <a16:creationId xmlns:a16="http://schemas.microsoft.com/office/drawing/2014/main" id="{550DAA60-2CB8-65EA-404A-DD212C1E7326}"/>
                </a:ext>
              </a:extLst>
            </p:cNvPr>
            <p:cNvSpPr txBox="1"/>
            <p:nvPr/>
          </p:nvSpPr>
          <p:spPr>
            <a:xfrm>
              <a:off x="11059668" y="6367882"/>
              <a:ext cx="904342" cy="14356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kern="0" spc="38">
                  <a:solidFill>
                    <a:srgbClr val="FFFFFF">
                      <a:alpha val="60000"/>
                    </a:srgbClr>
                  </a:solidFill>
                  <a:latin typeface="Arial" panose="020B0604020202020204" pitchFamily="34" charset="0"/>
                  <a:ea typeface="Inter" pitchFamily="34" charset="-122"/>
                  <a:cs typeface="Arial" panose="020B0604020202020204" pitchFamily="34" charset="0"/>
                </a:rPr>
                <a:t>Page 9 of 9</a:t>
              </a:r>
              <a:endParaRPr lang="en-US" sz="9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F2B0C-CBED-28B2-4546-A8A824D9A0F2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l"/>
              <a:t>20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CC520-DB85-CC9E-72E9-6D2930698CA7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AF9B41-72E4-17BF-8D6D-0CB88BE2C7DE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38FBC5-C84B-DAE6-4BAC-79CC1ADCB493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F6B21BA1-A087-B5A1-4109-386E267393C6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28164257-D4F2-83A8-17E1-36A852D269BF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6BB9EC43-83CA-23AC-A622-59A9A8CB3722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38055696-641D-9D12-727A-BDC1C38181D7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F526707E-563A-3FEE-E020-B5B5B5BE63E7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FEA5CDE6-BE7D-F085-EA51-DE04EAB250DF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: Shape 11">
              <a:extLst>
                <a:ext uri="{FF2B5EF4-FFF2-40B4-BE49-F238E27FC236}">
                  <a16:creationId xmlns:a16="http://schemas.microsoft.com/office/drawing/2014/main" id="{D9A2A127-A1DC-FC14-4EE5-FB50D68F7934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05C0D7B0-01A3-8E93-3E9E-A97256A2430D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4039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EEE8C-B653-848C-4011-298123D71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2ABD6B-C6C7-44A9-4840-73B9F7A5110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AC4ABCD-061F-7C3F-C69A-B8AEEE384A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C29576B-AE6F-DC00-2F73-182A1B0C9205}"/>
              </a:ext>
            </a:extLst>
          </p:cNvPr>
          <p:cNvSpPr txBox="1"/>
          <p:nvPr/>
        </p:nvSpPr>
        <p:spPr>
          <a:xfrm>
            <a:off x="436992" y="242966"/>
            <a:ext cx="7989458" cy="437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err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Apexon</a:t>
            </a:r>
            <a:r>
              <a:rPr lang="en-US" sz="21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vs others: Why </a:t>
            </a:r>
            <a:r>
              <a:rPr lang="en-US" sz="2100" b="1" err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Apexon</a:t>
            </a:r>
            <a:r>
              <a:rPr lang="en-US" sz="21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for TRT PoC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36F1F73-6547-DC0C-9692-DA6D4B0A4184}"/>
              </a:ext>
            </a:extLst>
          </p:cNvPr>
          <p:cNvSpPr txBox="1"/>
          <p:nvPr/>
        </p:nvSpPr>
        <p:spPr>
          <a:xfrm>
            <a:off x="436992" y="679602"/>
            <a:ext cx="4914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FFFFFF">
                    <a:alpha val="80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Timeline breakdown, team composition, and milestone deliverables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Shape 86">
            <a:extLst>
              <a:ext uri="{FF2B5EF4-FFF2-40B4-BE49-F238E27FC236}">
                <a16:creationId xmlns:a16="http://schemas.microsoft.com/office/drawing/2014/main" id="{0C68CCAA-F283-A102-4C50-E83FFEE01BF4}"/>
              </a:ext>
            </a:extLst>
          </p:cNvPr>
          <p:cNvSpPr/>
          <p:nvPr/>
        </p:nvSpPr>
        <p:spPr>
          <a:xfrm>
            <a:off x="118015" y="5560654"/>
            <a:ext cx="11594795" cy="801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BFF3736B-EFF1-13B4-4758-701E46EF7187}"/>
              </a:ext>
            </a:extLst>
          </p:cNvPr>
          <p:cNvSpPr/>
          <p:nvPr/>
        </p:nvSpPr>
        <p:spPr>
          <a:xfrm>
            <a:off x="479190" y="1258630"/>
            <a:ext cx="3638398" cy="609905"/>
          </a:xfrm>
          <a:prstGeom prst="roundRect">
            <a:avLst>
              <a:gd name="adj" fmla="val 5622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4" name="Image 2" descr="gen-dedup-ba4660c3ff8d32c336d7bdfeb12316fa.png">
            <a:extLst>
              <a:ext uri="{FF2B5EF4-FFF2-40B4-BE49-F238E27FC236}">
                <a16:creationId xmlns:a16="http://schemas.microsoft.com/office/drawing/2014/main" id="{F6450666-8F39-8537-62CE-0AB969D58C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69385" y="1372930"/>
            <a:ext cx="381305" cy="381305"/>
          </a:xfrm>
          <a:prstGeom prst="rect">
            <a:avLst/>
          </a:prstGeom>
        </p:spPr>
      </p:pic>
      <p:pic>
        <p:nvPicPr>
          <p:cNvPr id="94" name="Image 3" descr="gen-dedup-a0fabc5660ad487b7062cbf12754eb01.png">
            <a:extLst>
              <a:ext uri="{FF2B5EF4-FFF2-40B4-BE49-F238E27FC236}">
                <a16:creationId xmlns:a16="http://schemas.microsoft.com/office/drawing/2014/main" id="{87AB2171-8D67-7A97-228E-0F8A2F9263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4541" y="1478086"/>
            <a:ext cx="171907" cy="171907"/>
          </a:xfrm>
          <a:prstGeom prst="rect">
            <a:avLst/>
          </a:prstGeom>
        </p:spPr>
      </p:pic>
      <p:sp>
        <p:nvSpPr>
          <p:cNvPr id="104" name="Text 6">
            <a:extLst>
              <a:ext uri="{FF2B5EF4-FFF2-40B4-BE49-F238E27FC236}">
                <a16:creationId xmlns:a16="http://schemas.microsoft.com/office/drawing/2014/main" id="{14567C3A-8529-DC84-AE38-85F120E3D0A1}"/>
              </a:ext>
            </a:extLst>
          </p:cNvPr>
          <p:cNvSpPr txBox="1"/>
          <p:nvPr/>
        </p:nvSpPr>
        <p:spPr>
          <a:xfrm>
            <a:off x="1164990" y="1387560"/>
            <a:ext cx="12957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APEXON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Text 7">
            <a:extLst>
              <a:ext uri="{FF2B5EF4-FFF2-40B4-BE49-F238E27FC236}">
                <a16:creationId xmlns:a16="http://schemas.microsoft.com/office/drawing/2014/main" id="{5910FF04-9881-CA13-045E-87ED941539D1}"/>
              </a:ext>
            </a:extLst>
          </p:cNvPr>
          <p:cNvSpPr txBox="1"/>
          <p:nvPr/>
        </p:nvSpPr>
        <p:spPr>
          <a:xfrm>
            <a:off x="1164990" y="1596958"/>
            <a:ext cx="1541678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Problem-First Approach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0" name="Image 4" descr="gen-dedup-fcdbe51080e8b920f02ed550a5cef605.png">
            <a:extLst>
              <a:ext uri="{FF2B5EF4-FFF2-40B4-BE49-F238E27FC236}">
                <a16:creationId xmlns:a16="http://schemas.microsoft.com/office/drawing/2014/main" id="{4D17350A-5ADF-F98F-5340-950449A62A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479190" y="1982835"/>
            <a:ext cx="3631997" cy="3847795"/>
          </a:xfrm>
          <a:prstGeom prst="rect">
            <a:avLst/>
          </a:prstGeom>
        </p:spPr>
      </p:pic>
      <p:sp>
        <p:nvSpPr>
          <p:cNvPr id="112" name="Shape 8">
            <a:extLst>
              <a:ext uri="{FF2B5EF4-FFF2-40B4-BE49-F238E27FC236}">
                <a16:creationId xmlns:a16="http://schemas.microsoft.com/office/drawing/2014/main" id="{23F792E4-6776-C4A2-B32C-28DF3026A1D1}"/>
              </a:ext>
            </a:extLst>
          </p:cNvPr>
          <p:cNvSpPr/>
          <p:nvPr/>
        </p:nvSpPr>
        <p:spPr>
          <a:xfrm>
            <a:off x="631895" y="2134625"/>
            <a:ext cx="3333902" cy="580644"/>
          </a:xfrm>
          <a:prstGeom prst="roundRect">
            <a:avLst>
              <a:gd name="adj" fmla="val 41306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Shape 9">
            <a:extLst>
              <a:ext uri="{FF2B5EF4-FFF2-40B4-BE49-F238E27FC236}">
                <a16:creationId xmlns:a16="http://schemas.microsoft.com/office/drawing/2014/main" id="{E744B62E-33B0-4714-E322-2B6EB1255958}"/>
              </a:ext>
            </a:extLst>
          </p:cNvPr>
          <p:cNvSpPr/>
          <p:nvPr/>
        </p:nvSpPr>
        <p:spPr>
          <a:xfrm>
            <a:off x="631895" y="2134625"/>
            <a:ext cx="38405" cy="580644"/>
          </a:xfrm>
          <a:prstGeom prst="roundRect">
            <a:avLst>
              <a:gd name="adj" fmla="val 624509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6" name="Image 5" descr="gen-dedup-9ddbf842f6fa4a84126a2916e950928d.png">
            <a:extLst>
              <a:ext uri="{FF2B5EF4-FFF2-40B4-BE49-F238E27FC236}">
                <a16:creationId xmlns:a16="http://schemas.microsoft.com/office/drawing/2014/main" id="{644C6C6A-2D92-CBAC-8571-46E090D4222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5397" y="2230637"/>
            <a:ext cx="209398" cy="209398"/>
          </a:xfrm>
          <a:prstGeom prst="rect">
            <a:avLst/>
          </a:prstGeom>
        </p:spPr>
      </p:pic>
      <p:pic>
        <p:nvPicPr>
          <p:cNvPr id="119" name="Image 6" descr="gen-dedup-81ae33fafabdf06dff262f2f49fd1f9f.png">
            <a:extLst>
              <a:ext uri="{FF2B5EF4-FFF2-40B4-BE49-F238E27FC236}">
                <a16:creationId xmlns:a16="http://schemas.microsoft.com/office/drawing/2014/main" id="{571E7AFC-3DBE-AB06-F5F1-85E6350018E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783" r="-783"/>
          <a:stretch/>
        </p:blipFill>
        <p:spPr>
          <a:xfrm>
            <a:off x="802888" y="2282758"/>
            <a:ext cx="133502" cy="105156"/>
          </a:xfrm>
          <a:prstGeom prst="rect">
            <a:avLst/>
          </a:prstGeom>
        </p:spPr>
      </p:pic>
      <p:sp>
        <p:nvSpPr>
          <p:cNvPr id="121" name="Text 10">
            <a:extLst>
              <a:ext uri="{FF2B5EF4-FFF2-40B4-BE49-F238E27FC236}">
                <a16:creationId xmlns:a16="http://schemas.microsoft.com/office/drawing/2014/main" id="{397D3EBF-5B3B-4D66-B463-AF209E933966}"/>
              </a:ext>
            </a:extLst>
          </p:cNvPr>
          <p:cNvSpPr txBox="1"/>
          <p:nvPr/>
        </p:nvSpPr>
        <p:spPr>
          <a:xfrm>
            <a:off x="1069892" y="2211435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Deep Customization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62BD6FD7-3858-55A7-535E-CF4EACE0ADC0}"/>
              </a:ext>
            </a:extLst>
          </p:cNvPr>
          <p:cNvSpPr txBox="1"/>
          <p:nvPr/>
        </p:nvSpPr>
        <p:spPr>
          <a:xfrm>
            <a:off x="1069892" y="2359567"/>
            <a:ext cx="2800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Tailored to Mastercard's TRT workflow, not generic platform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Shape 12">
            <a:extLst>
              <a:ext uri="{FF2B5EF4-FFF2-40B4-BE49-F238E27FC236}">
                <a16:creationId xmlns:a16="http://schemas.microsoft.com/office/drawing/2014/main" id="{3F02BB3F-8A6D-495C-103E-472894165B7F}"/>
              </a:ext>
            </a:extLst>
          </p:cNvPr>
          <p:cNvSpPr/>
          <p:nvPr/>
        </p:nvSpPr>
        <p:spPr>
          <a:xfrm>
            <a:off x="631895" y="2784763"/>
            <a:ext cx="3333902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Shape 13">
            <a:extLst>
              <a:ext uri="{FF2B5EF4-FFF2-40B4-BE49-F238E27FC236}">
                <a16:creationId xmlns:a16="http://schemas.microsoft.com/office/drawing/2014/main" id="{F3028851-A89B-501E-AE0A-EC203CFAABAA}"/>
              </a:ext>
            </a:extLst>
          </p:cNvPr>
          <p:cNvSpPr/>
          <p:nvPr/>
        </p:nvSpPr>
        <p:spPr>
          <a:xfrm>
            <a:off x="631895" y="2784763"/>
            <a:ext cx="38405" cy="437998"/>
          </a:xfrm>
          <a:prstGeom prst="roundRect">
            <a:avLst>
              <a:gd name="adj" fmla="val 828153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" name="Image 7" descr="gen-dedup-9ddbf842f6fa4a84126a2916e950928d.png">
            <a:extLst>
              <a:ext uri="{FF2B5EF4-FFF2-40B4-BE49-F238E27FC236}">
                <a16:creationId xmlns:a16="http://schemas.microsoft.com/office/drawing/2014/main" id="{95E56F14-AE9D-1963-2FB5-AEE7F201C25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5397" y="2879861"/>
            <a:ext cx="209398" cy="209398"/>
          </a:xfrm>
          <a:prstGeom prst="rect">
            <a:avLst/>
          </a:prstGeom>
        </p:spPr>
      </p:pic>
      <p:pic>
        <p:nvPicPr>
          <p:cNvPr id="135" name="Image 8" descr="gen-dedup-0c7e600c1fc428d64bbf3c5d58c87e23.png">
            <a:extLst>
              <a:ext uri="{FF2B5EF4-FFF2-40B4-BE49-F238E27FC236}">
                <a16:creationId xmlns:a16="http://schemas.microsoft.com/office/drawing/2014/main" id="{E5FE0845-D2D1-2827-E365-C42A7BE3D01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83" r="-783"/>
          <a:stretch/>
        </p:blipFill>
        <p:spPr>
          <a:xfrm>
            <a:off x="802888" y="2931982"/>
            <a:ext cx="133502" cy="105156"/>
          </a:xfrm>
          <a:prstGeom prst="rect">
            <a:avLst/>
          </a:prstGeom>
        </p:spPr>
      </p:pic>
      <p:sp>
        <p:nvSpPr>
          <p:cNvPr id="137" name="Text 14">
            <a:extLst>
              <a:ext uri="{FF2B5EF4-FFF2-40B4-BE49-F238E27FC236}">
                <a16:creationId xmlns:a16="http://schemas.microsoft.com/office/drawing/2014/main" id="{17F6F7A8-6DE2-00F6-5F41-A1593B065020}"/>
              </a:ext>
            </a:extLst>
          </p:cNvPr>
          <p:cNvSpPr txBox="1"/>
          <p:nvPr/>
        </p:nvSpPr>
        <p:spPr>
          <a:xfrm>
            <a:off x="1069892" y="2860659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Technology Neutral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 15">
            <a:extLst>
              <a:ext uri="{FF2B5EF4-FFF2-40B4-BE49-F238E27FC236}">
                <a16:creationId xmlns:a16="http://schemas.microsoft.com/office/drawing/2014/main" id="{BF05B1E6-3361-DF4F-E688-E0C9E3B9EEA4}"/>
              </a:ext>
            </a:extLst>
          </p:cNvPr>
          <p:cNvSpPr txBox="1"/>
          <p:nvPr/>
        </p:nvSpPr>
        <p:spPr>
          <a:xfrm>
            <a:off x="1069892" y="3008791"/>
            <a:ext cx="28008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Azure, Azure, GCP, PCF - not locked to one cloud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Shape 16">
            <a:extLst>
              <a:ext uri="{FF2B5EF4-FFF2-40B4-BE49-F238E27FC236}">
                <a16:creationId xmlns:a16="http://schemas.microsoft.com/office/drawing/2014/main" id="{BC48B410-606C-C269-0C05-EA9320DAF58F}"/>
              </a:ext>
            </a:extLst>
          </p:cNvPr>
          <p:cNvSpPr/>
          <p:nvPr/>
        </p:nvSpPr>
        <p:spPr>
          <a:xfrm>
            <a:off x="631895" y="3297742"/>
            <a:ext cx="3333902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" name="Shape 17">
            <a:extLst>
              <a:ext uri="{FF2B5EF4-FFF2-40B4-BE49-F238E27FC236}">
                <a16:creationId xmlns:a16="http://schemas.microsoft.com/office/drawing/2014/main" id="{4987E2F5-7CBA-EABB-E1AD-250B32E13839}"/>
              </a:ext>
            </a:extLst>
          </p:cNvPr>
          <p:cNvSpPr/>
          <p:nvPr/>
        </p:nvSpPr>
        <p:spPr>
          <a:xfrm>
            <a:off x="631895" y="3297742"/>
            <a:ext cx="38405" cy="437998"/>
          </a:xfrm>
          <a:prstGeom prst="roundRect">
            <a:avLst>
              <a:gd name="adj" fmla="val 828153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5" name="Image 9" descr="gen-dedup-9ddbf842f6fa4a84126a2916e950928d.png">
            <a:extLst>
              <a:ext uri="{FF2B5EF4-FFF2-40B4-BE49-F238E27FC236}">
                <a16:creationId xmlns:a16="http://schemas.microsoft.com/office/drawing/2014/main" id="{BEABFB15-03D7-8071-E322-F0BC766BCE6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5397" y="3392839"/>
            <a:ext cx="209398" cy="209398"/>
          </a:xfrm>
          <a:prstGeom prst="rect">
            <a:avLst/>
          </a:prstGeom>
        </p:spPr>
      </p:pic>
      <p:pic>
        <p:nvPicPr>
          <p:cNvPr id="147" name="Image 10" descr="gen-dedup-140c902cfab52170bb8b26da2e364f20.png">
            <a:extLst>
              <a:ext uri="{FF2B5EF4-FFF2-40B4-BE49-F238E27FC236}">
                <a16:creationId xmlns:a16="http://schemas.microsoft.com/office/drawing/2014/main" id="{01E723DA-E06C-428F-2FBA-AD85F75B020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17518" y="3445875"/>
            <a:ext cx="105156" cy="105156"/>
          </a:xfrm>
          <a:prstGeom prst="rect">
            <a:avLst/>
          </a:prstGeom>
        </p:spPr>
      </p:pic>
      <p:sp>
        <p:nvSpPr>
          <p:cNvPr id="149" name="Text 18">
            <a:extLst>
              <a:ext uri="{FF2B5EF4-FFF2-40B4-BE49-F238E27FC236}">
                <a16:creationId xmlns:a16="http://schemas.microsoft.com/office/drawing/2014/main" id="{62F935A4-8475-90BF-D724-8FEC3C39E519}"/>
              </a:ext>
            </a:extLst>
          </p:cNvPr>
          <p:cNvSpPr txBox="1"/>
          <p:nvPr/>
        </p:nvSpPr>
        <p:spPr>
          <a:xfrm>
            <a:off x="1069892" y="3373637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Faster Time-to-Value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 19">
            <a:extLst>
              <a:ext uri="{FF2B5EF4-FFF2-40B4-BE49-F238E27FC236}">
                <a16:creationId xmlns:a16="http://schemas.microsoft.com/office/drawing/2014/main" id="{3DBAE16A-3316-F81E-5A27-B07E55CE66CD}"/>
              </a:ext>
            </a:extLst>
          </p:cNvPr>
          <p:cNvSpPr txBox="1"/>
          <p:nvPr/>
        </p:nvSpPr>
        <p:spPr>
          <a:xfrm>
            <a:off x="1069892" y="3522684"/>
            <a:ext cx="28008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8-10 weeks vs 6-8 months onboarding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Shape 20">
            <a:extLst>
              <a:ext uri="{FF2B5EF4-FFF2-40B4-BE49-F238E27FC236}">
                <a16:creationId xmlns:a16="http://schemas.microsoft.com/office/drawing/2014/main" id="{C0EB66B9-87FB-83FB-4012-B7B838E6CEEC}"/>
              </a:ext>
            </a:extLst>
          </p:cNvPr>
          <p:cNvSpPr/>
          <p:nvPr/>
        </p:nvSpPr>
        <p:spPr>
          <a:xfrm>
            <a:off x="631895" y="3810720"/>
            <a:ext cx="3333902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Shape 21">
            <a:extLst>
              <a:ext uri="{FF2B5EF4-FFF2-40B4-BE49-F238E27FC236}">
                <a16:creationId xmlns:a16="http://schemas.microsoft.com/office/drawing/2014/main" id="{8BE4E350-FAA0-ACC5-F3D2-3EF1D294ABE2}"/>
              </a:ext>
            </a:extLst>
          </p:cNvPr>
          <p:cNvSpPr/>
          <p:nvPr/>
        </p:nvSpPr>
        <p:spPr>
          <a:xfrm>
            <a:off x="631895" y="3810720"/>
            <a:ext cx="38405" cy="437998"/>
          </a:xfrm>
          <a:prstGeom prst="roundRect">
            <a:avLst>
              <a:gd name="adj" fmla="val 828153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7" name="Image 11" descr="gen-dedup-9ddbf842f6fa4a84126a2916e950928d.png">
            <a:extLst>
              <a:ext uri="{FF2B5EF4-FFF2-40B4-BE49-F238E27FC236}">
                <a16:creationId xmlns:a16="http://schemas.microsoft.com/office/drawing/2014/main" id="{EAF19519-9FCC-4023-21EB-62284AD83EE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5397" y="3906732"/>
            <a:ext cx="209398" cy="209398"/>
          </a:xfrm>
          <a:prstGeom prst="rect">
            <a:avLst/>
          </a:prstGeom>
        </p:spPr>
      </p:pic>
      <p:pic>
        <p:nvPicPr>
          <p:cNvPr id="159" name="Image 12" descr="gen-dedup-10551afaf013a34aaa13298049ac724b.png">
            <a:extLst>
              <a:ext uri="{FF2B5EF4-FFF2-40B4-BE49-F238E27FC236}">
                <a16:creationId xmlns:a16="http://schemas.microsoft.com/office/drawing/2014/main" id="{5EDC8185-AD0D-A5B4-810C-4F3EF5FC2D6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17518" y="3958853"/>
            <a:ext cx="105156" cy="105156"/>
          </a:xfrm>
          <a:prstGeom prst="rect">
            <a:avLst/>
          </a:prstGeom>
        </p:spPr>
      </p:pic>
      <p:sp>
        <p:nvSpPr>
          <p:cNvPr id="161" name="Text 22">
            <a:extLst>
              <a:ext uri="{FF2B5EF4-FFF2-40B4-BE49-F238E27FC236}">
                <a16:creationId xmlns:a16="http://schemas.microsoft.com/office/drawing/2014/main" id="{2A8AD20A-EBBD-DE2B-9B54-81B2B12A2340}"/>
              </a:ext>
            </a:extLst>
          </p:cNvPr>
          <p:cNvSpPr txBox="1"/>
          <p:nvPr/>
        </p:nvSpPr>
        <p:spPr>
          <a:xfrm>
            <a:off x="1069892" y="3887530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Explainable AI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Text 23">
            <a:extLst>
              <a:ext uri="{FF2B5EF4-FFF2-40B4-BE49-F238E27FC236}">
                <a16:creationId xmlns:a16="http://schemas.microsoft.com/office/drawing/2014/main" id="{87593DA3-80C3-1315-3042-35119ED2F1A7}"/>
              </a:ext>
            </a:extLst>
          </p:cNvPr>
          <p:cNvSpPr txBox="1"/>
          <p:nvPr/>
        </p:nvSpPr>
        <p:spPr>
          <a:xfrm>
            <a:off x="1069892" y="4035663"/>
            <a:ext cx="3003804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Clear rationale, evidence trails, auditability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Shape 24">
            <a:extLst>
              <a:ext uri="{FF2B5EF4-FFF2-40B4-BE49-F238E27FC236}">
                <a16:creationId xmlns:a16="http://schemas.microsoft.com/office/drawing/2014/main" id="{B001EB6A-4025-19B2-7968-C7983ACF6B47}"/>
              </a:ext>
            </a:extLst>
          </p:cNvPr>
          <p:cNvSpPr/>
          <p:nvPr/>
        </p:nvSpPr>
        <p:spPr>
          <a:xfrm>
            <a:off x="631895" y="4324613"/>
            <a:ext cx="3333902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Shape 25">
            <a:extLst>
              <a:ext uri="{FF2B5EF4-FFF2-40B4-BE49-F238E27FC236}">
                <a16:creationId xmlns:a16="http://schemas.microsoft.com/office/drawing/2014/main" id="{B1A06593-5701-842F-1F50-841A093533F9}"/>
              </a:ext>
            </a:extLst>
          </p:cNvPr>
          <p:cNvSpPr/>
          <p:nvPr/>
        </p:nvSpPr>
        <p:spPr>
          <a:xfrm>
            <a:off x="631895" y="4324613"/>
            <a:ext cx="38405" cy="437998"/>
          </a:xfrm>
          <a:prstGeom prst="roundRect">
            <a:avLst>
              <a:gd name="adj" fmla="val 828153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9" name="Image 13" descr="gen-dedup-9ddbf842f6fa4a84126a2916e950928d.png">
            <a:extLst>
              <a:ext uri="{FF2B5EF4-FFF2-40B4-BE49-F238E27FC236}">
                <a16:creationId xmlns:a16="http://schemas.microsoft.com/office/drawing/2014/main" id="{01F3105B-C0CE-B0E9-439E-5743F07850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5397" y="4419711"/>
            <a:ext cx="209398" cy="209398"/>
          </a:xfrm>
          <a:prstGeom prst="rect">
            <a:avLst/>
          </a:prstGeom>
        </p:spPr>
      </p:pic>
      <p:pic>
        <p:nvPicPr>
          <p:cNvPr id="171" name="Image 14" descr="gen-dedup-f8785cc81e806e25768ebe99989a024e.png">
            <a:extLst>
              <a:ext uri="{FF2B5EF4-FFF2-40B4-BE49-F238E27FC236}">
                <a16:creationId xmlns:a16="http://schemas.microsoft.com/office/drawing/2014/main" id="{5ED11D2B-B228-BC74-234C-18D22B0B93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812946" y="4473121"/>
            <a:ext cx="114300" cy="102576"/>
          </a:xfrm>
          <a:prstGeom prst="rect">
            <a:avLst/>
          </a:prstGeom>
        </p:spPr>
      </p:pic>
      <p:sp>
        <p:nvSpPr>
          <p:cNvPr id="173" name="Text 26">
            <a:extLst>
              <a:ext uri="{FF2B5EF4-FFF2-40B4-BE49-F238E27FC236}">
                <a16:creationId xmlns:a16="http://schemas.microsoft.com/office/drawing/2014/main" id="{DE992534-E6AE-2B6D-CAA2-81A65A320E3A}"/>
              </a:ext>
            </a:extLst>
          </p:cNvPr>
          <p:cNvSpPr txBox="1"/>
          <p:nvPr/>
        </p:nvSpPr>
        <p:spPr>
          <a:xfrm>
            <a:off x="1069892" y="4400508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Organizational Memory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Text 27">
            <a:extLst>
              <a:ext uri="{FF2B5EF4-FFF2-40B4-BE49-F238E27FC236}">
                <a16:creationId xmlns:a16="http://schemas.microsoft.com/office/drawing/2014/main" id="{8E104A40-A104-2DD8-D8C7-1610DA6D45FE}"/>
              </a:ext>
            </a:extLst>
          </p:cNvPr>
          <p:cNvSpPr txBox="1"/>
          <p:nvPr/>
        </p:nvSpPr>
        <p:spPr>
          <a:xfrm>
            <a:off x="1069892" y="4549555"/>
            <a:ext cx="28008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Persistent fraud knowledge graph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7" name="Image 15" descr="gen-dedup-5b5881d67de13802efdaec964e69d742.png">
            <a:extLst>
              <a:ext uri="{FF2B5EF4-FFF2-40B4-BE49-F238E27FC236}">
                <a16:creationId xmlns:a16="http://schemas.microsoft.com/office/drawing/2014/main" id="{FBAADF20-3E0A-701D-8432-A005B0BC1599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13" r="-13"/>
          <a:stretch/>
        </p:blipFill>
        <p:spPr>
          <a:xfrm>
            <a:off x="631895" y="4875996"/>
            <a:ext cx="3327502" cy="868680"/>
          </a:xfrm>
          <a:prstGeom prst="rect">
            <a:avLst/>
          </a:prstGeom>
        </p:spPr>
      </p:pic>
      <p:sp>
        <p:nvSpPr>
          <p:cNvPr id="179" name="Text 28">
            <a:extLst>
              <a:ext uri="{FF2B5EF4-FFF2-40B4-BE49-F238E27FC236}">
                <a16:creationId xmlns:a16="http://schemas.microsoft.com/office/drawing/2014/main" id="{C54FC566-08C7-01DE-AA3C-2B034B5D9880}"/>
              </a:ext>
            </a:extLst>
          </p:cNvPr>
          <p:cNvSpPr txBox="1"/>
          <p:nvPr/>
        </p:nvSpPr>
        <p:spPr>
          <a:xfrm>
            <a:off x="746195" y="4990296"/>
            <a:ext cx="31053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Apexon Advantage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Text 29">
            <a:extLst>
              <a:ext uri="{FF2B5EF4-FFF2-40B4-BE49-F238E27FC236}">
                <a16:creationId xmlns:a16="http://schemas.microsoft.com/office/drawing/2014/main" id="{E46BBA18-CFB8-C24E-3476-E453D11ACC1D}"/>
              </a:ext>
            </a:extLst>
          </p:cNvPr>
          <p:cNvSpPr txBox="1"/>
          <p:nvPr/>
        </p:nvSpPr>
        <p:spPr>
          <a:xfrm>
            <a:off x="746195" y="5190550"/>
            <a:ext cx="310530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FFFFFF">
                    <a:alpha val="95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We solve Mastercard's problem, not showcase a platform. Deep domain expertise in SafetyNet, BIN attacks, and TRT workflows.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Shape 30">
            <a:extLst>
              <a:ext uri="{FF2B5EF4-FFF2-40B4-BE49-F238E27FC236}">
                <a16:creationId xmlns:a16="http://schemas.microsoft.com/office/drawing/2014/main" id="{5DA9E3CE-4CF8-02FB-ED3D-4B9696C7AEDF}"/>
              </a:ext>
            </a:extLst>
          </p:cNvPr>
          <p:cNvSpPr/>
          <p:nvPr/>
        </p:nvSpPr>
        <p:spPr>
          <a:xfrm>
            <a:off x="4302296" y="1258630"/>
            <a:ext cx="3638398" cy="609905"/>
          </a:xfrm>
          <a:prstGeom prst="roundRect">
            <a:avLst>
              <a:gd name="adj" fmla="val 5622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5" name="Image 16" descr="gen-dedup-81e10785f33d31660dc7c920909939e0.png">
            <a:extLst>
              <a:ext uri="{FF2B5EF4-FFF2-40B4-BE49-F238E27FC236}">
                <a16:creationId xmlns:a16="http://schemas.microsoft.com/office/drawing/2014/main" id="{BE0EA22F-956A-7DE2-C9E7-F1D77E50487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492492" y="1372930"/>
            <a:ext cx="381305" cy="381305"/>
          </a:xfrm>
          <a:prstGeom prst="rect">
            <a:avLst/>
          </a:prstGeom>
        </p:spPr>
      </p:pic>
      <p:pic>
        <p:nvPicPr>
          <p:cNvPr id="187" name="Image 17" descr="gen-dedup-658296613f1c4e3870dfa7701197dfe5.png">
            <a:extLst>
              <a:ext uri="{FF2B5EF4-FFF2-40B4-BE49-F238E27FC236}">
                <a16:creationId xmlns:a16="http://schemas.microsoft.com/office/drawing/2014/main" id="{D5FE2730-8BC7-7FB1-0BDB-599387E726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4607747" y="1478086"/>
            <a:ext cx="150795" cy="171907"/>
          </a:xfrm>
          <a:prstGeom prst="rect">
            <a:avLst/>
          </a:prstGeom>
        </p:spPr>
      </p:pic>
      <p:sp>
        <p:nvSpPr>
          <p:cNvPr id="189" name="Text 31">
            <a:extLst>
              <a:ext uri="{FF2B5EF4-FFF2-40B4-BE49-F238E27FC236}">
                <a16:creationId xmlns:a16="http://schemas.microsoft.com/office/drawing/2014/main" id="{BDDA915E-F29B-846C-D71A-E5D5E7275AAE}"/>
              </a:ext>
            </a:extLst>
          </p:cNvPr>
          <p:cNvSpPr txBox="1"/>
          <p:nvPr/>
        </p:nvSpPr>
        <p:spPr>
          <a:xfrm>
            <a:off x="4988096" y="1387560"/>
            <a:ext cx="130576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OTHERS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Text 32">
            <a:extLst>
              <a:ext uri="{FF2B5EF4-FFF2-40B4-BE49-F238E27FC236}">
                <a16:creationId xmlns:a16="http://schemas.microsoft.com/office/drawing/2014/main" id="{35E43E2E-88CC-254B-1BE5-893319DE884A}"/>
              </a:ext>
            </a:extLst>
          </p:cNvPr>
          <p:cNvSpPr txBox="1"/>
          <p:nvPr/>
        </p:nvSpPr>
        <p:spPr>
          <a:xfrm>
            <a:off x="4988096" y="1596958"/>
            <a:ext cx="155356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Platform-First Approach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3" name="Image 18" descr="gen-dedup-7f05ac474f97410a070b88bbd2c9e181.png">
            <a:extLst>
              <a:ext uri="{FF2B5EF4-FFF2-40B4-BE49-F238E27FC236}">
                <a16:creationId xmlns:a16="http://schemas.microsoft.com/office/drawing/2014/main" id="{B121E444-D21E-11D3-0DB9-42E62C8683C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4302296" y="1982835"/>
            <a:ext cx="3631997" cy="3847795"/>
          </a:xfrm>
          <a:prstGeom prst="rect">
            <a:avLst/>
          </a:prstGeom>
        </p:spPr>
      </p:pic>
      <p:sp>
        <p:nvSpPr>
          <p:cNvPr id="195" name="Shape 33">
            <a:extLst>
              <a:ext uri="{FF2B5EF4-FFF2-40B4-BE49-F238E27FC236}">
                <a16:creationId xmlns:a16="http://schemas.microsoft.com/office/drawing/2014/main" id="{24E43D78-3359-491C-F5FB-8DCF5CD97967}"/>
              </a:ext>
            </a:extLst>
          </p:cNvPr>
          <p:cNvSpPr/>
          <p:nvPr/>
        </p:nvSpPr>
        <p:spPr>
          <a:xfrm>
            <a:off x="4454087" y="2134625"/>
            <a:ext cx="3333902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7" name="Shape 34">
            <a:extLst>
              <a:ext uri="{FF2B5EF4-FFF2-40B4-BE49-F238E27FC236}">
                <a16:creationId xmlns:a16="http://schemas.microsoft.com/office/drawing/2014/main" id="{4E4E63CC-5E7A-6587-AA36-E5AAB2C07EA8}"/>
              </a:ext>
            </a:extLst>
          </p:cNvPr>
          <p:cNvSpPr/>
          <p:nvPr/>
        </p:nvSpPr>
        <p:spPr>
          <a:xfrm>
            <a:off x="4454087" y="2134625"/>
            <a:ext cx="38405" cy="437998"/>
          </a:xfrm>
          <a:prstGeom prst="roundRect">
            <a:avLst>
              <a:gd name="adj" fmla="val 828153"/>
            </a:avLst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9" name="Image 19" descr="gen-dedup-01f312e583a6f29319c342a34f9d3bbe.png">
            <a:extLst>
              <a:ext uri="{FF2B5EF4-FFF2-40B4-BE49-F238E27FC236}">
                <a16:creationId xmlns:a16="http://schemas.microsoft.com/office/drawing/2014/main" id="{F20DFC55-81A4-CA9F-AC09-F3A767401E26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587589" y="2230637"/>
            <a:ext cx="209398" cy="209398"/>
          </a:xfrm>
          <a:prstGeom prst="rect">
            <a:avLst/>
          </a:prstGeom>
        </p:spPr>
      </p:pic>
      <p:pic>
        <p:nvPicPr>
          <p:cNvPr id="201" name="Image 20" descr="gen-dedup-59cf922754102c6b1641c40613924182.png">
            <a:extLst>
              <a:ext uri="{FF2B5EF4-FFF2-40B4-BE49-F238E27FC236}">
                <a16:creationId xmlns:a16="http://schemas.microsoft.com/office/drawing/2014/main" id="{1E70D896-4D0C-4D7B-051A-FD9E24EA5AF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4635138" y="2284048"/>
            <a:ext cx="114300" cy="102576"/>
          </a:xfrm>
          <a:prstGeom prst="rect">
            <a:avLst/>
          </a:prstGeom>
        </p:spPr>
      </p:pic>
      <p:sp>
        <p:nvSpPr>
          <p:cNvPr id="203" name="Text 35">
            <a:extLst>
              <a:ext uri="{FF2B5EF4-FFF2-40B4-BE49-F238E27FC236}">
                <a16:creationId xmlns:a16="http://schemas.microsoft.com/office/drawing/2014/main" id="{FDA75E3E-D787-7470-C864-3A3D0A1CCDE7}"/>
              </a:ext>
            </a:extLst>
          </p:cNvPr>
          <p:cNvSpPr txBox="1"/>
          <p:nvPr/>
        </p:nvSpPr>
        <p:spPr>
          <a:xfrm>
            <a:off x="4892084" y="2211435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Generic Platform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 36">
            <a:extLst>
              <a:ext uri="{FF2B5EF4-FFF2-40B4-BE49-F238E27FC236}">
                <a16:creationId xmlns:a16="http://schemas.microsoft.com/office/drawing/2014/main" id="{62A8E72E-AFD3-EF99-7980-F72AF7CB04B2}"/>
              </a:ext>
            </a:extLst>
          </p:cNvPr>
          <p:cNvSpPr txBox="1"/>
          <p:nvPr/>
        </p:nvSpPr>
        <p:spPr>
          <a:xfrm>
            <a:off x="4892084" y="2359567"/>
            <a:ext cx="28008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Product-centric, not workflow-specific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Shape 37">
            <a:extLst>
              <a:ext uri="{FF2B5EF4-FFF2-40B4-BE49-F238E27FC236}">
                <a16:creationId xmlns:a16="http://schemas.microsoft.com/office/drawing/2014/main" id="{D09D3C2B-E5FF-EED0-2AAC-5B13C1852B2C}"/>
              </a:ext>
            </a:extLst>
          </p:cNvPr>
          <p:cNvSpPr/>
          <p:nvPr/>
        </p:nvSpPr>
        <p:spPr>
          <a:xfrm>
            <a:off x="4454087" y="2691495"/>
            <a:ext cx="3333902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Shape 38">
            <a:extLst>
              <a:ext uri="{FF2B5EF4-FFF2-40B4-BE49-F238E27FC236}">
                <a16:creationId xmlns:a16="http://schemas.microsoft.com/office/drawing/2014/main" id="{B5AC19D2-8812-6C9F-8D70-97379826525A}"/>
              </a:ext>
            </a:extLst>
          </p:cNvPr>
          <p:cNvSpPr/>
          <p:nvPr/>
        </p:nvSpPr>
        <p:spPr>
          <a:xfrm>
            <a:off x="4454087" y="2691495"/>
            <a:ext cx="38405" cy="437998"/>
          </a:xfrm>
          <a:prstGeom prst="roundRect">
            <a:avLst>
              <a:gd name="adj" fmla="val 828153"/>
            </a:avLst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1" name="Image 21" descr="gen-dedup-01f312e583a6f29319c342a34f9d3bbe.png">
            <a:extLst>
              <a:ext uri="{FF2B5EF4-FFF2-40B4-BE49-F238E27FC236}">
                <a16:creationId xmlns:a16="http://schemas.microsoft.com/office/drawing/2014/main" id="{DB817743-0771-B139-CD12-C6C859FECC8C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587589" y="2786592"/>
            <a:ext cx="209398" cy="209398"/>
          </a:xfrm>
          <a:prstGeom prst="rect">
            <a:avLst/>
          </a:prstGeom>
        </p:spPr>
      </p:pic>
      <p:pic>
        <p:nvPicPr>
          <p:cNvPr id="213" name="Image 22" descr="gen-dedup-0c7e600c1fc428d64bbf3c5d58c87e23.png">
            <a:extLst>
              <a:ext uri="{FF2B5EF4-FFF2-40B4-BE49-F238E27FC236}">
                <a16:creationId xmlns:a16="http://schemas.microsoft.com/office/drawing/2014/main" id="{BA55CC80-88BB-8A6C-7E8D-450289882C8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783" r="-783"/>
          <a:stretch/>
        </p:blipFill>
        <p:spPr>
          <a:xfrm>
            <a:off x="4625994" y="2839627"/>
            <a:ext cx="133502" cy="105156"/>
          </a:xfrm>
          <a:prstGeom prst="rect">
            <a:avLst/>
          </a:prstGeom>
        </p:spPr>
      </p:pic>
      <p:sp>
        <p:nvSpPr>
          <p:cNvPr id="215" name="Text 39">
            <a:extLst>
              <a:ext uri="{FF2B5EF4-FFF2-40B4-BE49-F238E27FC236}">
                <a16:creationId xmlns:a16="http://schemas.microsoft.com/office/drawing/2014/main" id="{1441D0E3-2943-C574-5A23-68092E171868}"/>
              </a:ext>
            </a:extLst>
          </p:cNvPr>
          <p:cNvSpPr txBox="1"/>
          <p:nvPr/>
        </p:nvSpPr>
        <p:spPr>
          <a:xfrm>
            <a:off x="4892084" y="2767390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Azure-Centric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" name="Text 40">
            <a:extLst>
              <a:ext uri="{FF2B5EF4-FFF2-40B4-BE49-F238E27FC236}">
                <a16:creationId xmlns:a16="http://schemas.microsoft.com/office/drawing/2014/main" id="{B9527283-91BD-85D6-3B08-0B22EE982C0F}"/>
              </a:ext>
            </a:extLst>
          </p:cNvPr>
          <p:cNvSpPr txBox="1"/>
          <p:nvPr/>
        </p:nvSpPr>
        <p:spPr>
          <a:xfrm>
            <a:off x="4892084" y="2916437"/>
            <a:ext cx="28008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Locked to Azure ecosystem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9" name="Shape 41">
            <a:extLst>
              <a:ext uri="{FF2B5EF4-FFF2-40B4-BE49-F238E27FC236}">
                <a16:creationId xmlns:a16="http://schemas.microsoft.com/office/drawing/2014/main" id="{CF29E7EA-1926-96CB-A745-9A1452678B41}"/>
              </a:ext>
            </a:extLst>
          </p:cNvPr>
          <p:cNvSpPr/>
          <p:nvPr/>
        </p:nvSpPr>
        <p:spPr>
          <a:xfrm>
            <a:off x="4454087" y="3248364"/>
            <a:ext cx="3333902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Shape 42">
            <a:extLst>
              <a:ext uri="{FF2B5EF4-FFF2-40B4-BE49-F238E27FC236}">
                <a16:creationId xmlns:a16="http://schemas.microsoft.com/office/drawing/2014/main" id="{BBBB3A70-0F75-5195-16A8-FEC18BC14DC9}"/>
              </a:ext>
            </a:extLst>
          </p:cNvPr>
          <p:cNvSpPr/>
          <p:nvPr/>
        </p:nvSpPr>
        <p:spPr>
          <a:xfrm>
            <a:off x="4454087" y="3248364"/>
            <a:ext cx="38405" cy="437998"/>
          </a:xfrm>
          <a:prstGeom prst="roundRect">
            <a:avLst>
              <a:gd name="adj" fmla="val 828153"/>
            </a:avLst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3" name="Image 23" descr="gen-dedup-01f312e583a6f29319c342a34f9d3bbe.png">
            <a:extLst>
              <a:ext uri="{FF2B5EF4-FFF2-40B4-BE49-F238E27FC236}">
                <a16:creationId xmlns:a16="http://schemas.microsoft.com/office/drawing/2014/main" id="{F317A33F-7060-C617-917E-C77B64B41AA2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587589" y="3343462"/>
            <a:ext cx="209398" cy="209398"/>
          </a:xfrm>
          <a:prstGeom prst="rect">
            <a:avLst/>
          </a:prstGeom>
        </p:spPr>
      </p:pic>
      <p:pic>
        <p:nvPicPr>
          <p:cNvPr id="225" name="Image 24" descr="gen-dedup-140c902cfab52170bb8b26da2e364f20.png">
            <a:extLst>
              <a:ext uri="{FF2B5EF4-FFF2-40B4-BE49-F238E27FC236}">
                <a16:creationId xmlns:a16="http://schemas.microsoft.com/office/drawing/2014/main" id="{01E218BC-5D52-BD10-4041-FA1E4863F5A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639710" y="3395583"/>
            <a:ext cx="105156" cy="105156"/>
          </a:xfrm>
          <a:prstGeom prst="rect">
            <a:avLst/>
          </a:prstGeom>
        </p:spPr>
      </p:pic>
      <p:sp>
        <p:nvSpPr>
          <p:cNvPr id="227" name="Text 43">
            <a:extLst>
              <a:ext uri="{FF2B5EF4-FFF2-40B4-BE49-F238E27FC236}">
                <a16:creationId xmlns:a16="http://schemas.microsoft.com/office/drawing/2014/main" id="{7D39C521-227B-9A22-21F2-5F3F6D828A91}"/>
              </a:ext>
            </a:extLst>
          </p:cNvPr>
          <p:cNvSpPr txBox="1"/>
          <p:nvPr/>
        </p:nvSpPr>
        <p:spPr>
          <a:xfrm>
            <a:off x="4892084" y="3324259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Longer Onboarding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9" name="Text 44">
            <a:extLst>
              <a:ext uri="{FF2B5EF4-FFF2-40B4-BE49-F238E27FC236}">
                <a16:creationId xmlns:a16="http://schemas.microsoft.com/office/drawing/2014/main" id="{09AE4EB0-83C7-D7B3-1DFF-D520ADC127EB}"/>
              </a:ext>
            </a:extLst>
          </p:cNvPr>
          <p:cNvSpPr txBox="1"/>
          <p:nvPr/>
        </p:nvSpPr>
        <p:spPr>
          <a:xfrm>
            <a:off x="4892084" y="3473307"/>
            <a:ext cx="28008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6-8 months for introduction of a new stack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1" name="Shape 45">
            <a:extLst>
              <a:ext uri="{FF2B5EF4-FFF2-40B4-BE49-F238E27FC236}">
                <a16:creationId xmlns:a16="http://schemas.microsoft.com/office/drawing/2014/main" id="{798CBDD4-78D6-2D19-3A0C-C0647D91D27B}"/>
              </a:ext>
            </a:extLst>
          </p:cNvPr>
          <p:cNvSpPr/>
          <p:nvPr/>
        </p:nvSpPr>
        <p:spPr>
          <a:xfrm>
            <a:off x="4454087" y="3805234"/>
            <a:ext cx="3333902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3" name="Shape 46">
            <a:extLst>
              <a:ext uri="{FF2B5EF4-FFF2-40B4-BE49-F238E27FC236}">
                <a16:creationId xmlns:a16="http://schemas.microsoft.com/office/drawing/2014/main" id="{5F11B21D-9B17-3CD3-419A-CD4A8949EE30}"/>
              </a:ext>
            </a:extLst>
          </p:cNvPr>
          <p:cNvSpPr/>
          <p:nvPr/>
        </p:nvSpPr>
        <p:spPr>
          <a:xfrm>
            <a:off x="4454087" y="3805234"/>
            <a:ext cx="38405" cy="437998"/>
          </a:xfrm>
          <a:prstGeom prst="roundRect">
            <a:avLst>
              <a:gd name="adj" fmla="val 828153"/>
            </a:avLst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5" name="Image 25" descr="gen-dedup-01f312e583a6f29319c342a34f9d3bbe.png">
            <a:extLst>
              <a:ext uri="{FF2B5EF4-FFF2-40B4-BE49-F238E27FC236}">
                <a16:creationId xmlns:a16="http://schemas.microsoft.com/office/drawing/2014/main" id="{06F9B793-4961-F548-D2DF-63FA44F2AEA6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587589" y="3900331"/>
            <a:ext cx="209398" cy="209398"/>
          </a:xfrm>
          <a:prstGeom prst="rect">
            <a:avLst/>
          </a:prstGeom>
        </p:spPr>
      </p:pic>
      <p:pic>
        <p:nvPicPr>
          <p:cNvPr id="237" name="Image 26" descr="gen-dedup-c71d4ff1747668f021e340d809b5eaf8.png">
            <a:extLst>
              <a:ext uri="{FF2B5EF4-FFF2-40B4-BE49-F238E27FC236}">
                <a16:creationId xmlns:a16="http://schemas.microsoft.com/office/drawing/2014/main" id="{C6D56EE2-2415-309C-1B10-B71AA83A807C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4639710" y="3952452"/>
            <a:ext cx="105156" cy="105156"/>
          </a:xfrm>
          <a:prstGeom prst="rect">
            <a:avLst/>
          </a:prstGeom>
        </p:spPr>
      </p:pic>
      <p:sp>
        <p:nvSpPr>
          <p:cNvPr id="239" name="Text 47">
            <a:extLst>
              <a:ext uri="{FF2B5EF4-FFF2-40B4-BE49-F238E27FC236}">
                <a16:creationId xmlns:a16="http://schemas.microsoft.com/office/drawing/2014/main" id="{68E1F2A9-D977-B437-D241-625DBE22D42F}"/>
              </a:ext>
            </a:extLst>
          </p:cNvPr>
          <p:cNvSpPr txBox="1"/>
          <p:nvPr/>
        </p:nvSpPr>
        <p:spPr>
          <a:xfrm>
            <a:off x="4892084" y="3881129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Black-Box AI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1" name="Text 48">
            <a:extLst>
              <a:ext uri="{FF2B5EF4-FFF2-40B4-BE49-F238E27FC236}">
                <a16:creationId xmlns:a16="http://schemas.microsoft.com/office/drawing/2014/main" id="{FD0E6581-0E0B-2CD9-F14E-06061B62DEB5}"/>
              </a:ext>
            </a:extLst>
          </p:cNvPr>
          <p:cNvSpPr txBox="1"/>
          <p:nvPr/>
        </p:nvSpPr>
        <p:spPr>
          <a:xfrm>
            <a:off x="4892084" y="4029262"/>
            <a:ext cx="28008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Limited explainability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Shape 49">
            <a:extLst>
              <a:ext uri="{FF2B5EF4-FFF2-40B4-BE49-F238E27FC236}">
                <a16:creationId xmlns:a16="http://schemas.microsoft.com/office/drawing/2014/main" id="{89634E6C-67CE-5146-14F7-D49B2D90D422}"/>
              </a:ext>
            </a:extLst>
          </p:cNvPr>
          <p:cNvSpPr/>
          <p:nvPr/>
        </p:nvSpPr>
        <p:spPr>
          <a:xfrm>
            <a:off x="4454087" y="4361189"/>
            <a:ext cx="3333902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" name="Shape 50">
            <a:extLst>
              <a:ext uri="{FF2B5EF4-FFF2-40B4-BE49-F238E27FC236}">
                <a16:creationId xmlns:a16="http://schemas.microsoft.com/office/drawing/2014/main" id="{1AAA9089-597E-769B-839F-A483665A54DE}"/>
              </a:ext>
            </a:extLst>
          </p:cNvPr>
          <p:cNvSpPr/>
          <p:nvPr/>
        </p:nvSpPr>
        <p:spPr>
          <a:xfrm>
            <a:off x="4454087" y="4361189"/>
            <a:ext cx="38405" cy="437998"/>
          </a:xfrm>
          <a:prstGeom prst="roundRect">
            <a:avLst>
              <a:gd name="adj" fmla="val 828153"/>
            </a:avLst>
          </a:prstGeom>
          <a:solidFill>
            <a:srgbClr val="00A4EF"/>
          </a:solidFill>
          <a:ln w="12700">
            <a:solidFill>
              <a:srgbClr val="00A4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7" name="Image 27" descr="gen-dedup-01f312e583a6f29319c342a34f9d3bbe.png">
            <a:extLst>
              <a:ext uri="{FF2B5EF4-FFF2-40B4-BE49-F238E27FC236}">
                <a16:creationId xmlns:a16="http://schemas.microsoft.com/office/drawing/2014/main" id="{0F7F1F84-5016-64FF-F374-BB151F85CE13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4587589" y="4456287"/>
            <a:ext cx="209398" cy="209398"/>
          </a:xfrm>
          <a:prstGeom prst="rect">
            <a:avLst/>
          </a:prstGeom>
        </p:spPr>
      </p:pic>
      <p:pic>
        <p:nvPicPr>
          <p:cNvPr id="249" name="Image 28" descr="gen-dedup-8fc4c8ca9327a18663b3c1a39e61be2b.png">
            <a:extLst>
              <a:ext uri="{FF2B5EF4-FFF2-40B4-BE49-F238E27FC236}">
                <a16:creationId xmlns:a16="http://schemas.microsoft.com/office/drawing/2014/main" id="{A7ECD4F0-F1EB-8D77-9506-5816AEFC09F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4635138" y="4510612"/>
            <a:ext cx="114300" cy="102576"/>
          </a:xfrm>
          <a:prstGeom prst="rect">
            <a:avLst/>
          </a:prstGeom>
        </p:spPr>
      </p:pic>
      <p:sp>
        <p:nvSpPr>
          <p:cNvPr id="251" name="Text 51">
            <a:extLst>
              <a:ext uri="{FF2B5EF4-FFF2-40B4-BE49-F238E27FC236}">
                <a16:creationId xmlns:a16="http://schemas.microsoft.com/office/drawing/2014/main" id="{033E0BAD-5C89-B1B4-8100-D3B159619E5F}"/>
              </a:ext>
            </a:extLst>
          </p:cNvPr>
          <p:cNvSpPr txBox="1"/>
          <p:nvPr/>
        </p:nvSpPr>
        <p:spPr>
          <a:xfrm>
            <a:off x="4892084" y="4437999"/>
            <a:ext cx="28008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A1F3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Limited Memory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3" name="Text 52">
            <a:extLst>
              <a:ext uri="{FF2B5EF4-FFF2-40B4-BE49-F238E27FC236}">
                <a16:creationId xmlns:a16="http://schemas.microsoft.com/office/drawing/2014/main" id="{36AE9AB3-EB00-AA74-C841-EC42CCFE2DA2}"/>
              </a:ext>
            </a:extLst>
          </p:cNvPr>
          <p:cNvSpPr txBox="1"/>
          <p:nvPr/>
        </p:nvSpPr>
        <p:spPr>
          <a:xfrm>
            <a:off x="4892084" y="4586131"/>
            <a:ext cx="2800807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Session-based, no persistence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5" name="Image 29" descr="gen-dedup-2cdf31a2e694752f7fd8d4b9c21720b1.png">
            <a:extLst>
              <a:ext uri="{FF2B5EF4-FFF2-40B4-BE49-F238E27FC236}">
                <a16:creationId xmlns:a16="http://schemas.microsoft.com/office/drawing/2014/main" id="{419BE56E-4EAB-7213-5966-7847FBB4C84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t="-18" b="-18"/>
          <a:stretch/>
        </p:blipFill>
        <p:spPr>
          <a:xfrm>
            <a:off x="4454087" y="4956463"/>
            <a:ext cx="3327502" cy="722376"/>
          </a:xfrm>
          <a:prstGeom prst="rect">
            <a:avLst/>
          </a:prstGeom>
        </p:spPr>
      </p:pic>
      <p:sp>
        <p:nvSpPr>
          <p:cNvPr id="257" name="Text 53">
            <a:extLst>
              <a:ext uri="{FF2B5EF4-FFF2-40B4-BE49-F238E27FC236}">
                <a16:creationId xmlns:a16="http://schemas.microsoft.com/office/drawing/2014/main" id="{8AC2F83F-4BB4-ED0A-1078-4E40CE3D63E4}"/>
              </a:ext>
            </a:extLst>
          </p:cNvPr>
          <p:cNvSpPr txBox="1"/>
          <p:nvPr/>
        </p:nvSpPr>
        <p:spPr>
          <a:xfrm>
            <a:off x="4568387" y="5070763"/>
            <a:ext cx="310530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Competition Limitation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9" name="Text 54">
            <a:extLst>
              <a:ext uri="{FF2B5EF4-FFF2-40B4-BE49-F238E27FC236}">
                <a16:creationId xmlns:a16="http://schemas.microsoft.com/office/drawing/2014/main" id="{3F7FFA24-06B1-299A-84CD-7E2A04429455}"/>
              </a:ext>
            </a:extLst>
          </p:cNvPr>
          <p:cNvSpPr txBox="1"/>
          <p:nvPr/>
        </p:nvSpPr>
        <p:spPr>
          <a:xfrm>
            <a:off x="4568387" y="5270103"/>
            <a:ext cx="310530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FFFFFF">
                    <a:alpha val="95000"/>
                  </a:srgbClr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Focused on Azure AI platform demonstration, not operational workflow optimization.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1" name="Shape 55">
            <a:extLst>
              <a:ext uri="{FF2B5EF4-FFF2-40B4-BE49-F238E27FC236}">
                <a16:creationId xmlns:a16="http://schemas.microsoft.com/office/drawing/2014/main" id="{F7B3ED3A-CCAA-5349-496D-04CD549C12DA}"/>
              </a:ext>
            </a:extLst>
          </p:cNvPr>
          <p:cNvSpPr/>
          <p:nvPr/>
        </p:nvSpPr>
        <p:spPr>
          <a:xfrm>
            <a:off x="8124488" y="1258630"/>
            <a:ext cx="3638398" cy="609905"/>
          </a:xfrm>
          <a:prstGeom prst="roundRect">
            <a:avLst>
              <a:gd name="adj" fmla="val 56222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3" name="Image 30" descr="gen-dedup-ba4660c3ff8d32c336d7bdfeb12316fa.png">
            <a:extLst>
              <a:ext uri="{FF2B5EF4-FFF2-40B4-BE49-F238E27FC236}">
                <a16:creationId xmlns:a16="http://schemas.microsoft.com/office/drawing/2014/main" id="{54A6DB40-8024-CA3B-655A-D0B00972E0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14684" y="1372930"/>
            <a:ext cx="381305" cy="381305"/>
          </a:xfrm>
          <a:prstGeom prst="rect">
            <a:avLst/>
          </a:prstGeom>
        </p:spPr>
      </p:pic>
      <p:pic>
        <p:nvPicPr>
          <p:cNvPr id="265" name="Image 31" descr="gen-dedup-01ccad726e37939242eee2876ffc4077.png">
            <a:extLst>
              <a:ext uri="{FF2B5EF4-FFF2-40B4-BE49-F238E27FC236}">
                <a16:creationId xmlns:a16="http://schemas.microsoft.com/office/drawing/2014/main" id="{AF9C0289-B00A-2BCA-30EF-E807C13A741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8410696" y="1479508"/>
            <a:ext cx="190195" cy="169062"/>
          </a:xfrm>
          <a:prstGeom prst="rect">
            <a:avLst/>
          </a:prstGeom>
        </p:spPr>
      </p:pic>
      <p:sp>
        <p:nvSpPr>
          <p:cNvPr id="267" name="Text 56">
            <a:extLst>
              <a:ext uri="{FF2B5EF4-FFF2-40B4-BE49-F238E27FC236}">
                <a16:creationId xmlns:a16="http://schemas.microsoft.com/office/drawing/2014/main" id="{CA51B337-8F46-55F5-970C-CCC7A7818278}"/>
              </a:ext>
            </a:extLst>
          </p:cNvPr>
          <p:cNvSpPr txBox="1"/>
          <p:nvPr/>
        </p:nvSpPr>
        <p:spPr>
          <a:xfrm>
            <a:off x="8810288" y="1387560"/>
            <a:ext cx="2095805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KEY DIFFERENTIATORS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9" name="Text 57">
            <a:extLst>
              <a:ext uri="{FF2B5EF4-FFF2-40B4-BE49-F238E27FC236}">
                <a16:creationId xmlns:a16="http://schemas.microsoft.com/office/drawing/2014/main" id="{960BDB81-0AF8-C4EA-602C-7B97F49D22B5}"/>
              </a:ext>
            </a:extLst>
          </p:cNvPr>
          <p:cNvSpPr txBox="1"/>
          <p:nvPr/>
        </p:nvSpPr>
        <p:spPr>
          <a:xfrm>
            <a:off x="8810288" y="1596958"/>
            <a:ext cx="20958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666666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10 Critical Factors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1" name="Image 32" descr="gen-dedup-fcdbe51080e8b920f02ed550a5cef605.png">
            <a:extLst>
              <a:ext uri="{FF2B5EF4-FFF2-40B4-BE49-F238E27FC236}">
                <a16:creationId xmlns:a16="http://schemas.microsoft.com/office/drawing/2014/main" id="{F54875D7-40E9-7420-3A4E-06D73CFA03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8124488" y="1982835"/>
            <a:ext cx="3631997" cy="3847795"/>
          </a:xfrm>
          <a:prstGeom prst="rect">
            <a:avLst/>
          </a:prstGeom>
        </p:spPr>
      </p:pic>
      <p:sp>
        <p:nvSpPr>
          <p:cNvPr id="273" name="Shape 58">
            <a:extLst>
              <a:ext uri="{FF2B5EF4-FFF2-40B4-BE49-F238E27FC236}">
                <a16:creationId xmlns:a16="http://schemas.microsoft.com/office/drawing/2014/main" id="{81507068-B20F-6263-9B22-6D8EACE958C9}"/>
              </a:ext>
            </a:extLst>
          </p:cNvPr>
          <p:cNvSpPr/>
          <p:nvPr/>
        </p:nvSpPr>
        <p:spPr>
          <a:xfrm>
            <a:off x="8277193" y="21346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5" name="Image 33" descr="gen-dedup-7903f3a77265b6b88aae0555f76fe256.png">
            <a:extLst>
              <a:ext uri="{FF2B5EF4-FFF2-40B4-BE49-F238E27FC236}">
                <a16:creationId xmlns:a16="http://schemas.microsoft.com/office/drawing/2014/main" id="{09CFAD8A-15B0-1A5D-422D-CC6FFC15F5C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8354460" y="2230637"/>
            <a:ext cx="83210" cy="95098"/>
          </a:xfrm>
          <a:prstGeom prst="rect">
            <a:avLst/>
          </a:prstGeom>
        </p:spPr>
      </p:pic>
      <p:sp>
        <p:nvSpPr>
          <p:cNvPr id="277" name="Text 59">
            <a:extLst>
              <a:ext uri="{FF2B5EF4-FFF2-40B4-BE49-F238E27FC236}">
                <a16:creationId xmlns:a16="http://schemas.microsoft.com/office/drawing/2014/main" id="{052A801F-4D6B-A9CE-5ADE-AF577013DD62}"/>
              </a:ext>
            </a:extLst>
          </p:cNvPr>
          <p:cNvSpPr txBox="1"/>
          <p:nvPr/>
        </p:nvSpPr>
        <p:spPr>
          <a:xfrm>
            <a:off x="8514937" y="2134625"/>
            <a:ext cx="7150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Customization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9" name="Shape 60">
            <a:extLst>
              <a:ext uri="{FF2B5EF4-FFF2-40B4-BE49-F238E27FC236}">
                <a16:creationId xmlns:a16="http://schemas.microsoft.com/office/drawing/2014/main" id="{4C0F705F-9C88-3AE6-154B-7204DC25EA0A}"/>
              </a:ext>
            </a:extLst>
          </p:cNvPr>
          <p:cNvSpPr/>
          <p:nvPr/>
        </p:nvSpPr>
        <p:spPr>
          <a:xfrm>
            <a:off x="9968833" y="21346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1" name="Image 34" descr="gen-dedup-7903f3a77265b6b88aae0555f76fe256.png">
            <a:extLst>
              <a:ext uri="{FF2B5EF4-FFF2-40B4-BE49-F238E27FC236}">
                <a16:creationId xmlns:a16="http://schemas.microsoft.com/office/drawing/2014/main" id="{37C75BAF-EBA8-23E4-55A8-738C91B70EF8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10047015" y="2230637"/>
            <a:ext cx="83210" cy="95098"/>
          </a:xfrm>
          <a:prstGeom prst="rect">
            <a:avLst/>
          </a:prstGeom>
        </p:spPr>
      </p:pic>
      <p:sp>
        <p:nvSpPr>
          <p:cNvPr id="283" name="Text 61">
            <a:extLst>
              <a:ext uri="{FF2B5EF4-FFF2-40B4-BE49-F238E27FC236}">
                <a16:creationId xmlns:a16="http://schemas.microsoft.com/office/drawing/2014/main" id="{CBADEDBF-5B3D-F116-ACD3-A88B97889D77}"/>
              </a:ext>
            </a:extLst>
          </p:cNvPr>
          <p:cNvSpPr txBox="1"/>
          <p:nvPr/>
        </p:nvSpPr>
        <p:spPr>
          <a:xfrm>
            <a:off x="10207492" y="2134625"/>
            <a:ext cx="3246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Speed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Shape 62">
            <a:extLst>
              <a:ext uri="{FF2B5EF4-FFF2-40B4-BE49-F238E27FC236}">
                <a16:creationId xmlns:a16="http://schemas.microsoft.com/office/drawing/2014/main" id="{BC921988-51B6-D5A8-0625-E6E308369635}"/>
              </a:ext>
            </a:extLst>
          </p:cNvPr>
          <p:cNvSpPr/>
          <p:nvPr/>
        </p:nvSpPr>
        <p:spPr>
          <a:xfrm>
            <a:off x="8277193" y="24775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7" name="Image 35" descr="gen-dedup-7903f3a77265b6b88aae0555f76fe256.png">
            <a:extLst>
              <a:ext uri="{FF2B5EF4-FFF2-40B4-BE49-F238E27FC236}">
                <a16:creationId xmlns:a16="http://schemas.microsoft.com/office/drawing/2014/main" id="{EF07A4B0-263C-7C20-0083-1839608C5BAF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8354460" y="2573537"/>
            <a:ext cx="83210" cy="95098"/>
          </a:xfrm>
          <a:prstGeom prst="rect">
            <a:avLst/>
          </a:prstGeom>
        </p:spPr>
      </p:pic>
      <p:sp>
        <p:nvSpPr>
          <p:cNvPr id="289" name="Text 63">
            <a:extLst>
              <a:ext uri="{FF2B5EF4-FFF2-40B4-BE49-F238E27FC236}">
                <a16:creationId xmlns:a16="http://schemas.microsoft.com/office/drawing/2014/main" id="{59B023B5-0C55-24F0-B93A-D7913A69F97E}"/>
              </a:ext>
            </a:extLst>
          </p:cNvPr>
          <p:cNvSpPr txBox="1"/>
          <p:nvPr/>
        </p:nvSpPr>
        <p:spPr>
          <a:xfrm>
            <a:off x="8514937" y="2477525"/>
            <a:ext cx="6574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Explainability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1" name="Shape 64">
            <a:extLst>
              <a:ext uri="{FF2B5EF4-FFF2-40B4-BE49-F238E27FC236}">
                <a16:creationId xmlns:a16="http://schemas.microsoft.com/office/drawing/2014/main" id="{FA84B4EE-A971-903B-D521-89AB05591297}"/>
              </a:ext>
            </a:extLst>
          </p:cNvPr>
          <p:cNvSpPr/>
          <p:nvPr/>
        </p:nvSpPr>
        <p:spPr>
          <a:xfrm>
            <a:off x="9968833" y="24775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3" name="Image 36" descr="gen-dedup-7903f3a77265b6b88aae0555f76fe256.png">
            <a:extLst>
              <a:ext uri="{FF2B5EF4-FFF2-40B4-BE49-F238E27FC236}">
                <a16:creationId xmlns:a16="http://schemas.microsoft.com/office/drawing/2014/main" id="{435D4A5F-C95D-3838-6EC6-057D1D9D5AC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10047015" y="2573537"/>
            <a:ext cx="83210" cy="95098"/>
          </a:xfrm>
          <a:prstGeom prst="rect">
            <a:avLst/>
          </a:prstGeom>
        </p:spPr>
      </p:pic>
      <p:sp>
        <p:nvSpPr>
          <p:cNvPr id="295" name="Text 65">
            <a:extLst>
              <a:ext uri="{FF2B5EF4-FFF2-40B4-BE49-F238E27FC236}">
                <a16:creationId xmlns:a16="http://schemas.microsoft.com/office/drawing/2014/main" id="{BD02249D-1142-A417-C1ED-4422C4702220}"/>
              </a:ext>
            </a:extLst>
          </p:cNvPr>
          <p:cNvSpPr txBox="1"/>
          <p:nvPr/>
        </p:nvSpPr>
        <p:spPr>
          <a:xfrm>
            <a:off x="10207492" y="2477525"/>
            <a:ext cx="4197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Memory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" name="Shape 66">
            <a:extLst>
              <a:ext uri="{FF2B5EF4-FFF2-40B4-BE49-F238E27FC236}">
                <a16:creationId xmlns:a16="http://schemas.microsoft.com/office/drawing/2014/main" id="{D1C089A5-076B-E231-68B8-8818E0748D56}"/>
              </a:ext>
            </a:extLst>
          </p:cNvPr>
          <p:cNvSpPr/>
          <p:nvPr/>
        </p:nvSpPr>
        <p:spPr>
          <a:xfrm>
            <a:off x="8277193" y="28204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9" name="Image 37" descr="gen-dedup-7903f3a77265b6b88aae0555f76fe256.png">
            <a:extLst>
              <a:ext uri="{FF2B5EF4-FFF2-40B4-BE49-F238E27FC236}">
                <a16:creationId xmlns:a16="http://schemas.microsoft.com/office/drawing/2014/main" id="{0BE55677-2A4B-CC76-4C12-5CC8105E698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8354460" y="2916437"/>
            <a:ext cx="83210" cy="95098"/>
          </a:xfrm>
          <a:prstGeom prst="rect">
            <a:avLst/>
          </a:prstGeom>
        </p:spPr>
      </p:pic>
      <p:sp>
        <p:nvSpPr>
          <p:cNvPr id="301" name="Text 67">
            <a:extLst>
              <a:ext uri="{FF2B5EF4-FFF2-40B4-BE49-F238E27FC236}">
                <a16:creationId xmlns:a16="http://schemas.microsoft.com/office/drawing/2014/main" id="{AA4794FC-0665-D6BF-1A41-DF0CC8B8A476}"/>
              </a:ext>
            </a:extLst>
          </p:cNvPr>
          <p:cNvSpPr txBox="1"/>
          <p:nvPr/>
        </p:nvSpPr>
        <p:spPr>
          <a:xfrm>
            <a:off x="8514937" y="2820425"/>
            <a:ext cx="5340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Integration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3" name="Shape 68">
            <a:extLst>
              <a:ext uri="{FF2B5EF4-FFF2-40B4-BE49-F238E27FC236}">
                <a16:creationId xmlns:a16="http://schemas.microsoft.com/office/drawing/2014/main" id="{94DF87ED-1BEC-ECE0-9E3F-6D265E81DBD7}"/>
              </a:ext>
            </a:extLst>
          </p:cNvPr>
          <p:cNvSpPr/>
          <p:nvPr/>
        </p:nvSpPr>
        <p:spPr>
          <a:xfrm>
            <a:off x="9968833" y="28204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5" name="Image 38" descr="gen-dedup-7903f3a77265b6b88aae0555f76fe256.png">
            <a:extLst>
              <a:ext uri="{FF2B5EF4-FFF2-40B4-BE49-F238E27FC236}">
                <a16:creationId xmlns:a16="http://schemas.microsoft.com/office/drawing/2014/main" id="{61233D19-7216-6B82-C338-78379E62BB8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10047015" y="2916437"/>
            <a:ext cx="83210" cy="95098"/>
          </a:xfrm>
          <a:prstGeom prst="rect">
            <a:avLst/>
          </a:prstGeom>
        </p:spPr>
      </p:pic>
      <p:sp>
        <p:nvSpPr>
          <p:cNvPr id="307" name="Text 69">
            <a:extLst>
              <a:ext uri="{FF2B5EF4-FFF2-40B4-BE49-F238E27FC236}">
                <a16:creationId xmlns:a16="http://schemas.microsoft.com/office/drawing/2014/main" id="{F8F1BF29-B3F6-ED5D-D5B4-73B6EBFFD9D9}"/>
              </a:ext>
            </a:extLst>
          </p:cNvPr>
          <p:cNvSpPr txBox="1"/>
          <p:nvPr/>
        </p:nvSpPr>
        <p:spPr>
          <a:xfrm>
            <a:off x="10207492" y="2820425"/>
            <a:ext cx="6291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Cost Control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9" name="Shape 70">
            <a:extLst>
              <a:ext uri="{FF2B5EF4-FFF2-40B4-BE49-F238E27FC236}">
                <a16:creationId xmlns:a16="http://schemas.microsoft.com/office/drawing/2014/main" id="{7F5BE9A7-F68D-5C8D-52D8-1CE4252E21F1}"/>
              </a:ext>
            </a:extLst>
          </p:cNvPr>
          <p:cNvSpPr/>
          <p:nvPr/>
        </p:nvSpPr>
        <p:spPr>
          <a:xfrm>
            <a:off x="8277193" y="31633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1" name="Image 39" descr="gen-dedup-7903f3a77265b6b88aae0555f76fe256.png">
            <a:extLst>
              <a:ext uri="{FF2B5EF4-FFF2-40B4-BE49-F238E27FC236}">
                <a16:creationId xmlns:a16="http://schemas.microsoft.com/office/drawing/2014/main" id="{FF00A2CE-41C2-E33C-BF08-8444D5478C3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8354460" y="3259337"/>
            <a:ext cx="83210" cy="95098"/>
          </a:xfrm>
          <a:prstGeom prst="rect">
            <a:avLst/>
          </a:prstGeom>
        </p:spPr>
      </p:pic>
      <p:sp>
        <p:nvSpPr>
          <p:cNvPr id="313" name="Text 71">
            <a:extLst>
              <a:ext uri="{FF2B5EF4-FFF2-40B4-BE49-F238E27FC236}">
                <a16:creationId xmlns:a16="http://schemas.microsoft.com/office/drawing/2014/main" id="{6AA5937F-60AA-EC90-1EF2-6F2F54CD79BB}"/>
              </a:ext>
            </a:extLst>
          </p:cNvPr>
          <p:cNvSpPr txBox="1"/>
          <p:nvPr/>
        </p:nvSpPr>
        <p:spPr>
          <a:xfrm>
            <a:off x="8514937" y="3163325"/>
            <a:ext cx="4672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Flexibility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Shape 72">
            <a:extLst>
              <a:ext uri="{FF2B5EF4-FFF2-40B4-BE49-F238E27FC236}">
                <a16:creationId xmlns:a16="http://schemas.microsoft.com/office/drawing/2014/main" id="{3B620AC6-0F65-A514-04F8-60D5E191F99D}"/>
              </a:ext>
            </a:extLst>
          </p:cNvPr>
          <p:cNvSpPr/>
          <p:nvPr/>
        </p:nvSpPr>
        <p:spPr>
          <a:xfrm>
            <a:off x="9968833" y="31633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7" name="Image 40" descr="gen-dedup-7903f3a77265b6b88aae0555f76fe256.png">
            <a:extLst>
              <a:ext uri="{FF2B5EF4-FFF2-40B4-BE49-F238E27FC236}">
                <a16:creationId xmlns:a16="http://schemas.microsoft.com/office/drawing/2014/main" id="{02DEF82B-87A6-D760-F9F3-61C10E19E3B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10047015" y="3259337"/>
            <a:ext cx="83210" cy="95098"/>
          </a:xfrm>
          <a:prstGeom prst="rect">
            <a:avLst/>
          </a:prstGeom>
        </p:spPr>
      </p:pic>
      <p:sp>
        <p:nvSpPr>
          <p:cNvPr id="319" name="Text 73">
            <a:extLst>
              <a:ext uri="{FF2B5EF4-FFF2-40B4-BE49-F238E27FC236}">
                <a16:creationId xmlns:a16="http://schemas.microsoft.com/office/drawing/2014/main" id="{02A4F276-5C38-E58E-A4F0-3C0212FB517D}"/>
              </a:ext>
            </a:extLst>
          </p:cNvPr>
          <p:cNvSpPr txBox="1"/>
          <p:nvPr/>
        </p:nvSpPr>
        <p:spPr>
          <a:xfrm>
            <a:off x="10207492" y="3163325"/>
            <a:ext cx="4005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Support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1" name="Shape 74">
            <a:extLst>
              <a:ext uri="{FF2B5EF4-FFF2-40B4-BE49-F238E27FC236}">
                <a16:creationId xmlns:a16="http://schemas.microsoft.com/office/drawing/2014/main" id="{67978B3F-B796-2D1B-71C9-727878E4920D}"/>
              </a:ext>
            </a:extLst>
          </p:cNvPr>
          <p:cNvSpPr/>
          <p:nvPr/>
        </p:nvSpPr>
        <p:spPr>
          <a:xfrm>
            <a:off x="8277193" y="35062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3" name="Image 41" descr="gen-dedup-7903f3a77265b6b88aae0555f76fe256.png">
            <a:extLst>
              <a:ext uri="{FF2B5EF4-FFF2-40B4-BE49-F238E27FC236}">
                <a16:creationId xmlns:a16="http://schemas.microsoft.com/office/drawing/2014/main" id="{38913498-2BCB-83AC-96F3-18F97C67ED4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8354460" y="3602237"/>
            <a:ext cx="83210" cy="95098"/>
          </a:xfrm>
          <a:prstGeom prst="rect">
            <a:avLst/>
          </a:prstGeom>
        </p:spPr>
      </p:pic>
      <p:sp>
        <p:nvSpPr>
          <p:cNvPr id="325" name="Text 75">
            <a:extLst>
              <a:ext uri="{FF2B5EF4-FFF2-40B4-BE49-F238E27FC236}">
                <a16:creationId xmlns:a16="http://schemas.microsoft.com/office/drawing/2014/main" id="{FF06693F-4B50-AFC1-EC0D-844530604CA9}"/>
              </a:ext>
            </a:extLst>
          </p:cNvPr>
          <p:cNvSpPr txBox="1"/>
          <p:nvPr/>
        </p:nvSpPr>
        <p:spPr>
          <a:xfrm>
            <a:off x="8514937" y="3506225"/>
            <a:ext cx="4197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Security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" name="Shape 76">
            <a:extLst>
              <a:ext uri="{FF2B5EF4-FFF2-40B4-BE49-F238E27FC236}">
                <a16:creationId xmlns:a16="http://schemas.microsoft.com/office/drawing/2014/main" id="{0711DD74-6E2F-C8D6-5096-0153A14EA8EA}"/>
              </a:ext>
            </a:extLst>
          </p:cNvPr>
          <p:cNvSpPr/>
          <p:nvPr/>
        </p:nvSpPr>
        <p:spPr>
          <a:xfrm>
            <a:off x="9968833" y="3506225"/>
            <a:ext cx="1638605" cy="286207"/>
          </a:xfrm>
          <a:prstGeom prst="roundRect">
            <a:avLst>
              <a:gd name="adj" fmla="val 127796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9" name="Image 42" descr="gen-dedup-7903f3a77265b6b88aae0555f76fe256.png">
            <a:extLst>
              <a:ext uri="{FF2B5EF4-FFF2-40B4-BE49-F238E27FC236}">
                <a16:creationId xmlns:a16="http://schemas.microsoft.com/office/drawing/2014/main" id="{CD81654B-A5D5-D096-FB7F-7716CD2C24E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10047015" y="3602237"/>
            <a:ext cx="83210" cy="95098"/>
          </a:xfrm>
          <a:prstGeom prst="rect">
            <a:avLst/>
          </a:prstGeom>
        </p:spPr>
      </p:pic>
      <p:sp>
        <p:nvSpPr>
          <p:cNvPr id="331" name="Text 77">
            <a:extLst>
              <a:ext uri="{FF2B5EF4-FFF2-40B4-BE49-F238E27FC236}">
                <a16:creationId xmlns:a16="http://schemas.microsoft.com/office/drawing/2014/main" id="{267C2282-19B7-B91F-15B2-9A04FAE3BACB}"/>
              </a:ext>
            </a:extLst>
          </p:cNvPr>
          <p:cNvSpPr txBox="1"/>
          <p:nvPr/>
        </p:nvSpPr>
        <p:spPr>
          <a:xfrm>
            <a:off x="10207492" y="3506225"/>
            <a:ext cx="5148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Scalability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9" name="Shape 81">
            <a:extLst>
              <a:ext uri="{FF2B5EF4-FFF2-40B4-BE49-F238E27FC236}">
                <a16:creationId xmlns:a16="http://schemas.microsoft.com/office/drawing/2014/main" id="{A6FF764A-B984-A706-693E-DE5362494711}"/>
              </a:ext>
            </a:extLst>
          </p:cNvPr>
          <p:cNvSpPr/>
          <p:nvPr/>
        </p:nvSpPr>
        <p:spPr>
          <a:xfrm>
            <a:off x="21990" y="5821486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F1E19-7F09-C2BA-0321-8B253C6870B1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21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4E2481-15B0-C17E-D1B0-F6E05A4D325A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6CC344-127E-2BD8-AA11-37F98FD263C6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A26D82-3AE9-BBC5-0714-7C571A55F61B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1" name="Freeform: Shape 3">
              <a:extLst>
                <a:ext uri="{FF2B5EF4-FFF2-40B4-BE49-F238E27FC236}">
                  <a16:creationId xmlns:a16="http://schemas.microsoft.com/office/drawing/2014/main" id="{0E34ACB4-5F71-29EC-27CF-FCE6F489A65B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" name="Freeform: Shape 4">
              <a:extLst>
                <a:ext uri="{FF2B5EF4-FFF2-40B4-BE49-F238E27FC236}">
                  <a16:creationId xmlns:a16="http://schemas.microsoft.com/office/drawing/2014/main" id="{A60A49EB-409E-1F16-7609-B35EE153C724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" name="Freeform: Shape 5">
              <a:extLst>
                <a:ext uri="{FF2B5EF4-FFF2-40B4-BE49-F238E27FC236}">
                  <a16:creationId xmlns:a16="http://schemas.microsoft.com/office/drawing/2014/main" id="{4EB4A906-F9CD-9A85-9EAF-25E514F43875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" name="Freeform: Shape 6">
              <a:extLst>
                <a:ext uri="{FF2B5EF4-FFF2-40B4-BE49-F238E27FC236}">
                  <a16:creationId xmlns:a16="http://schemas.microsoft.com/office/drawing/2014/main" id="{37C076E9-EA07-4535-37B2-092423D1E8A3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7">
              <a:extLst>
                <a:ext uri="{FF2B5EF4-FFF2-40B4-BE49-F238E27FC236}">
                  <a16:creationId xmlns:a16="http://schemas.microsoft.com/office/drawing/2014/main" id="{BC2E5E21-0214-4712-A5E1-1A7757D55CE9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" name="Freeform: Shape 8">
              <a:extLst>
                <a:ext uri="{FF2B5EF4-FFF2-40B4-BE49-F238E27FC236}">
                  <a16:creationId xmlns:a16="http://schemas.microsoft.com/office/drawing/2014/main" id="{0D6FF7BA-37AA-043D-5FFE-3D20C2E2CF05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1">
              <a:extLst>
                <a:ext uri="{FF2B5EF4-FFF2-40B4-BE49-F238E27FC236}">
                  <a16:creationId xmlns:a16="http://schemas.microsoft.com/office/drawing/2014/main" id="{57AC8E50-5E72-A27C-E2EF-46E6C5D1DA70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2">
              <a:extLst>
                <a:ext uri="{FF2B5EF4-FFF2-40B4-BE49-F238E27FC236}">
                  <a16:creationId xmlns:a16="http://schemas.microsoft.com/office/drawing/2014/main" id="{D801A708-B74B-06DC-E330-A59AC912ACDF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91663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2BA52-8DE3-E441-9EDD-87A5DA44F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9416689-D012-1D2D-5003-8EBEA857251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42882B0-5145-8682-7126-C7FEB96AC8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74C0FBF-1B7A-7FDB-132B-C70B56AE62D9}"/>
              </a:ext>
            </a:extLst>
          </p:cNvPr>
          <p:cNvSpPr txBox="1"/>
          <p:nvPr/>
        </p:nvSpPr>
        <p:spPr>
          <a:xfrm>
            <a:off x="436992" y="242966"/>
            <a:ext cx="7989458" cy="437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Apexon Differentiators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B0ACB1F-4229-C911-ECE6-189F7AF6CF7D}"/>
              </a:ext>
            </a:extLst>
          </p:cNvPr>
          <p:cNvSpPr txBox="1"/>
          <p:nvPr/>
        </p:nvSpPr>
        <p:spPr>
          <a:xfrm>
            <a:off x="436992" y="679602"/>
            <a:ext cx="4914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10 key competitive advantages for Mastercard TRT PoC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2" descr="gen-dedup-7c34f875fb7aca722a2f467566e846c8.png">
            <a:extLst>
              <a:ext uri="{FF2B5EF4-FFF2-40B4-BE49-F238E27FC236}">
                <a16:creationId xmlns:a16="http://schemas.microsoft.com/office/drawing/2014/main" id="{15337054-81BC-02F4-F32F-5596C092B9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457505" y="1279001"/>
            <a:ext cx="2133295" cy="2238451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328F9C6C-EC50-02F5-CC40-E9A03C89D751}"/>
              </a:ext>
            </a:extLst>
          </p:cNvPr>
          <p:cNvSpPr txBox="1"/>
          <p:nvPr/>
        </p:nvSpPr>
        <p:spPr>
          <a:xfrm>
            <a:off x="629412" y="1964801"/>
            <a:ext cx="17913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Tailored to Mastercard's exact TRT workflow, not generic platform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25428D2-BC58-D43E-A384-F2693749EE8F}"/>
              </a:ext>
            </a:extLst>
          </p:cNvPr>
          <p:cNvSpPr/>
          <p:nvPr/>
        </p:nvSpPr>
        <p:spPr>
          <a:xfrm>
            <a:off x="629412" y="2711866"/>
            <a:ext cx="1790395" cy="638251"/>
          </a:xfrm>
          <a:prstGeom prst="roundRect">
            <a:avLst>
              <a:gd name="adj" fmla="val 2566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BAFFEC99-993D-3411-F289-DE22F99317CA}"/>
              </a:ext>
            </a:extLst>
          </p:cNvPr>
          <p:cNvSpPr/>
          <p:nvPr/>
        </p:nvSpPr>
        <p:spPr>
          <a:xfrm>
            <a:off x="629412" y="2711866"/>
            <a:ext cx="28346" cy="638251"/>
          </a:xfrm>
          <a:prstGeom prst="roundRect">
            <a:avLst>
              <a:gd name="adj" fmla="val 577765"/>
            </a:avLst>
          </a:prstGeom>
          <a:solidFill>
            <a:srgbClr val="2196F3"/>
          </a:solidFill>
          <a:ln w="12700">
            <a:solidFill>
              <a:srgbClr val="219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B3DED69C-6DCC-9E3A-E174-AB6AEBC8CB26}"/>
              </a:ext>
            </a:extLst>
          </p:cNvPr>
          <p:cNvSpPr txBox="1"/>
          <p:nvPr/>
        </p:nvSpPr>
        <p:spPr>
          <a:xfrm>
            <a:off x="629412" y="2711866"/>
            <a:ext cx="1791310" cy="6382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SafetyNet Integration: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Designed around specific operational processes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3" descr="gen-dedup-7c34f875fb7aca722a2f467566e846c8.png">
            <a:extLst>
              <a:ext uri="{FF2B5EF4-FFF2-40B4-BE49-F238E27FC236}">
                <a16:creationId xmlns:a16="http://schemas.microsoft.com/office/drawing/2014/main" id="{A4D1F37B-09A9-95C4-207A-8E8E6BD06C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2743505" y="1279001"/>
            <a:ext cx="2133295" cy="2238451"/>
          </a:xfrm>
          <a:prstGeom prst="rect">
            <a:avLst/>
          </a:prstGeom>
        </p:spPr>
      </p:pic>
      <p:sp>
        <p:nvSpPr>
          <p:cNvPr id="20" name="Text 9">
            <a:extLst>
              <a:ext uri="{FF2B5EF4-FFF2-40B4-BE49-F238E27FC236}">
                <a16:creationId xmlns:a16="http://schemas.microsoft.com/office/drawing/2014/main" id="{9F9C2EBB-BEA6-1260-B9DA-DFE622A1654D}"/>
              </a:ext>
            </a:extLst>
          </p:cNvPr>
          <p:cNvSpPr txBox="1"/>
          <p:nvPr/>
        </p:nvSpPr>
        <p:spPr>
          <a:xfrm>
            <a:off x="2915412" y="1964801"/>
            <a:ext cx="17913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Build on Mastercard's chosen stack (Azure/Azure/GCP/PCF)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4BF638EE-FC96-3F71-2424-F35FB86C4F33}"/>
              </a:ext>
            </a:extLst>
          </p:cNvPr>
          <p:cNvSpPr/>
          <p:nvPr/>
        </p:nvSpPr>
        <p:spPr>
          <a:xfrm>
            <a:off x="2915412" y="2711866"/>
            <a:ext cx="1790395" cy="638251"/>
          </a:xfrm>
          <a:prstGeom prst="roundRect">
            <a:avLst>
              <a:gd name="adj" fmla="val 2566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BF91505F-8AA9-7CD6-EA79-5831529D1D86}"/>
              </a:ext>
            </a:extLst>
          </p:cNvPr>
          <p:cNvSpPr/>
          <p:nvPr/>
        </p:nvSpPr>
        <p:spPr>
          <a:xfrm>
            <a:off x="2915412" y="2711866"/>
            <a:ext cx="28346" cy="638251"/>
          </a:xfrm>
          <a:prstGeom prst="roundRect">
            <a:avLst>
              <a:gd name="adj" fmla="val 577765"/>
            </a:avLst>
          </a:prstGeom>
          <a:solidFill>
            <a:srgbClr val="4CAF50"/>
          </a:solidFill>
          <a:ln w="12700">
            <a:solidFill>
              <a:srgbClr val="4CAF5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419A2154-2F83-A2B0-206F-CE799BA22804}"/>
              </a:ext>
            </a:extLst>
          </p:cNvPr>
          <p:cNvSpPr txBox="1"/>
          <p:nvPr/>
        </p:nvSpPr>
        <p:spPr>
          <a:xfrm>
            <a:off x="2915412" y="2711866"/>
            <a:ext cx="1791310" cy="6382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Multi-Cloud: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No vendor lock-in, flexible deployment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" name="Image 4" descr="gen-dedup-7c34f875fb7aca722a2f467566e846c8.png">
            <a:extLst>
              <a:ext uri="{FF2B5EF4-FFF2-40B4-BE49-F238E27FC236}">
                <a16:creationId xmlns:a16="http://schemas.microsoft.com/office/drawing/2014/main" id="{7A706C07-A60E-B891-B13B-243540607A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5029505" y="1279001"/>
            <a:ext cx="2133295" cy="2238451"/>
          </a:xfrm>
          <a:prstGeom prst="rect">
            <a:avLst/>
          </a:prstGeom>
        </p:spPr>
      </p:pic>
      <p:sp>
        <p:nvSpPr>
          <p:cNvPr id="30" name="Text 13">
            <a:extLst>
              <a:ext uri="{FF2B5EF4-FFF2-40B4-BE49-F238E27FC236}">
                <a16:creationId xmlns:a16="http://schemas.microsoft.com/office/drawing/2014/main" id="{C1024637-3D49-8DF9-E561-210C51A01267}"/>
              </a:ext>
            </a:extLst>
          </p:cNvPr>
          <p:cNvSpPr txBox="1"/>
          <p:nvPr/>
        </p:nvSpPr>
        <p:spPr>
          <a:xfrm>
            <a:off x="5201412" y="1964801"/>
            <a:ext cx="17913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Avoid 8-month onboarding; deliver in 8-10 weeks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94CB1061-2D23-D4A1-0B09-F4E07A5F9ED9}"/>
              </a:ext>
            </a:extLst>
          </p:cNvPr>
          <p:cNvSpPr/>
          <p:nvPr/>
        </p:nvSpPr>
        <p:spPr>
          <a:xfrm>
            <a:off x="5201412" y="2711866"/>
            <a:ext cx="1790395" cy="638251"/>
          </a:xfrm>
          <a:prstGeom prst="roundRect">
            <a:avLst>
              <a:gd name="adj" fmla="val 25660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73784D8D-0298-27C5-8A07-05EC0E9115B8}"/>
              </a:ext>
            </a:extLst>
          </p:cNvPr>
          <p:cNvSpPr/>
          <p:nvPr/>
        </p:nvSpPr>
        <p:spPr>
          <a:xfrm>
            <a:off x="5201412" y="2711866"/>
            <a:ext cx="28346" cy="638251"/>
          </a:xfrm>
          <a:prstGeom prst="roundRect">
            <a:avLst>
              <a:gd name="adj" fmla="val 577765"/>
            </a:avLst>
          </a:prstGeom>
          <a:solidFill>
            <a:srgbClr val="FF6B35"/>
          </a:solidFill>
          <a:ln w="12700">
            <a:solidFill>
              <a:srgbClr val="FF6B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EBD5D067-B453-E4C9-652C-A607FE172EE8}"/>
              </a:ext>
            </a:extLst>
          </p:cNvPr>
          <p:cNvSpPr txBox="1"/>
          <p:nvPr/>
        </p:nvSpPr>
        <p:spPr>
          <a:xfrm>
            <a:off x="5201412" y="2711866"/>
            <a:ext cx="1791310" cy="6382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Quick Start: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Use existing stack for immediate value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Image 5" descr="gen-dedup-7c34f875fb7aca722a2f467566e846c8.png">
            <a:extLst>
              <a:ext uri="{FF2B5EF4-FFF2-40B4-BE49-F238E27FC236}">
                <a16:creationId xmlns:a16="http://schemas.microsoft.com/office/drawing/2014/main" id="{C88D47FE-2F47-86D1-64DA-9C057C0130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7315505" y="1279001"/>
            <a:ext cx="2133295" cy="2238451"/>
          </a:xfrm>
          <a:prstGeom prst="rect">
            <a:avLst/>
          </a:prstGeom>
        </p:spPr>
      </p:pic>
      <p:sp>
        <p:nvSpPr>
          <p:cNvPr id="40" name="Text 17">
            <a:extLst>
              <a:ext uri="{FF2B5EF4-FFF2-40B4-BE49-F238E27FC236}">
                <a16:creationId xmlns:a16="http://schemas.microsoft.com/office/drawing/2014/main" id="{04DB765D-7FEF-4795-04A5-2ADEA6465D7B}"/>
              </a:ext>
            </a:extLst>
          </p:cNvPr>
          <p:cNvSpPr txBox="1"/>
          <p:nvPr/>
        </p:nvSpPr>
        <p:spPr>
          <a:xfrm>
            <a:off x="7487412" y="1964801"/>
            <a:ext cx="17913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Start in Apexon environment, then transfer to Mastercard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042676CC-453B-0D22-97D4-FB525405E286}"/>
              </a:ext>
            </a:extLst>
          </p:cNvPr>
          <p:cNvSpPr/>
          <p:nvPr/>
        </p:nvSpPr>
        <p:spPr>
          <a:xfrm>
            <a:off x="7487412" y="2853598"/>
            <a:ext cx="1790395" cy="495605"/>
          </a:xfrm>
          <a:prstGeom prst="roundRect">
            <a:avLst>
              <a:gd name="adj" fmla="val 4257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C87EA254-5D41-22A6-B1A2-57DE0D54207B}"/>
              </a:ext>
            </a:extLst>
          </p:cNvPr>
          <p:cNvSpPr/>
          <p:nvPr/>
        </p:nvSpPr>
        <p:spPr>
          <a:xfrm>
            <a:off x="7487412" y="2853598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9C27B0"/>
          </a:solidFill>
          <a:ln w="12700">
            <a:solidFill>
              <a:srgbClr val="9C27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D6EBAFCF-13BA-344D-2BE1-952AF07ABB19}"/>
              </a:ext>
            </a:extLst>
          </p:cNvPr>
          <p:cNvSpPr txBox="1"/>
          <p:nvPr/>
        </p:nvSpPr>
        <p:spPr>
          <a:xfrm>
            <a:off x="7487412" y="2853598"/>
            <a:ext cx="1791310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Phased Approach: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Build fast, then migrate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Image 6" descr="gen-dedup-7c34f875fb7aca722a2f467566e846c8.png">
            <a:extLst>
              <a:ext uri="{FF2B5EF4-FFF2-40B4-BE49-F238E27FC236}">
                <a16:creationId xmlns:a16="http://schemas.microsoft.com/office/drawing/2014/main" id="{6D253F67-E45E-DC46-0C1B-83938BC039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9601505" y="1279001"/>
            <a:ext cx="2133295" cy="2238451"/>
          </a:xfrm>
          <a:prstGeom prst="rect">
            <a:avLst/>
          </a:prstGeom>
        </p:spPr>
      </p:pic>
      <p:sp>
        <p:nvSpPr>
          <p:cNvPr id="50" name="Text 21">
            <a:extLst>
              <a:ext uri="{FF2B5EF4-FFF2-40B4-BE49-F238E27FC236}">
                <a16:creationId xmlns:a16="http://schemas.microsoft.com/office/drawing/2014/main" id="{A6A79932-3AF2-A9E4-6854-1CEC5EE29E32}"/>
              </a:ext>
            </a:extLst>
          </p:cNvPr>
          <p:cNvSpPr txBox="1"/>
          <p:nvPr/>
        </p:nvSpPr>
        <p:spPr>
          <a:xfrm>
            <a:off x="9773412" y="1964801"/>
            <a:ext cx="17913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Navigate approvals, de-risk integrations, focus on outcomes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Shape 22">
            <a:extLst>
              <a:ext uri="{FF2B5EF4-FFF2-40B4-BE49-F238E27FC236}">
                <a16:creationId xmlns:a16="http://schemas.microsoft.com/office/drawing/2014/main" id="{03DBFEB8-D762-89B9-1723-AE3023FDFD36}"/>
              </a:ext>
            </a:extLst>
          </p:cNvPr>
          <p:cNvSpPr/>
          <p:nvPr/>
        </p:nvSpPr>
        <p:spPr>
          <a:xfrm>
            <a:off x="9773412" y="2853598"/>
            <a:ext cx="1790395" cy="495605"/>
          </a:xfrm>
          <a:prstGeom prst="roundRect">
            <a:avLst>
              <a:gd name="adj" fmla="val 4257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2FAC6601-D5E6-CAD6-B60B-BFA69D1B386E}"/>
              </a:ext>
            </a:extLst>
          </p:cNvPr>
          <p:cNvSpPr/>
          <p:nvPr/>
        </p:nvSpPr>
        <p:spPr>
          <a:xfrm>
            <a:off x="9773412" y="2853598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009688"/>
          </a:solidFill>
          <a:ln w="12700">
            <a:solidFill>
              <a:srgbClr val="00968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6007E72D-1511-D7B3-2482-BC52C66F1076}"/>
              </a:ext>
            </a:extLst>
          </p:cNvPr>
          <p:cNvSpPr txBox="1"/>
          <p:nvPr/>
        </p:nvSpPr>
        <p:spPr>
          <a:xfrm>
            <a:off x="9773412" y="2853598"/>
            <a:ext cx="1791310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Constraint Management: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Execute under pressure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Image 7" descr="gen-dedup-7c34f875fb7aca722a2f467566e846c8.png">
            <a:extLst>
              <a:ext uri="{FF2B5EF4-FFF2-40B4-BE49-F238E27FC236}">
                <a16:creationId xmlns:a16="http://schemas.microsoft.com/office/drawing/2014/main" id="{583EA55F-C14B-EEB4-F812-DAD50FD8F1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457505" y="3669243"/>
            <a:ext cx="2133295" cy="2238451"/>
          </a:xfrm>
          <a:prstGeom prst="rect">
            <a:avLst/>
          </a:prstGeom>
        </p:spPr>
      </p:pic>
      <p:sp>
        <p:nvSpPr>
          <p:cNvPr id="60" name="Text 25">
            <a:extLst>
              <a:ext uri="{FF2B5EF4-FFF2-40B4-BE49-F238E27FC236}">
                <a16:creationId xmlns:a16="http://schemas.microsoft.com/office/drawing/2014/main" id="{EBA63E7A-A108-2664-BC0F-4A1A42D20155}"/>
              </a:ext>
            </a:extLst>
          </p:cNvPr>
          <p:cNvSpPr txBox="1"/>
          <p:nvPr/>
        </p:nvSpPr>
        <p:spPr>
          <a:xfrm>
            <a:off x="629412" y="4355043"/>
            <a:ext cx="17913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SafetyNet/BIN attacks/gate logic embedded into reasoning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7ECD3B21-DD18-B64D-0000-58937EF2EC56}"/>
              </a:ext>
            </a:extLst>
          </p:cNvPr>
          <p:cNvSpPr/>
          <p:nvPr/>
        </p:nvSpPr>
        <p:spPr>
          <a:xfrm>
            <a:off x="629412" y="5243840"/>
            <a:ext cx="1790395" cy="495605"/>
          </a:xfrm>
          <a:prstGeom prst="roundRect">
            <a:avLst>
              <a:gd name="adj" fmla="val 4257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312B7AD4-538B-0F47-DB31-F40F6145EB41}"/>
              </a:ext>
            </a:extLst>
          </p:cNvPr>
          <p:cNvSpPr/>
          <p:nvPr/>
        </p:nvSpPr>
        <p:spPr>
          <a:xfrm>
            <a:off x="629412" y="5243840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F44336"/>
          </a:solidFill>
          <a:ln w="12700">
            <a:solidFill>
              <a:srgbClr val="F4433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CA2B82CF-2F66-57DE-6150-4A33C28DF11A}"/>
              </a:ext>
            </a:extLst>
          </p:cNvPr>
          <p:cNvSpPr txBox="1"/>
          <p:nvPr/>
        </p:nvSpPr>
        <p:spPr>
          <a:xfrm>
            <a:off x="629412" y="5243840"/>
            <a:ext cx="1791310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Operational Knowledge: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Deep domain expertise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8" name="Image 8" descr="gen-dedup-7c34f875fb7aca722a2f467566e846c8.png">
            <a:extLst>
              <a:ext uri="{FF2B5EF4-FFF2-40B4-BE49-F238E27FC236}">
                <a16:creationId xmlns:a16="http://schemas.microsoft.com/office/drawing/2014/main" id="{540F526F-AC26-A03F-C786-87E720915C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2743505" y="3669243"/>
            <a:ext cx="2133295" cy="2238451"/>
          </a:xfrm>
          <a:prstGeom prst="rect">
            <a:avLst/>
          </a:prstGeom>
        </p:spPr>
      </p:pic>
      <p:sp>
        <p:nvSpPr>
          <p:cNvPr id="70" name="Text 29">
            <a:extLst>
              <a:ext uri="{FF2B5EF4-FFF2-40B4-BE49-F238E27FC236}">
                <a16:creationId xmlns:a16="http://schemas.microsoft.com/office/drawing/2014/main" id="{C9E92F29-B27B-ABB2-D0A6-F114FC136739}"/>
              </a:ext>
            </a:extLst>
          </p:cNvPr>
          <p:cNvSpPr txBox="1"/>
          <p:nvPr/>
        </p:nvSpPr>
        <p:spPr>
          <a:xfrm>
            <a:off x="2915412" y="4355043"/>
            <a:ext cx="17913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Plain-English rationale, thresholds context, evidence trails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30">
            <a:extLst>
              <a:ext uri="{FF2B5EF4-FFF2-40B4-BE49-F238E27FC236}">
                <a16:creationId xmlns:a16="http://schemas.microsoft.com/office/drawing/2014/main" id="{4A51DBFB-9B5A-0C41-3557-637784D90E1A}"/>
              </a:ext>
            </a:extLst>
          </p:cNvPr>
          <p:cNvSpPr/>
          <p:nvPr/>
        </p:nvSpPr>
        <p:spPr>
          <a:xfrm>
            <a:off x="2915412" y="5243840"/>
            <a:ext cx="1790395" cy="495605"/>
          </a:xfrm>
          <a:prstGeom prst="roundRect">
            <a:avLst>
              <a:gd name="adj" fmla="val 4257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Shape 31">
            <a:extLst>
              <a:ext uri="{FF2B5EF4-FFF2-40B4-BE49-F238E27FC236}">
                <a16:creationId xmlns:a16="http://schemas.microsoft.com/office/drawing/2014/main" id="{5A5C7F9A-222A-2800-28E2-D75FDE6CA061}"/>
              </a:ext>
            </a:extLst>
          </p:cNvPr>
          <p:cNvSpPr/>
          <p:nvPr/>
        </p:nvSpPr>
        <p:spPr>
          <a:xfrm>
            <a:off x="2915412" y="5243840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FFC107"/>
          </a:solidFill>
          <a:ln w="12700">
            <a:solidFill>
              <a:srgbClr val="FFC10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D57B3C69-1BFF-2099-79D5-37CE948BE27C}"/>
              </a:ext>
            </a:extLst>
          </p:cNvPr>
          <p:cNvSpPr txBox="1"/>
          <p:nvPr/>
        </p:nvSpPr>
        <p:spPr>
          <a:xfrm>
            <a:off x="2915412" y="5243840"/>
            <a:ext cx="1791310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Transparency: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Clear decision reasoning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8" name="Image 9" descr="gen-dedup-7c34f875fb7aca722a2f467566e846c8.png">
            <a:extLst>
              <a:ext uri="{FF2B5EF4-FFF2-40B4-BE49-F238E27FC236}">
                <a16:creationId xmlns:a16="http://schemas.microsoft.com/office/drawing/2014/main" id="{9AA84804-2915-10C6-6E5F-FEE5A72EE3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5029505" y="3669243"/>
            <a:ext cx="2133295" cy="2238451"/>
          </a:xfrm>
          <a:prstGeom prst="rect">
            <a:avLst/>
          </a:prstGeom>
        </p:spPr>
      </p:pic>
      <p:sp>
        <p:nvSpPr>
          <p:cNvPr id="80" name="Text 33">
            <a:extLst>
              <a:ext uri="{FF2B5EF4-FFF2-40B4-BE49-F238E27FC236}">
                <a16:creationId xmlns:a16="http://schemas.microsoft.com/office/drawing/2014/main" id="{447FA069-A7F4-B0E1-03D8-6FA34D8065FA}"/>
              </a:ext>
            </a:extLst>
          </p:cNvPr>
          <p:cNvSpPr txBox="1"/>
          <p:nvPr/>
        </p:nvSpPr>
        <p:spPr>
          <a:xfrm>
            <a:off x="5201412" y="4355043"/>
            <a:ext cx="17913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Persistent incident knowledge, similarities, analyst actions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Shape 34">
            <a:extLst>
              <a:ext uri="{FF2B5EF4-FFF2-40B4-BE49-F238E27FC236}">
                <a16:creationId xmlns:a16="http://schemas.microsoft.com/office/drawing/2014/main" id="{12EA3A33-F169-022C-9CB4-FCF7F59A586B}"/>
              </a:ext>
            </a:extLst>
          </p:cNvPr>
          <p:cNvSpPr/>
          <p:nvPr/>
        </p:nvSpPr>
        <p:spPr>
          <a:xfrm>
            <a:off x="5201412" y="5243840"/>
            <a:ext cx="1790395" cy="495605"/>
          </a:xfrm>
          <a:prstGeom prst="roundRect">
            <a:avLst>
              <a:gd name="adj" fmla="val 4257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35">
            <a:extLst>
              <a:ext uri="{FF2B5EF4-FFF2-40B4-BE49-F238E27FC236}">
                <a16:creationId xmlns:a16="http://schemas.microsoft.com/office/drawing/2014/main" id="{AACCCB80-4453-74EF-8F88-E172BFA81173}"/>
              </a:ext>
            </a:extLst>
          </p:cNvPr>
          <p:cNvSpPr/>
          <p:nvPr/>
        </p:nvSpPr>
        <p:spPr>
          <a:xfrm>
            <a:off x="5201412" y="5243840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E91E63"/>
          </a:solidFill>
          <a:ln w="12700">
            <a:solidFill>
              <a:srgbClr val="E91E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36">
            <a:extLst>
              <a:ext uri="{FF2B5EF4-FFF2-40B4-BE49-F238E27FC236}">
                <a16:creationId xmlns:a16="http://schemas.microsoft.com/office/drawing/2014/main" id="{89BA0461-5B6A-AA97-5F4F-E58D76BDAF8B}"/>
              </a:ext>
            </a:extLst>
          </p:cNvPr>
          <p:cNvSpPr txBox="1"/>
          <p:nvPr/>
        </p:nvSpPr>
        <p:spPr>
          <a:xfrm>
            <a:off x="5201412" y="5243840"/>
            <a:ext cx="1791310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Knowledge Graph: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Historical pattern recognition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9" name="Image 10" descr="gen-dedup-7c34f875fb7aca722a2f467566e846c8.png">
            <a:extLst>
              <a:ext uri="{FF2B5EF4-FFF2-40B4-BE49-F238E27FC236}">
                <a16:creationId xmlns:a16="http://schemas.microsoft.com/office/drawing/2014/main" id="{C410AE8C-95F7-1182-238E-5CF9C820E1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7315505" y="3669243"/>
            <a:ext cx="2133295" cy="2238451"/>
          </a:xfrm>
          <a:prstGeom prst="rect">
            <a:avLst/>
          </a:prstGeom>
        </p:spPr>
      </p:pic>
      <p:sp>
        <p:nvSpPr>
          <p:cNvPr id="91" name="Text 37">
            <a:extLst>
              <a:ext uri="{FF2B5EF4-FFF2-40B4-BE49-F238E27FC236}">
                <a16:creationId xmlns:a16="http://schemas.microsoft.com/office/drawing/2014/main" id="{FD68A1D6-87C1-ACBA-D329-179CFEEEF270}"/>
              </a:ext>
            </a:extLst>
          </p:cNvPr>
          <p:cNvSpPr txBox="1"/>
          <p:nvPr/>
        </p:nvSpPr>
        <p:spPr>
          <a:xfrm>
            <a:off x="7487412" y="4355043"/>
            <a:ext cx="17913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From insight → action: prefill UDT/threshold updates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38">
            <a:extLst>
              <a:ext uri="{FF2B5EF4-FFF2-40B4-BE49-F238E27FC236}">
                <a16:creationId xmlns:a16="http://schemas.microsoft.com/office/drawing/2014/main" id="{02397CE1-B529-AC11-6E13-E67977EA4578}"/>
              </a:ext>
            </a:extLst>
          </p:cNvPr>
          <p:cNvSpPr/>
          <p:nvPr/>
        </p:nvSpPr>
        <p:spPr>
          <a:xfrm>
            <a:off x="7487412" y="5243840"/>
            <a:ext cx="1790395" cy="495605"/>
          </a:xfrm>
          <a:prstGeom prst="roundRect">
            <a:avLst>
              <a:gd name="adj" fmla="val 4257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Shape 39">
            <a:extLst>
              <a:ext uri="{FF2B5EF4-FFF2-40B4-BE49-F238E27FC236}">
                <a16:creationId xmlns:a16="http://schemas.microsoft.com/office/drawing/2014/main" id="{3CDACCE0-B130-159D-5257-756D96C9401E}"/>
              </a:ext>
            </a:extLst>
          </p:cNvPr>
          <p:cNvSpPr/>
          <p:nvPr/>
        </p:nvSpPr>
        <p:spPr>
          <a:xfrm>
            <a:off x="7487412" y="5243840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3F51B5"/>
          </a:solidFill>
          <a:ln w="12700">
            <a:solidFill>
              <a:srgbClr val="3F51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D7995A74-354A-C085-7057-37D882CA30C9}"/>
              </a:ext>
            </a:extLst>
          </p:cNvPr>
          <p:cNvSpPr txBox="1"/>
          <p:nvPr/>
        </p:nvSpPr>
        <p:spPr>
          <a:xfrm>
            <a:off x="7487412" y="5243840"/>
            <a:ext cx="1791310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Workflow Automation: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End-to-end execution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0" name="Image 11" descr="gen-dedup-7c34f875fb7aca722a2f467566e846c8.png">
            <a:extLst>
              <a:ext uri="{FF2B5EF4-FFF2-40B4-BE49-F238E27FC236}">
                <a16:creationId xmlns:a16="http://schemas.microsoft.com/office/drawing/2014/main" id="{7439DC79-BE06-73A7-3DB1-6719C25A88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9" b="-9"/>
          <a:stretch/>
        </p:blipFill>
        <p:spPr>
          <a:xfrm>
            <a:off x="9601505" y="3669243"/>
            <a:ext cx="2133295" cy="2238451"/>
          </a:xfrm>
          <a:prstGeom prst="rect">
            <a:avLst/>
          </a:prstGeom>
        </p:spPr>
      </p:pic>
      <p:sp>
        <p:nvSpPr>
          <p:cNvPr id="102" name="Text 41">
            <a:extLst>
              <a:ext uri="{FF2B5EF4-FFF2-40B4-BE49-F238E27FC236}">
                <a16:creationId xmlns:a16="http://schemas.microsoft.com/office/drawing/2014/main" id="{53BB011A-6DB4-2813-4145-AA526004DCD9}"/>
              </a:ext>
            </a:extLst>
          </p:cNvPr>
          <p:cNvSpPr txBox="1"/>
          <p:nvPr/>
        </p:nvSpPr>
        <p:spPr>
          <a:xfrm>
            <a:off x="9773412" y="4355043"/>
            <a:ext cx="17913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444444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Enterprise delivery, governance, auditability, rollout readiness</a:t>
            </a:r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Shape 42">
            <a:extLst>
              <a:ext uri="{FF2B5EF4-FFF2-40B4-BE49-F238E27FC236}">
                <a16:creationId xmlns:a16="http://schemas.microsoft.com/office/drawing/2014/main" id="{6DBB4A11-5AE0-06A6-9629-D45F0E00842B}"/>
              </a:ext>
            </a:extLst>
          </p:cNvPr>
          <p:cNvSpPr/>
          <p:nvPr/>
        </p:nvSpPr>
        <p:spPr>
          <a:xfrm>
            <a:off x="9773412" y="5243840"/>
            <a:ext cx="1790395" cy="495605"/>
          </a:xfrm>
          <a:prstGeom prst="roundRect">
            <a:avLst>
              <a:gd name="adj" fmla="val 4257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Shape 43">
            <a:extLst>
              <a:ext uri="{FF2B5EF4-FFF2-40B4-BE49-F238E27FC236}">
                <a16:creationId xmlns:a16="http://schemas.microsoft.com/office/drawing/2014/main" id="{A9C70AFD-8AC5-0D3C-D85A-19115B633936}"/>
              </a:ext>
            </a:extLst>
          </p:cNvPr>
          <p:cNvSpPr/>
          <p:nvPr/>
        </p:nvSpPr>
        <p:spPr>
          <a:xfrm>
            <a:off x="9773412" y="5243840"/>
            <a:ext cx="28346" cy="495605"/>
          </a:xfrm>
          <a:prstGeom prst="roundRect">
            <a:avLst>
              <a:gd name="adj" fmla="val 744427"/>
            </a:avLst>
          </a:prstGeom>
          <a:solidFill>
            <a:srgbClr val="00BCD4"/>
          </a:solidFill>
          <a:ln w="12700">
            <a:solidFill>
              <a:srgbClr val="00BC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 44">
            <a:extLst>
              <a:ext uri="{FF2B5EF4-FFF2-40B4-BE49-F238E27FC236}">
                <a16:creationId xmlns:a16="http://schemas.microsoft.com/office/drawing/2014/main" id="{9511EA71-6B76-B972-BB05-D6F30525FA4E}"/>
              </a:ext>
            </a:extLst>
          </p:cNvPr>
          <p:cNvSpPr txBox="1"/>
          <p:nvPr/>
        </p:nvSpPr>
        <p:spPr>
          <a:xfrm>
            <a:off x="9773412" y="5243840"/>
            <a:ext cx="1791310" cy="4956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Production-Ready:</a:t>
            </a:r>
            <a:r>
              <a:rPr lang="en-US" sz="800">
                <a:solidFill>
                  <a:srgbClr val="222222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Scalable architecture 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46">
            <a:extLst>
              <a:ext uri="{FF2B5EF4-FFF2-40B4-BE49-F238E27FC236}">
                <a16:creationId xmlns:a16="http://schemas.microsoft.com/office/drawing/2014/main" id="{A24E4AF6-9A26-9BC0-629E-093332849810}"/>
              </a:ext>
            </a:extLst>
          </p:cNvPr>
          <p:cNvSpPr/>
          <p:nvPr/>
        </p:nvSpPr>
        <p:spPr>
          <a:xfrm>
            <a:off x="305" y="5840943"/>
            <a:ext cx="12191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 50">
            <a:extLst>
              <a:ext uri="{FF2B5EF4-FFF2-40B4-BE49-F238E27FC236}">
                <a16:creationId xmlns:a16="http://schemas.microsoft.com/office/drawing/2014/main" id="{8BDFA715-2BCC-2029-5D49-35E0C049CD81}"/>
              </a:ext>
            </a:extLst>
          </p:cNvPr>
          <p:cNvSpPr txBox="1"/>
          <p:nvPr/>
        </p:nvSpPr>
        <p:spPr>
          <a:xfrm>
            <a:off x="2192122" y="1354896"/>
            <a:ext cx="34015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01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Text 51">
            <a:extLst>
              <a:ext uri="{FF2B5EF4-FFF2-40B4-BE49-F238E27FC236}">
                <a16:creationId xmlns:a16="http://schemas.microsoft.com/office/drawing/2014/main" id="{B744424E-A750-BEAA-E073-B679177110CB}"/>
              </a:ext>
            </a:extLst>
          </p:cNvPr>
          <p:cNvSpPr txBox="1"/>
          <p:nvPr/>
        </p:nvSpPr>
        <p:spPr>
          <a:xfrm>
            <a:off x="4425087" y="1354896"/>
            <a:ext cx="3429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02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Text 52">
            <a:extLst>
              <a:ext uri="{FF2B5EF4-FFF2-40B4-BE49-F238E27FC236}">
                <a16:creationId xmlns:a16="http://schemas.microsoft.com/office/drawing/2014/main" id="{A2319DD3-E0E0-E246-0C46-96259330DB81}"/>
              </a:ext>
            </a:extLst>
          </p:cNvPr>
          <p:cNvSpPr txBox="1"/>
          <p:nvPr/>
        </p:nvSpPr>
        <p:spPr>
          <a:xfrm>
            <a:off x="6712001" y="1354896"/>
            <a:ext cx="3429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03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 53">
            <a:extLst>
              <a:ext uri="{FF2B5EF4-FFF2-40B4-BE49-F238E27FC236}">
                <a16:creationId xmlns:a16="http://schemas.microsoft.com/office/drawing/2014/main" id="{EE7BAEC5-D6AE-0665-927E-64C40C21B706}"/>
              </a:ext>
            </a:extLst>
          </p:cNvPr>
          <p:cNvSpPr txBox="1"/>
          <p:nvPr/>
        </p:nvSpPr>
        <p:spPr>
          <a:xfrm>
            <a:off x="8969655" y="1354896"/>
            <a:ext cx="372161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04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 54">
            <a:extLst>
              <a:ext uri="{FF2B5EF4-FFF2-40B4-BE49-F238E27FC236}">
                <a16:creationId xmlns:a16="http://schemas.microsoft.com/office/drawing/2014/main" id="{B0FA3B1E-0C8D-A90B-966F-480994E26F84}"/>
              </a:ext>
            </a:extLst>
          </p:cNvPr>
          <p:cNvSpPr txBox="1"/>
          <p:nvPr/>
        </p:nvSpPr>
        <p:spPr>
          <a:xfrm>
            <a:off x="11281258" y="1354896"/>
            <a:ext cx="3429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05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 55">
            <a:extLst>
              <a:ext uri="{FF2B5EF4-FFF2-40B4-BE49-F238E27FC236}">
                <a16:creationId xmlns:a16="http://schemas.microsoft.com/office/drawing/2014/main" id="{86B51F7F-2B57-1A93-A919-776BA7873934}"/>
              </a:ext>
            </a:extLst>
          </p:cNvPr>
          <p:cNvSpPr txBox="1"/>
          <p:nvPr/>
        </p:nvSpPr>
        <p:spPr>
          <a:xfrm>
            <a:off x="2125371" y="3745138"/>
            <a:ext cx="3529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06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Text 56">
            <a:extLst>
              <a:ext uri="{FF2B5EF4-FFF2-40B4-BE49-F238E27FC236}">
                <a16:creationId xmlns:a16="http://schemas.microsoft.com/office/drawing/2014/main" id="{617F4E3A-FC2C-012E-AA01-B9293A0B5C89}"/>
              </a:ext>
            </a:extLst>
          </p:cNvPr>
          <p:cNvSpPr txBox="1"/>
          <p:nvPr/>
        </p:nvSpPr>
        <p:spPr>
          <a:xfrm>
            <a:off x="4416857" y="3745138"/>
            <a:ext cx="3529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07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4" name="Text 57">
            <a:extLst>
              <a:ext uri="{FF2B5EF4-FFF2-40B4-BE49-F238E27FC236}">
                <a16:creationId xmlns:a16="http://schemas.microsoft.com/office/drawing/2014/main" id="{969C79E7-FB1B-6CEC-951C-5ADE3F05EB5F}"/>
              </a:ext>
            </a:extLst>
          </p:cNvPr>
          <p:cNvSpPr txBox="1"/>
          <p:nvPr/>
        </p:nvSpPr>
        <p:spPr>
          <a:xfrm>
            <a:off x="6691884" y="3745138"/>
            <a:ext cx="36210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08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8" name="Text 58">
            <a:extLst>
              <a:ext uri="{FF2B5EF4-FFF2-40B4-BE49-F238E27FC236}">
                <a16:creationId xmlns:a16="http://schemas.microsoft.com/office/drawing/2014/main" id="{F5EE80D4-72B0-3659-CF08-660364A0A78B}"/>
              </a:ext>
            </a:extLst>
          </p:cNvPr>
          <p:cNvSpPr txBox="1"/>
          <p:nvPr/>
        </p:nvSpPr>
        <p:spPr>
          <a:xfrm>
            <a:off x="8983371" y="3745138"/>
            <a:ext cx="352958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09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" name="Text 59">
            <a:extLst>
              <a:ext uri="{FF2B5EF4-FFF2-40B4-BE49-F238E27FC236}">
                <a16:creationId xmlns:a16="http://schemas.microsoft.com/office/drawing/2014/main" id="{E9B0ADE9-F3B7-40AC-5A01-95D53C6D1601}"/>
              </a:ext>
            </a:extLst>
          </p:cNvPr>
          <p:cNvSpPr txBox="1"/>
          <p:nvPr/>
        </p:nvSpPr>
        <p:spPr>
          <a:xfrm>
            <a:off x="11335207" y="3745138"/>
            <a:ext cx="340157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>
                <a:solidFill>
                  <a:srgbClr val="000000">
                    <a:alpha val="5000"/>
                  </a:srgbClr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10</a:t>
            </a:r>
            <a:endParaRPr lang="en-US" sz="2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6" name="Image 14" descr="gen-dedup-0602335dc6b23df49872b3ce77063367.png">
            <a:extLst>
              <a:ext uri="{FF2B5EF4-FFF2-40B4-BE49-F238E27FC236}">
                <a16:creationId xmlns:a16="http://schemas.microsoft.com/office/drawing/2014/main" id="{02B8C0BC-8088-D2CD-C20F-C47D144CB8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9412" y="1449994"/>
            <a:ext cx="362102" cy="362102"/>
          </a:xfrm>
          <a:prstGeom prst="rect">
            <a:avLst/>
          </a:prstGeom>
        </p:spPr>
      </p:pic>
      <p:pic>
        <p:nvPicPr>
          <p:cNvPr id="160" name="Image 15" descr="gen-dedup-638dbc0d6198147712c8ead7f7261051.png">
            <a:extLst>
              <a:ext uri="{FF2B5EF4-FFF2-40B4-BE49-F238E27FC236}">
                <a16:creationId xmlns:a16="http://schemas.microsoft.com/office/drawing/2014/main" id="{2812F248-39C3-D7E2-7F8D-5C125A8FA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4451" y="1556028"/>
            <a:ext cx="190195" cy="150948"/>
          </a:xfrm>
          <a:prstGeom prst="rect">
            <a:avLst/>
          </a:prstGeom>
        </p:spPr>
      </p:pic>
      <p:sp>
        <p:nvSpPr>
          <p:cNvPr id="164" name="Text 60">
            <a:extLst>
              <a:ext uri="{FF2B5EF4-FFF2-40B4-BE49-F238E27FC236}">
                <a16:creationId xmlns:a16="http://schemas.microsoft.com/office/drawing/2014/main" id="{6946A154-DF20-E9B2-6874-98A795A6E200}"/>
              </a:ext>
            </a:extLst>
          </p:cNvPr>
          <p:cNvSpPr txBox="1"/>
          <p:nvPr/>
        </p:nvSpPr>
        <p:spPr>
          <a:xfrm>
            <a:off x="1086612" y="1471025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Deep Customization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8" name="Image 16" descr="gen-dedup-41f46b47ed405a968b7e73651b9161d7.png">
            <a:extLst>
              <a:ext uri="{FF2B5EF4-FFF2-40B4-BE49-F238E27FC236}">
                <a16:creationId xmlns:a16="http://schemas.microsoft.com/office/drawing/2014/main" id="{BF8C061A-001D-A6DC-06C8-1B9C153EBE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15412" y="1449994"/>
            <a:ext cx="362102" cy="362102"/>
          </a:xfrm>
          <a:prstGeom prst="rect">
            <a:avLst/>
          </a:prstGeom>
        </p:spPr>
      </p:pic>
      <p:pic>
        <p:nvPicPr>
          <p:cNvPr id="172" name="Image 17" descr="gen-dedup-17f0c8660ab62f8cb9e76e369cdda9e5.png">
            <a:extLst>
              <a:ext uri="{FF2B5EF4-FFF2-40B4-BE49-F238E27FC236}">
                <a16:creationId xmlns:a16="http://schemas.microsoft.com/office/drawing/2014/main" id="{CB4708A7-40E1-8008-A983-92ED8FF097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3000451" y="1556028"/>
            <a:ext cx="190195" cy="150948"/>
          </a:xfrm>
          <a:prstGeom prst="rect">
            <a:avLst/>
          </a:prstGeom>
        </p:spPr>
      </p:pic>
      <p:sp>
        <p:nvSpPr>
          <p:cNvPr id="176" name="Text 61">
            <a:extLst>
              <a:ext uri="{FF2B5EF4-FFF2-40B4-BE49-F238E27FC236}">
                <a16:creationId xmlns:a16="http://schemas.microsoft.com/office/drawing/2014/main" id="{DD7B3269-8F6A-6596-F064-9665476FAD5E}"/>
              </a:ext>
            </a:extLst>
          </p:cNvPr>
          <p:cNvSpPr txBox="1"/>
          <p:nvPr/>
        </p:nvSpPr>
        <p:spPr>
          <a:xfrm>
            <a:off x="3372612" y="1471025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Technology Neutral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0" name="Image 18" descr="gen-dedup-f6b09ab7d735f4895658cfc6e4d04b2f.png">
            <a:extLst>
              <a:ext uri="{FF2B5EF4-FFF2-40B4-BE49-F238E27FC236}">
                <a16:creationId xmlns:a16="http://schemas.microsoft.com/office/drawing/2014/main" id="{7BEF615B-91B5-D307-AB66-D7D54FC51AD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201412" y="1449994"/>
            <a:ext cx="362102" cy="362102"/>
          </a:xfrm>
          <a:prstGeom prst="rect">
            <a:avLst/>
          </a:prstGeom>
        </p:spPr>
      </p:pic>
      <p:pic>
        <p:nvPicPr>
          <p:cNvPr id="184" name="Image 19" descr="gen-dedup-bfcbf5e19ee44c2c97846cd3bb56bdd4.png">
            <a:extLst>
              <a:ext uri="{FF2B5EF4-FFF2-40B4-BE49-F238E27FC236}">
                <a16:creationId xmlns:a16="http://schemas.microsoft.com/office/drawing/2014/main" id="{B77FA8D8-C1D9-71CF-8D55-FF524FC6FD4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305654" y="1555150"/>
            <a:ext cx="152705" cy="152705"/>
          </a:xfrm>
          <a:prstGeom prst="rect">
            <a:avLst/>
          </a:prstGeom>
        </p:spPr>
      </p:pic>
      <p:sp>
        <p:nvSpPr>
          <p:cNvPr id="188" name="Text 62">
            <a:extLst>
              <a:ext uri="{FF2B5EF4-FFF2-40B4-BE49-F238E27FC236}">
                <a16:creationId xmlns:a16="http://schemas.microsoft.com/office/drawing/2014/main" id="{D8D0BFB4-9F78-A345-795A-D07262DE9471}"/>
              </a:ext>
            </a:extLst>
          </p:cNvPr>
          <p:cNvSpPr txBox="1"/>
          <p:nvPr/>
        </p:nvSpPr>
        <p:spPr>
          <a:xfrm>
            <a:off x="5658612" y="1471025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Faster Time-to-Value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2" name="Image 20" descr="gen-dedup-7a99c2d1de70c979b45bade20503759c.png">
            <a:extLst>
              <a:ext uri="{FF2B5EF4-FFF2-40B4-BE49-F238E27FC236}">
                <a16:creationId xmlns:a16="http://schemas.microsoft.com/office/drawing/2014/main" id="{363959F2-C548-DBDC-63E1-3C4A803ABD6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87412" y="1449994"/>
            <a:ext cx="362102" cy="362102"/>
          </a:xfrm>
          <a:prstGeom prst="rect">
            <a:avLst/>
          </a:prstGeom>
        </p:spPr>
      </p:pic>
      <p:pic>
        <p:nvPicPr>
          <p:cNvPr id="196" name="Image 21" descr="gen-dedup-08f0ca820c6a55667fd1106f8223fb28.png">
            <a:extLst>
              <a:ext uri="{FF2B5EF4-FFF2-40B4-BE49-F238E27FC236}">
                <a16:creationId xmlns:a16="http://schemas.microsoft.com/office/drawing/2014/main" id="{E4AFF63C-5CC7-E2BC-0C6B-195218A984DD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591654" y="1555150"/>
            <a:ext cx="152705" cy="152705"/>
          </a:xfrm>
          <a:prstGeom prst="rect">
            <a:avLst/>
          </a:prstGeom>
        </p:spPr>
      </p:pic>
      <p:sp>
        <p:nvSpPr>
          <p:cNvPr id="200" name="Text 63">
            <a:extLst>
              <a:ext uri="{FF2B5EF4-FFF2-40B4-BE49-F238E27FC236}">
                <a16:creationId xmlns:a16="http://schemas.microsoft.com/office/drawing/2014/main" id="{C83F33DC-4E05-C7A4-998E-7D4577746DB3}"/>
              </a:ext>
            </a:extLst>
          </p:cNvPr>
          <p:cNvSpPr txBox="1"/>
          <p:nvPr/>
        </p:nvSpPr>
        <p:spPr>
          <a:xfrm>
            <a:off x="7944612" y="1471025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Hybrid Build-Transfer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4" name="Image 22" descr="gen-dedup-182c1a6685b68265ef05b48d6cccc4f0.png">
            <a:extLst>
              <a:ext uri="{FF2B5EF4-FFF2-40B4-BE49-F238E27FC236}">
                <a16:creationId xmlns:a16="http://schemas.microsoft.com/office/drawing/2014/main" id="{32A2E2C4-51FB-0982-33A1-F7149534F46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773412" y="1449994"/>
            <a:ext cx="362102" cy="362102"/>
          </a:xfrm>
          <a:prstGeom prst="rect">
            <a:avLst/>
          </a:prstGeom>
        </p:spPr>
      </p:pic>
      <p:pic>
        <p:nvPicPr>
          <p:cNvPr id="208" name="Image 23" descr="gen-dedup-903b17da1a704e237cabbd7291c4aa5e.png">
            <a:extLst>
              <a:ext uri="{FF2B5EF4-FFF2-40B4-BE49-F238E27FC236}">
                <a16:creationId xmlns:a16="http://schemas.microsoft.com/office/drawing/2014/main" id="{22CAB972-5CC8-3144-EC4D-F1FDE30FEEE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-43" b="-43"/>
          <a:stretch/>
        </p:blipFill>
        <p:spPr>
          <a:xfrm>
            <a:off x="9887712" y="1555150"/>
            <a:ext cx="133502" cy="152705"/>
          </a:xfrm>
          <a:prstGeom prst="rect">
            <a:avLst/>
          </a:prstGeom>
        </p:spPr>
      </p:pic>
      <p:sp>
        <p:nvSpPr>
          <p:cNvPr id="212" name="Text 64">
            <a:extLst>
              <a:ext uri="{FF2B5EF4-FFF2-40B4-BE49-F238E27FC236}">
                <a16:creationId xmlns:a16="http://schemas.microsoft.com/office/drawing/2014/main" id="{36562584-BA5E-1D70-0E46-9B2166D589BE}"/>
              </a:ext>
            </a:extLst>
          </p:cNvPr>
          <p:cNvSpPr txBox="1"/>
          <p:nvPr/>
        </p:nvSpPr>
        <p:spPr>
          <a:xfrm>
            <a:off x="10230612" y="1471025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Practical Execution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6" name="Image 24" descr="gen-dedup-4a2ddeac3d4d0c4957f571965bb707e6.png">
            <a:extLst>
              <a:ext uri="{FF2B5EF4-FFF2-40B4-BE49-F238E27FC236}">
                <a16:creationId xmlns:a16="http://schemas.microsoft.com/office/drawing/2014/main" id="{BA8346FC-BFF4-FCEE-CECC-7766189D2AF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629412" y="3841150"/>
            <a:ext cx="362102" cy="362102"/>
          </a:xfrm>
          <a:prstGeom prst="rect">
            <a:avLst/>
          </a:prstGeom>
        </p:spPr>
      </p:pic>
      <p:pic>
        <p:nvPicPr>
          <p:cNvPr id="220" name="Image 25" descr="gen-dedup-e7931ddbac9422716787533cd6b02071.png">
            <a:extLst>
              <a:ext uri="{FF2B5EF4-FFF2-40B4-BE49-F238E27FC236}">
                <a16:creationId xmlns:a16="http://schemas.microsoft.com/office/drawing/2014/main" id="{7C7BF412-B714-9DEE-1342-FB05208E3A2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733654" y="3945392"/>
            <a:ext cx="152705" cy="152705"/>
          </a:xfrm>
          <a:prstGeom prst="rect">
            <a:avLst/>
          </a:prstGeom>
        </p:spPr>
      </p:pic>
      <p:sp>
        <p:nvSpPr>
          <p:cNvPr id="224" name="Text 65">
            <a:extLst>
              <a:ext uri="{FF2B5EF4-FFF2-40B4-BE49-F238E27FC236}">
                <a16:creationId xmlns:a16="http://schemas.microsoft.com/office/drawing/2014/main" id="{029ACF84-5010-BCC7-1003-FBE39893F2C7}"/>
              </a:ext>
            </a:extLst>
          </p:cNvPr>
          <p:cNvSpPr txBox="1"/>
          <p:nvPr/>
        </p:nvSpPr>
        <p:spPr>
          <a:xfrm>
            <a:off x="1086612" y="3862181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Domain-First Approach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8" name="Image 26" descr="gen-dedup-5f18c2d7dc2504765744c9ad0c297473.png">
            <a:extLst>
              <a:ext uri="{FF2B5EF4-FFF2-40B4-BE49-F238E27FC236}">
                <a16:creationId xmlns:a16="http://schemas.microsoft.com/office/drawing/2014/main" id="{27F569BB-7B35-E6EF-3861-EA93B83709D0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2915412" y="3841150"/>
            <a:ext cx="362102" cy="362102"/>
          </a:xfrm>
          <a:prstGeom prst="rect">
            <a:avLst/>
          </a:prstGeom>
        </p:spPr>
      </p:pic>
      <p:pic>
        <p:nvPicPr>
          <p:cNvPr id="232" name="Image 27" descr="gen-dedup-a346ac74c4a71f03712fc9b7f44b7526.png">
            <a:extLst>
              <a:ext uri="{FF2B5EF4-FFF2-40B4-BE49-F238E27FC236}">
                <a16:creationId xmlns:a16="http://schemas.microsoft.com/office/drawing/2014/main" id="{427FB998-D61A-F88B-F604-89FD58AEB12A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-33" r="-33"/>
          <a:stretch/>
        </p:blipFill>
        <p:spPr>
          <a:xfrm>
            <a:off x="3010510" y="3945392"/>
            <a:ext cx="171907" cy="152705"/>
          </a:xfrm>
          <a:prstGeom prst="rect">
            <a:avLst/>
          </a:prstGeom>
        </p:spPr>
      </p:pic>
      <p:sp>
        <p:nvSpPr>
          <p:cNvPr id="236" name="Text 66">
            <a:extLst>
              <a:ext uri="{FF2B5EF4-FFF2-40B4-BE49-F238E27FC236}">
                <a16:creationId xmlns:a16="http://schemas.microsoft.com/office/drawing/2014/main" id="{37ADE579-7168-B2AB-2F7C-F6278046D2B4}"/>
              </a:ext>
            </a:extLst>
          </p:cNvPr>
          <p:cNvSpPr txBox="1"/>
          <p:nvPr/>
        </p:nvSpPr>
        <p:spPr>
          <a:xfrm>
            <a:off x="3372612" y="3941734"/>
            <a:ext cx="1307592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Explainable AI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0" name="Image 28" descr="gen-dedup-01247f9ea596f1e37aed4c26dca27f19.png">
            <a:extLst>
              <a:ext uri="{FF2B5EF4-FFF2-40B4-BE49-F238E27FC236}">
                <a16:creationId xmlns:a16="http://schemas.microsoft.com/office/drawing/2014/main" id="{37BA9C47-AC71-96DB-27B2-24FE2DD1B5AE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5201412" y="3841150"/>
            <a:ext cx="362102" cy="362102"/>
          </a:xfrm>
          <a:prstGeom prst="rect">
            <a:avLst/>
          </a:prstGeom>
        </p:spPr>
      </p:pic>
      <p:pic>
        <p:nvPicPr>
          <p:cNvPr id="244" name="Image 29" descr="gen-dedup-88653e70f4df72983c8da2e65ff59f50.png">
            <a:extLst>
              <a:ext uri="{FF2B5EF4-FFF2-40B4-BE49-F238E27FC236}">
                <a16:creationId xmlns:a16="http://schemas.microsoft.com/office/drawing/2014/main" id="{4CDA1367-B61F-ADE5-8D0F-8E0FE069BD45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-33" r="-33"/>
          <a:stretch/>
        </p:blipFill>
        <p:spPr>
          <a:xfrm>
            <a:off x="5296510" y="3945392"/>
            <a:ext cx="171907" cy="152705"/>
          </a:xfrm>
          <a:prstGeom prst="rect">
            <a:avLst/>
          </a:prstGeom>
        </p:spPr>
      </p:pic>
      <p:sp>
        <p:nvSpPr>
          <p:cNvPr id="248" name="Text 67">
            <a:extLst>
              <a:ext uri="{FF2B5EF4-FFF2-40B4-BE49-F238E27FC236}">
                <a16:creationId xmlns:a16="http://schemas.microsoft.com/office/drawing/2014/main" id="{160BFCC7-2B5B-D350-274B-98770389C1D1}"/>
              </a:ext>
            </a:extLst>
          </p:cNvPr>
          <p:cNvSpPr txBox="1"/>
          <p:nvPr/>
        </p:nvSpPr>
        <p:spPr>
          <a:xfrm>
            <a:off x="5658612" y="3862181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Organizational Memory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2" name="Image 30" descr="gen-dedup-9f7fd5193d2f51b9359a6c223adb4ef8.png">
            <a:extLst>
              <a:ext uri="{FF2B5EF4-FFF2-40B4-BE49-F238E27FC236}">
                <a16:creationId xmlns:a16="http://schemas.microsoft.com/office/drawing/2014/main" id="{3307D2C6-B235-8DA0-2946-3486C19E1280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7487412" y="3841150"/>
            <a:ext cx="362102" cy="362102"/>
          </a:xfrm>
          <a:prstGeom prst="rect">
            <a:avLst/>
          </a:prstGeom>
        </p:spPr>
      </p:pic>
      <p:pic>
        <p:nvPicPr>
          <p:cNvPr id="256" name="Image 31" descr="gen-dedup-c844617d5233112857dcc765d775991c.png">
            <a:extLst>
              <a:ext uri="{FF2B5EF4-FFF2-40B4-BE49-F238E27FC236}">
                <a16:creationId xmlns:a16="http://schemas.microsoft.com/office/drawing/2014/main" id="{77223E9B-D87E-237E-E9F2-54B973CBD38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7572451" y="3946270"/>
            <a:ext cx="190195" cy="150948"/>
          </a:xfrm>
          <a:prstGeom prst="rect">
            <a:avLst/>
          </a:prstGeom>
        </p:spPr>
      </p:pic>
      <p:sp>
        <p:nvSpPr>
          <p:cNvPr id="260" name="Text 68">
            <a:extLst>
              <a:ext uri="{FF2B5EF4-FFF2-40B4-BE49-F238E27FC236}">
                <a16:creationId xmlns:a16="http://schemas.microsoft.com/office/drawing/2014/main" id="{06ED146D-9CBE-D8FE-F1D5-9088075778B7}"/>
              </a:ext>
            </a:extLst>
          </p:cNvPr>
          <p:cNvSpPr txBox="1"/>
          <p:nvPr/>
        </p:nvSpPr>
        <p:spPr>
          <a:xfrm>
            <a:off x="7944612" y="3862181"/>
            <a:ext cx="13341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Agentic Automation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4" name="Image 32" descr="gen-dedup-e173460913ab9e46c52f3fd03f0c4e93.png">
            <a:extLst>
              <a:ext uri="{FF2B5EF4-FFF2-40B4-BE49-F238E27FC236}">
                <a16:creationId xmlns:a16="http://schemas.microsoft.com/office/drawing/2014/main" id="{F9BF3145-523C-8345-8C34-ECA91777124D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9773412" y="3841150"/>
            <a:ext cx="362102" cy="362102"/>
          </a:xfrm>
          <a:prstGeom prst="rect">
            <a:avLst/>
          </a:prstGeom>
        </p:spPr>
      </p:pic>
      <p:pic>
        <p:nvPicPr>
          <p:cNvPr id="268" name="Image 33" descr="gen-dedup-5adfa9e96a526e2f0e1c77ec698518f7.png">
            <a:extLst>
              <a:ext uri="{FF2B5EF4-FFF2-40B4-BE49-F238E27FC236}">
                <a16:creationId xmlns:a16="http://schemas.microsoft.com/office/drawing/2014/main" id="{E41EC8E0-266D-8360-2E68-C08E2FB9E278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9877654" y="3945392"/>
            <a:ext cx="152705" cy="152705"/>
          </a:xfrm>
          <a:prstGeom prst="rect">
            <a:avLst/>
          </a:prstGeom>
        </p:spPr>
      </p:pic>
      <p:sp>
        <p:nvSpPr>
          <p:cNvPr id="272" name="Text 69">
            <a:extLst>
              <a:ext uri="{FF2B5EF4-FFF2-40B4-BE49-F238E27FC236}">
                <a16:creationId xmlns:a16="http://schemas.microsoft.com/office/drawing/2014/main" id="{39FDF7DD-FBB1-D7C1-E8D6-9F5EEA5F92D8}"/>
              </a:ext>
            </a:extLst>
          </p:cNvPr>
          <p:cNvSpPr txBox="1"/>
          <p:nvPr/>
        </p:nvSpPr>
        <p:spPr>
          <a:xfrm>
            <a:off x="10230612" y="3941734"/>
            <a:ext cx="1678838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A1F3E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Path to Production</a:t>
            </a:r>
            <a:endParaRPr 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5E836-AA72-76F7-F150-8681DBA6F23C}"/>
              </a:ext>
            </a:extLst>
          </p:cNvPr>
          <p:cNvSpPr txBox="1">
            <a:spLocks/>
          </p:cNvSpPr>
          <p:nvPr/>
        </p:nvSpPr>
        <p:spPr>
          <a:xfrm>
            <a:off x="4115072" y="6348708"/>
            <a:ext cx="319084" cy="238056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993D159C-F19D-3941-B688-D20A2C6F57D4}" type="slidenum">
              <a:rPr lang="en-US" sz="600" b="0" smtClean="0">
                <a:solidFill>
                  <a:schemeClr val="bg1"/>
                </a:solidFill>
                <a:latin typeface="Arial" panose="020B0604020202020204" pitchFamily="34" charset="0"/>
              </a:rPr>
              <a:pPr algn="l"/>
              <a:t>22</a:t>
            </a:fld>
            <a:endParaRPr lang="en-US" sz="600" b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FD810-A647-E002-09A0-4AA2ECF06C65}"/>
              </a:ext>
            </a:extLst>
          </p:cNvPr>
          <p:cNvSpPr txBox="1"/>
          <p:nvPr/>
        </p:nvSpPr>
        <p:spPr>
          <a:xfrm>
            <a:off x="565856" y="6252292"/>
            <a:ext cx="3533975" cy="430887"/>
          </a:xfrm>
          <a:prstGeom prst="rect">
            <a:avLst/>
          </a:prstGeom>
        </p:spPr>
        <p:txBody>
          <a:bodyPr lIns="46800" tIns="46800" rIns="46800" anchor="ctr"/>
          <a:lstStyle>
            <a:defPPr>
              <a:defRPr lang="en-US"/>
            </a:defPPr>
            <a:lvl1pPr algn="r">
              <a:defRPr sz="110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 sz="600" noProof="0">
                <a:solidFill>
                  <a:schemeClr val="bg1"/>
                </a:solidFill>
                <a:latin typeface="Arial" panose="020B0604020202020204" pitchFamily="34" charset="0"/>
              </a:rPr>
              <a:t>Confidential Information – For intended recipients only. Apexon, Copyright © 2026 All rights reserved.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6F46D9-13CF-CD5E-97C6-002E57E3D05B}"/>
              </a:ext>
            </a:extLst>
          </p:cNvPr>
          <p:cNvCxnSpPr>
            <a:cxnSpLocks/>
          </p:cNvCxnSpPr>
          <p:nvPr/>
        </p:nvCxnSpPr>
        <p:spPr>
          <a:xfrm flipV="1">
            <a:off x="4105111" y="6407417"/>
            <a:ext cx="0" cy="119028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A4A457A-B788-0472-D84C-32E09F67F3FC}"/>
              </a:ext>
            </a:extLst>
          </p:cNvPr>
          <p:cNvGrpSpPr>
            <a:grpSpLocks noChangeAspect="1"/>
          </p:cNvGrpSpPr>
          <p:nvPr/>
        </p:nvGrpSpPr>
        <p:grpSpPr>
          <a:xfrm>
            <a:off x="10610860" y="6352845"/>
            <a:ext cx="971740" cy="255597"/>
            <a:chOff x="10498770" y="812407"/>
            <a:chExt cx="1228658" cy="323175"/>
          </a:xfrm>
          <a:solidFill>
            <a:schemeClr val="bg1"/>
          </a:solidFill>
        </p:grpSpPr>
        <p:sp>
          <p:nvSpPr>
            <p:cNvPr id="13" name="Freeform: Shape 3">
              <a:extLst>
                <a:ext uri="{FF2B5EF4-FFF2-40B4-BE49-F238E27FC236}">
                  <a16:creationId xmlns:a16="http://schemas.microsoft.com/office/drawing/2014/main" id="{8693ABA1-26E5-B107-DD61-A5C9AB8AA594}"/>
                </a:ext>
              </a:extLst>
            </p:cNvPr>
            <p:cNvSpPr/>
            <p:nvPr/>
          </p:nvSpPr>
          <p:spPr>
            <a:xfrm>
              <a:off x="11608083" y="946820"/>
              <a:ext cx="119345" cy="120004"/>
            </a:xfrm>
            <a:custGeom>
              <a:avLst/>
              <a:gdLst>
                <a:gd name="connsiteX0" fmla="*/ 103032 w 119345"/>
                <a:gd name="connsiteY0" fmla="*/ 15886 h 120004"/>
                <a:gd name="connsiteX1" fmla="*/ 56474 w 119345"/>
                <a:gd name="connsiteY1" fmla="*/ 963 h 120004"/>
                <a:gd name="connsiteX2" fmla="*/ 3561 w 119345"/>
                <a:gd name="connsiteY2" fmla="*/ 61883 h 120004"/>
                <a:gd name="connsiteX3" fmla="*/ 3561 w 119345"/>
                <a:gd name="connsiteY3" fmla="*/ 116663 h 120004"/>
                <a:gd name="connsiteX4" fmla="*/ 7467 w 119345"/>
                <a:gd name="connsiteY4" fmla="*/ 120594 h 120004"/>
                <a:gd name="connsiteX5" fmla="*/ 21157 w 119345"/>
                <a:gd name="connsiteY5" fmla="*/ 120594 h 120004"/>
                <a:gd name="connsiteX6" fmla="*/ 25063 w 119345"/>
                <a:gd name="connsiteY6" fmla="*/ 116663 h 120004"/>
                <a:gd name="connsiteX7" fmla="*/ 25063 w 119345"/>
                <a:gd name="connsiteY7" fmla="*/ 61883 h 120004"/>
                <a:gd name="connsiteX8" fmla="*/ 58839 w 119345"/>
                <a:gd name="connsiteY8" fmla="*/ 22450 h 120004"/>
                <a:gd name="connsiteX9" fmla="*/ 88936 w 119345"/>
                <a:gd name="connsiteY9" fmla="*/ 32213 h 120004"/>
                <a:gd name="connsiteX10" fmla="*/ 101407 w 119345"/>
                <a:gd name="connsiteY10" fmla="*/ 61842 h 120004"/>
                <a:gd name="connsiteX11" fmla="*/ 101407 w 119345"/>
                <a:gd name="connsiteY11" fmla="*/ 116663 h 120004"/>
                <a:gd name="connsiteX12" fmla="*/ 105313 w 119345"/>
                <a:gd name="connsiteY12" fmla="*/ 120594 h 120004"/>
                <a:gd name="connsiteX13" fmla="*/ 118992 w 119345"/>
                <a:gd name="connsiteY13" fmla="*/ 120594 h 120004"/>
                <a:gd name="connsiteX14" fmla="*/ 122899 w 119345"/>
                <a:gd name="connsiteY14" fmla="*/ 116663 h 120004"/>
                <a:gd name="connsiteX15" fmla="*/ 122899 w 119345"/>
                <a:gd name="connsiteY15" fmla="*/ 60589 h 120004"/>
                <a:gd name="connsiteX16" fmla="*/ 103032 w 119345"/>
                <a:gd name="connsiteY16" fmla="*/ 15886 h 120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345" h="120004">
                  <a:moveTo>
                    <a:pt x="103032" y="15886"/>
                  </a:moveTo>
                  <a:cubicBezTo>
                    <a:pt x="90353" y="4493"/>
                    <a:pt x="73403" y="-938"/>
                    <a:pt x="56474" y="963"/>
                  </a:cubicBezTo>
                  <a:cubicBezTo>
                    <a:pt x="25876" y="4805"/>
                    <a:pt x="3081" y="31055"/>
                    <a:pt x="3561" y="61883"/>
                  </a:cubicBezTo>
                  <a:lnTo>
                    <a:pt x="3561" y="116663"/>
                  </a:lnTo>
                  <a:cubicBezTo>
                    <a:pt x="3561" y="118826"/>
                    <a:pt x="5311" y="120583"/>
                    <a:pt x="7467" y="120594"/>
                  </a:cubicBezTo>
                  <a:lnTo>
                    <a:pt x="21157" y="120594"/>
                  </a:lnTo>
                  <a:cubicBezTo>
                    <a:pt x="23313" y="120581"/>
                    <a:pt x="25063" y="118825"/>
                    <a:pt x="25063" y="116663"/>
                  </a:cubicBezTo>
                  <a:lnTo>
                    <a:pt x="25063" y="61883"/>
                  </a:lnTo>
                  <a:cubicBezTo>
                    <a:pt x="24626" y="42051"/>
                    <a:pt x="39169" y="25064"/>
                    <a:pt x="58839" y="22450"/>
                  </a:cubicBezTo>
                  <a:cubicBezTo>
                    <a:pt x="69819" y="21143"/>
                    <a:pt x="80821" y="24712"/>
                    <a:pt x="88936" y="32213"/>
                  </a:cubicBezTo>
                  <a:cubicBezTo>
                    <a:pt x="97042" y="39917"/>
                    <a:pt x="101563" y="50659"/>
                    <a:pt x="101407" y="61842"/>
                  </a:cubicBezTo>
                  <a:lnTo>
                    <a:pt x="101407" y="116663"/>
                  </a:lnTo>
                  <a:cubicBezTo>
                    <a:pt x="101407" y="118826"/>
                    <a:pt x="103146" y="120583"/>
                    <a:pt x="105313" y="120594"/>
                  </a:cubicBezTo>
                  <a:lnTo>
                    <a:pt x="118992" y="120594"/>
                  </a:lnTo>
                  <a:cubicBezTo>
                    <a:pt x="121149" y="120583"/>
                    <a:pt x="122899" y="118826"/>
                    <a:pt x="122899" y="116663"/>
                  </a:cubicBezTo>
                  <a:lnTo>
                    <a:pt x="122899" y="60589"/>
                  </a:lnTo>
                  <a:cubicBezTo>
                    <a:pt x="122899" y="43549"/>
                    <a:pt x="115679" y="27306"/>
                    <a:pt x="103032" y="1588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4">
              <a:extLst>
                <a:ext uri="{FF2B5EF4-FFF2-40B4-BE49-F238E27FC236}">
                  <a16:creationId xmlns:a16="http://schemas.microsoft.com/office/drawing/2014/main" id="{CDDC2A48-D6E8-11DB-6F9E-17CF28E1BFF2}"/>
                </a:ext>
              </a:extLst>
            </p:cNvPr>
            <p:cNvSpPr/>
            <p:nvPr/>
          </p:nvSpPr>
          <p:spPr>
            <a:xfrm>
              <a:off x="11094764" y="946654"/>
              <a:ext cx="119944" cy="188928"/>
            </a:xfrm>
            <a:custGeom>
              <a:avLst/>
              <a:gdLst>
                <a:gd name="connsiteX0" fmla="*/ 100380 w 119944"/>
                <a:gd name="connsiteY0" fmla="*/ 60992 h 188928"/>
                <a:gd name="connsiteX1" fmla="*/ 61966 w 119944"/>
                <a:gd name="connsiteY1" fmla="*/ 99609 h 188928"/>
                <a:gd name="connsiteX2" fmla="*/ 23690 w 119944"/>
                <a:gd name="connsiteY2" fmla="*/ 60648 h 188928"/>
                <a:gd name="connsiteX3" fmla="*/ 61966 w 119944"/>
                <a:gd name="connsiteY3" fmla="*/ 22372 h 188928"/>
                <a:gd name="connsiteX4" fmla="*/ 100380 w 119944"/>
                <a:gd name="connsiteY4" fmla="*/ 60992 h 188928"/>
                <a:gd name="connsiteX5" fmla="*/ 61966 w 119944"/>
                <a:gd name="connsiteY5" fmla="*/ 694 h 188928"/>
                <a:gd name="connsiteX6" fmla="*/ 2067 w 119944"/>
                <a:gd name="connsiteY6" fmla="*/ 59343 h 188928"/>
                <a:gd name="connsiteX7" fmla="*/ 1994 w 119944"/>
                <a:gd name="connsiteY7" fmla="*/ 59841 h 188928"/>
                <a:gd name="connsiteX8" fmla="*/ 1994 w 119944"/>
                <a:gd name="connsiteY8" fmla="*/ 185697 h 188928"/>
                <a:gd name="connsiteX9" fmla="*/ 5898 w 119944"/>
                <a:gd name="connsiteY9" fmla="*/ 189623 h 188928"/>
                <a:gd name="connsiteX10" fmla="*/ 19656 w 119944"/>
                <a:gd name="connsiteY10" fmla="*/ 189623 h 188928"/>
                <a:gd name="connsiteX11" fmla="*/ 23556 w 119944"/>
                <a:gd name="connsiteY11" fmla="*/ 185697 h 188928"/>
                <a:gd name="connsiteX12" fmla="*/ 23556 w 119944"/>
                <a:gd name="connsiteY12" fmla="*/ 107207 h 188928"/>
                <a:gd name="connsiteX13" fmla="*/ 61966 w 119944"/>
                <a:gd name="connsiteY13" fmla="*/ 121296 h 188928"/>
                <a:gd name="connsiteX14" fmla="*/ 121939 w 119944"/>
                <a:gd name="connsiteY14" fmla="*/ 60992 h 188928"/>
                <a:gd name="connsiteX15" fmla="*/ 61966 w 119944"/>
                <a:gd name="connsiteY15" fmla="*/ 694 h 188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9944" h="188928">
                  <a:moveTo>
                    <a:pt x="100380" y="60992"/>
                  </a:moveTo>
                  <a:cubicBezTo>
                    <a:pt x="100410" y="82252"/>
                    <a:pt x="83227" y="99526"/>
                    <a:pt x="61966" y="99609"/>
                  </a:cubicBezTo>
                  <a:cubicBezTo>
                    <a:pt x="40638" y="99419"/>
                    <a:pt x="23502" y="81976"/>
                    <a:pt x="23690" y="60648"/>
                  </a:cubicBezTo>
                  <a:cubicBezTo>
                    <a:pt x="23878" y="39587"/>
                    <a:pt x="40905" y="22559"/>
                    <a:pt x="61966" y="22372"/>
                  </a:cubicBezTo>
                  <a:cubicBezTo>
                    <a:pt x="83228" y="22455"/>
                    <a:pt x="100412" y="39730"/>
                    <a:pt x="100380" y="60992"/>
                  </a:cubicBezTo>
                  <a:close/>
                  <a:moveTo>
                    <a:pt x="61966" y="694"/>
                  </a:moveTo>
                  <a:cubicBezTo>
                    <a:pt x="29478" y="957"/>
                    <a:pt x="3015" y="26867"/>
                    <a:pt x="2067" y="59343"/>
                  </a:cubicBezTo>
                  <a:cubicBezTo>
                    <a:pt x="2020" y="59504"/>
                    <a:pt x="1995" y="59672"/>
                    <a:pt x="1994" y="59841"/>
                  </a:cubicBezTo>
                  <a:lnTo>
                    <a:pt x="1994" y="185697"/>
                  </a:lnTo>
                  <a:cubicBezTo>
                    <a:pt x="1993" y="187858"/>
                    <a:pt x="3738" y="189612"/>
                    <a:pt x="5898" y="189623"/>
                  </a:cubicBezTo>
                  <a:lnTo>
                    <a:pt x="19656" y="189623"/>
                  </a:lnTo>
                  <a:cubicBezTo>
                    <a:pt x="21815" y="189612"/>
                    <a:pt x="23560" y="187857"/>
                    <a:pt x="23556" y="185697"/>
                  </a:cubicBezTo>
                  <a:lnTo>
                    <a:pt x="23556" y="107207"/>
                  </a:lnTo>
                  <a:cubicBezTo>
                    <a:pt x="34287" y="116304"/>
                    <a:pt x="47899" y="121297"/>
                    <a:pt x="61966" y="121296"/>
                  </a:cubicBezTo>
                  <a:cubicBezTo>
                    <a:pt x="95164" y="121169"/>
                    <a:pt x="121994" y="94190"/>
                    <a:pt x="121939" y="60992"/>
                  </a:cubicBezTo>
                  <a:cubicBezTo>
                    <a:pt x="121991" y="27796"/>
                    <a:pt x="95162" y="821"/>
                    <a:pt x="61966" y="694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5">
              <a:extLst>
                <a:ext uri="{FF2B5EF4-FFF2-40B4-BE49-F238E27FC236}">
                  <a16:creationId xmlns:a16="http://schemas.microsoft.com/office/drawing/2014/main" id="{E8360996-C647-0570-DAD2-84BB9F564D52}"/>
                </a:ext>
              </a:extLst>
            </p:cNvPr>
            <p:cNvSpPr/>
            <p:nvPr/>
          </p:nvSpPr>
          <p:spPr>
            <a:xfrm>
              <a:off x="11231481" y="946639"/>
              <a:ext cx="119929" cy="120576"/>
            </a:xfrm>
            <a:custGeom>
              <a:avLst/>
              <a:gdLst>
                <a:gd name="connsiteX0" fmla="*/ 99185 w 119929"/>
                <a:gd name="connsiteY0" fmla="*/ 50008 h 120576"/>
                <a:gd name="connsiteX1" fmla="*/ 25609 w 119929"/>
                <a:gd name="connsiteY1" fmla="*/ 50008 h 120576"/>
                <a:gd name="connsiteX2" fmla="*/ 60557 w 119929"/>
                <a:gd name="connsiteY2" fmla="*/ 22379 h 120576"/>
                <a:gd name="connsiteX3" fmla="*/ 88850 w 119929"/>
                <a:gd name="connsiteY3" fmla="*/ 33012 h 120576"/>
                <a:gd name="connsiteX4" fmla="*/ 99179 w 119929"/>
                <a:gd name="connsiteY4" fmla="*/ 50024 h 120576"/>
                <a:gd name="connsiteX5" fmla="*/ 103784 w 119929"/>
                <a:gd name="connsiteY5" fmla="*/ 17277 h 120576"/>
                <a:gd name="connsiteX6" fmla="*/ 59563 w 119929"/>
                <a:gd name="connsiteY6" fmla="*/ 659 h 120576"/>
                <a:gd name="connsiteX7" fmla="*/ 2486 w 119929"/>
                <a:gd name="connsiteY7" fmla="*/ 58050 h 120576"/>
                <a:gd name="connsiteX8" fmla="*/ 27356 w 119929"/>
                <a:gd name="connsiteY8" fmla="*/ 109881 h 120576"/>
                <a:gd name="connsiteX9" fmla="*/ 47132 w 119929"/>
                <a:gd name="connsiteY9" fmla="*/ 119259 h 120576"/>
                <a:gd name="connsiteX10" fmla="*/ 52296 w 119929"/>
                <a:gd name="connsiteY10" fmla="*/ 120307 h 120576"/>
                <a:gd name="connsiteX11" fmla="*/ 54663 w 119929"/>
                <a:gd name="connsiteY11" fmla="*/ 120677 h 120576"/>
                <a:gd name="connsiteX12" fmla="*/ 55073 w 119929"/>
                <a:gd name="connsiteY12" fmla="*/ 120723 h 120576"/>
                <a:gd name="connsiteX13" fmla="*/ 58323 w 119929"/>
                <a:gd name="connsiteY13" fmla="*/ 121027 h 120576"/>
                <a:gd name="connsiteX14" fmla="*/ 58892 w 119929"/>
                <a:gd name="connsiteY14" fmla="*/ 121063 h 120576"/>
                <a:gd name="connsiteX15" fmla="*/ 59821 w 119929"/>
                <a:gd name="connsiteY15" fmla="*/ 121121 h 120576"/>
                <a:gd name="connsiteX16" fmla="*/ 62172 w 119929"/>
                <a:gd name="connsiteY16" fmla="*/ 121167 h 120576"/>
                <a:gd name="connsiteX17" fmla="*/ 62415 w 119929"/>
                <a:gd name="connsiteY17" fmla="*/ 121167 h 120576"/>
                <a:gd name="connsiteX18" fmla="*/ 63084 w 119929"/>
                <a:gd name="connsiteY18" fmla="*/ 121145 h 120576"/>
                <a:gd name="connsiteX19" fmla="*/ 65970 w 119929"/>
                <a:gd name="connsiteY19" fmla="*/ 121045 h 120576"/>
                <a:gd name="connsiteX20" fmla="*/ 67185 w 119929"/>
                <a:gd name="connsiteY20" fmla="*/ 120960 h 120576"/>
                <a:gd name="connsiteX21" fmla="*/ 93939 w 119929"/>
                <a:gd name="connsiteY21" fmla="*/ 112150 h 120576"/>
                <a:gd name="connsiteX22" fmla="*/ 94023 w 119929"/>
                <a:gd name="connsiteY22" fmla="*/ 112102 h 120576"/>
                <a:gd name="connsiteX23" fmla="*/ 94045 w 119929"/>
                <a:gd name="connsiteY23" fmla="*/ 112086 h 120576"/>
                <a:gd name="connsiteX24" fmla="*/ 103614 w 119929"/>
                <a:gd name="connsiteY24" fmla="*/ 104534 h 120576"/>
                <a:gd name="connsiteX25" fmla="*/ 104808 w 119929"/>
                <a:gd name="connsiteY25" fmla="*/ 101709 h 120576"/>
                <a:gd name="connsiteX26" fmla="*/ 103592 w 119929"/>
                <a:gd name="connsiteY26" fmla="*/ 98823 h 120576"/>
                <a:gd name="connsiteX27" fmla="*/ 93689 w 119929"/>
                <a:gd name="connsiteY27" fmla="*/ 89221 h 120576"/>
                <a:gd name="connsiteX28" fmla="*/ 88255 w 119929"/>
                <a:gd name="connsiteY28" fmla="*/ 89221 h 120576"/>
                <a:gd name="connsiteX29" fmla="*/ 79178 w 119929"/>
                <a:gd name="connsiteY29" fmla="*/ 95533 h 120576"/>
                <a:gd name="connsiteX30" fmla="*/ 78006 w 119929"/>
                <a:gd name="connsiteY30" fmla="*/ 96083 h 120576"/>
                <a:gd name="connsiteX31" fmla="*/ 75961 w 119929"/>
                <a:gd name="connsiteY31" fmla="*/ 96931 h 120576"/>
                <a:gd name="connsiteX32" fmla="*/ 74408 w 119929"/>
                <a:gd name="connsiteY32" fmla="*/ 97486 h 120576"/>
                <a:gd name="connsiteX33" fmla="*/ 72103 w 119929"/>
                <a:gd name="connsiteY33" fmla="*/ 98173 h 120576"/>
                <a:gd name="connsiteX34" fmla="*/ 71243 w 119929"/>
                <a:gd name="connsiteY34" fmla="*/ 98401 h 120576"/>
                <a:gd name="connsiteX35" fmla="*/ 67771 w 119929"/>
                <a:gd name="connsiteY35" fmla="*/ 99048 h 120576"/>
                <a:gd name="connsiteX36" fmla="*/ 67655 w 119929"/>
                <a:gd name="connsiteY36" fmla="*/ 99067 h 120576"/>
                <a:gd name="connsiteX37" fmla="*/ 59739 w 119929"/>
                <a:gd name="connsiteY37" fmla="*/ 99333 h 120576"/>
                <a:gd name="connsiteX38" fmla="*/ 57048 w 119929"/>
                <a:gd name="connsiteY38" fmla="*/ 99057 h 120576"/>
                <a:gd name="connsiteX39" fmla="*/ 56950 w 119929"/>
                <a:gd name="connsiteY39" fmla="*/ 99057 h 120576"/>
                <a:gd name="connsiteX40" fmla="*/ 49104 w 119929"/>
                <a:gd name="connsiteY40" fmla="*/ 96934 h 120576"/>
                <a:gd name="connsiteX41" fmla="*/ 41294 w 119929"/>
                <a:gd name="connsiteY41" fmla="*/ 93118 h 120576"/>
                <a:gd name="connsiteX42" fmla="*/ 25579 w 119929"/>
                <a:gd name="connsiteY42" fmla="*/ 71751 h 120576"/>
                <a:gd name="connsiteX43" fmla="*/ 111528 w 119929"/>
                <a:gd name="connsiteY43" fmla="*/ 71751 h 120576"/>
                <a:gd name="connsiteX44" fmla="*/ 122339 w 119929"/>
                <a:gd name="connsiteY44" fmla="*/ 60909 h 120576"/>
                <a:gd name="connsiteX45" fmla="*/ 103784 w 119929"/>
                <a:gd name="connsiteY45" fmla="*/ 17277 h 120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19929" h="120576">
                  <a:moveTo>
                    <a:pt x="99185" y="50008"/>
                  </a:moveTo>
                  <a:lnTo>
                    <a:pt x="25609" y="50008"/>
                  </a:lnTo>
                  <a:cubicBezTo>
                    <a:pt x="30218" y="34319"/>
                    <a:pt x="44226" y="23244"/>
                    <a:pt x="60557" y="22379"/>
                  </a:cubicBezTo>
                  <a:cubicBezTo>
                    <a:pt x="71053" y="21851"/>
                    <a:pt x="81299" y="25702"/>
                    <a:pt x="88850" y="33012"/>
                  </a:cubicBezTo>
                  <a:cubicBezTo>
                    <a:pt x="93729" y="37676"/>
                    <a:pt x="97291" y="43544"/>
                    <a:pt x="99179" y="50024"/>
                  </a:cubicBezTo>
                  <a:moveTo>
                    <a:pt x="103784" y="17277"/>
                  </a:moveTo>
                  <a:cubicBezTo>
                    <a:pt x="91961" y="5885"/>
                    <a:pt x="75963" y="-127"/>
                    <a:pt x="59563" y="659"/>
                  </a:cubicBezTo>
                  <a:cubicBezTo>
                    <a:pt x="28661" y="2379"/>
                    <a:pt x="4037" y="27138"/>
                    <a:pt x="2486" y="58050"/>
                  </a:cubicBezTo>
                  <a:cubicBezTo>
                    <a:pt x="1461" y="78424"/>
                    <a:pt x="10822" y="97931"/>
                    <a:pt x="27356" y="109881"/>
                  </a:cubicBezTo>
                  <a:cubicBezTo>
                    <a:pt x="33281" y="114253"/>
                    <a:pt x="39997" y="117438"/>
                    <a:pt x="47132" y="119259"/>
                  </a:cubicBezTo>
                  <a:cubicBezTo>
                    <a:pt x="48849" y="119690"/>
                    <a:pt x="50571" y="120022"/>
                    <a:pt x="52296" y="120307"/>
                  </a:cubicBezTo>
                  <a:cubicBezTo>
                    <a:pt x="53083" y="120447"/>
                    <a:pt x="53873" y="120574"/>
                    <a:pt x="54663" y="120677"/>
                  </a:cubicBezTo>
                  <a:lnTo>
                    <a:pt x="55073" y="120723"/>
                  </a:lnTo>
                  <a:cubicBezTo>
                    <a:pt x="56157" y="120859"/>
                    <a:pt x="57238" y="120957"/>
                    <a:pt x="58323" y="121027"/>
                  </a:cubicBezTo>
                  <a:cubicBezTo>
                    <a:pt x="58512" y="121042"/>
                    <a:pt x="58703" y="121054"/>
                    <a:pt x="58892" y="121063"/>
                  </a:cubicBezTo>
                  <a:cubicBezTo>
                    <a:pt x="59195" y="121081"/>
                    <a:pt x="59499" y="121111"/>
                    <a:pt x="59821" y="121121"/>
                  </a:cubicBezTo>
                  <a:cubicBezTo>
                    <a:pt x="60611" y="121151"/>
                    <a:pt x="61391" y="121163"/>
                    <a:pt x="62172" y="121167"/>
                  </a:cubicBezTo>
                  <a:lnTo>
                    <a:pt x="62415" y="121167"/>
                  </a:lnTo>
                  <a:cubicBezTo>
                    <a:pt x="62640" y="121167"/>
                    <a:pt x="62859" y="121148"/>
                    <a:pt x="63084" y="121145"/>
                  </a:cubicBezTo>
                  <a:cubicBezTo>
                    <a:pt x="64052" y="121133"/>
                    <a:pt x="65013" y="121100"/>
                    <a:pt x="65970" y="121045"/>
                  </a:cubicBezTo>
                  <a:cubicBezTo>
                    <a:pt x="66374" y="121021"/>
                    <a:pt x="66777" y="120994"/>
                    <a:pt x="67185" y="120960"/>
                  </a:cubicBezTo>
                  <a:cubicBezTo>
                    <a:pt x="76693" y="120276"/>
                    <a:pt x="85885" y="117249"/>
                    <a:pt x="93939" y="112150"/>
                  </a:cubicBezTo>
                  <a:lnTo>
                    <a:pt x="94023" y="112102"/>
                  </a:lnTo>
                  <a:cubicBezTo>
                    <a:pt x="94023" y="112102"/>
                    <a:pt x="94039" y="112102"/>
                    <a:pt x="94045" y="112086"/>
                  </a:cubicBezTo>
                  <a:cubicBezTo>
                    <a:pt x="97479" y="109895"/>
                    <a:pt x="100685" y="107366"/>
                    <a:pt x="103614" y="104534"/>
                  </a:cubicBezTo>
                  <a:cubicBezTo>
                    <a:pt x="104381" y="103796"/>
                    <a:pt x="104812" y="102775"/>
                    <a:pt x="104808" y="101709"/>
                  </a:cubicBezTo>
                  <a:cubicBezTo>
                    <a:pt x="104807" y="100623"/>
                    <a:pt x="104370" y="99582"/>
                    <a:pt x="103592" y="98823"/>
                  </a:cubicBezTo>
                  <a:lnTo>
                    <a:pt x="93689" y="89221"/>
                  </a:lnTo>
                  <a:cubicBezTo>
                    <a:pt x="92170" y="87767"/>
                    <a:pt x="89775" y="87767"/>
                    <a:pt x="88255" y="89221"/>
                  </a:cubicBezTo>
                  <a:cubicBezTo>
                    <a:pt x="85554" y="91756"/>
                    <a:pt x="82495" y="93884"/>
                    <a:pt x="79178" y="95533"/>
                  </a:cubicBezTo>
                  <a:cubicBezTo>
                    <a:pt x="78789" y="95722"/>
                    <a:pt x="78397" y="95907"/>
                    <a:pt x="78006" y="96083"/>
                  </a:cubicBezTo>
                  <a:cubicBezTo>
                    <a:pt x="77334" y="96387"/>
                    <a:pt x="76650" y="96670"/>
                    <a:pt x="75961" y="96931"/>
                  </a:cubicBezTo>
                  <a:cubicBezTo>
                    <a:pt x="75446" y="97133"/>
                    <a:pt x="74929" y="97319"/>
                    <a:pt x="74408" y="97486"/>
                  </a:cubicBezTo>
                  <a:cubicBezTo>
                    <a:pt x="73649" y="97739"/>
                    <a:pt x="72889" y="97970"/>
                    <a:pt x="72103" y="98173"/>
                  </a:cubicBezTo>
                  <a:cubicBezTo>
                    <a:pt x="71814" y="98249"/>
                    <a:pt x="71532" y="98331"/>
                    <a:pt x="71243" y="98401"/>
                  </a:cubicBezTo>
                  <a:cubicBezTo>
                    <a:pt x="70101" y="98669"/>
                    <a:pt x="68946" y="98888"/>
                    <a:pt x="67771" y="99048"/>
                  </a:cubicBezTo>
                  <a:cubicBezTo>
                    <a:pt x="67732" y="99048"/>
                    <a:pt x="67695" y="99064"/>
                    <a:pt x="67655" y="99067"/>
                  </a:cubicBezTo>
                  <a:cubicBezTo>
                    <a:pt x="65032" y="99413"/>
                    <a:pt x="62380" y="99502"/>
                    <a:pt x="59739" y="99333"/>
                  </a:cubicBezTo>
                  <a:cubicBezTo>
                    <a:pt x="58838" y="99277"/>
                    <a:pt x="57941" y="99185"/>
                    <a:pt x="57048" y="99057"/>
                  </a:cubicBezTo>
                  <a:lnTo>
                    <a:pt x="56950" y="99057"/>
                  </a:lnTo>
                  <a:cubicBezTo>
                    <a:pt x="54260" y="98665"/>
                    <a:pt x="51625" y="97952"/>
                    <a:pt x="49104" y="96934"/>
                  </a:cubicBezTo>
                  <a:cubicBezTo>
                    <a:pt x="46415" y="95846"/>
                    <a:pt x="43804" y="94570"/>
                    <a:pt x="41294" y="93118"/>
                  </a:cubicBezTo>
                  <a:cubicBezTo>
                    <a:pt x="33735" y="88033"/>
                    <a:pt x="28181" y="80480"/>
                    <a:pt x="25579" y="71751"/>
                  </a:cubicBezTo>
                  <a:lnTo>
                    <a:pt x="111528" y="71751"/>
                  </a:lnTo>
                  <a:cubicBezTo>
                    <a:pt x="117503" y="71732"/>
                    <a:pt x="122338" y="66883"/>
                    <a:pt x="122339" y="60909"/>
                  </a:cubicBezTo>
                  <a:cubicBezTo>
                    <a:pt x="122416" y="44431"/>
                    <a:pt x="115704" y="28651"/>
                    <a:pt x="103784" y="17277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6">
              <a:extLst>
                <a:ext uri="{FF2B5EF4-FFF2-40B4-BE49-F238E27FC236}">
                  <a16:creationId xmlns:a16="http://schemas.microsoft.com/office/drawing/2014/main" id="{27269D34-8F0F-BD79-6CC8-AA0751E77ABA}"/>
                </a:ext>
              </a:extLst>
            </p:cNvPr>
            <p:cNvSpPr/>
            <p:nvPr/>
          </p:nvSpPr>
          <p:spPr>
            <a:xfrm>
              <a:off x="11472238" y="946654"/>
              <a:ext cx="120235" cy="120571"/>
            </a:xfrm>
            <a:custGeom>
              <a:avLst/>
              <a:gdLst>
                <a:gd name="connsiteX0" fmla="*/ 101697 w 120235"/>
                <a:gd name="connsiteY0" fmla="*/ 60876 h 120571"/>
                <a:gd name="connsiteX1" fmla="*/ 63418 w 120235"/>
                <a:gd name="connsiteY1" fmla="*/ 99353 h 120571"/>
                <a:gd name="connsiteX2" fmla="*/ 25281 w 120235"/>
                <a:gd name="connsiteY2" fmla="*/ 60533 h 120571"/>
                <a:gd name="connsiteX3" fmla="*/ 63418 w 120235"/>
                <a:gd name="connsiteY3" fmla="*/ 22396 h 120571"/>
                <a:gd name="connsiteX4" fmla="*/ 101697 w 120235"/>
                <a:gd name="connsiteY4" fmla="*/ 60876 h 120571"/>
                <a:gd name="connsiteX5" fmla="*/ 63418 w 120235"/>
                <a:gd name="connsiteY5" fmla="*/ 591 h 120571"/>
                <a:gd name="connsiteX6" fmla="*/ 3142 w 120235"/>
                <a:gd name="connsiteY6" fmla="*/ 60884 h 120571"/>
                <a:gd name="connsiteX7" fmla="*/ 63418 w 120235"/>
                <a:gd name="connsiteY7" fmla="*/ 121162 h 120571"/>
                <a:gd name="connsiteX8" fmla="*/ 123377 w 120235"/>
                <a:gd name="connsiteY8" fmla="*/ 60876 h 120571"/>
                <a:gd name="connsiteX9" fmla="*/ 63418 w 120235"/>
                <a:gd name="connsiteY9" fmla="*/ 591 h 12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0235" h="120571">
                  <a:moveTo>
                    <a:pt x="101697" y="60876"/>
                  </a:moveTo>
                  <a:cubicBezTo>
                    <a:pt x="101728" y="82061"/>
                    <a:pt x="84601" y="99275"/>
                    <a:pt x="63418" y="99353"/>
                  </a:cubicBezTo>
                  <a:cubicBezTo>
                    <a:pt x="42168" y="99164"/>
                    <a:pt x="25092" y="81784"/>
                    <a:pt x="25281" y="60533"/>
                  </a:cubicBezTo>
                  <a:cubicBezTo>
                    <a:pt x="25467" y="39548"/>
                    <a:pt x="42433" y="22582"/>
                    <a:pt x="63418" y="22396"/>
                  </a:cubicBezTo>
                  <a:cubicBezTo>
                    <a:pt x="84601" y="22475"/>
                    <a:pt x="101728" y="39689"/>
                    <a:pt x="101697" y="60876"/>
                  </a:cubicBezTo>
                  <a:close/>
                  <a:moveTo>
                    <a:pt x="63418" y="591"/>
                  </a:moveTo>
                  <a:cubicBezTo>
                    <a:pt x="30123" y="595"/>
                    <a:pt x="3136" y="27589"/>
                    <a:pt x="3142" y="60884"/>
                  </a:cubicBezTo>
                  <a:cubicBezTo>
                    <a:pt x="3146" y="94173"/>
                    <a:pt x="30131" y="121157"/>
                    <a:pt x="63418" y="121162"/>
                  </a:cubicBezTo>
                  <a:cubicBezTo>
                    <a:pt x="96603" y="121034"/>
                    <a:pt x="123429" y="94066"/>
                    <a:pt x="123377" y="60876"/>
                  </a:cubicBezTo>
                  <a:cubicBezTo>
                    <a:pt x="123429" y="27687"/>
                    <a:pt x="96603" y="718"/>
                    <a:pt x="63418" y="591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7">
              <a:extLst>
                <a:ext uri="{FF2B5EF4-FFF2-40B4-BE49-F238E27FC236}">
                  <a16:creationId xmlns:a16="http://schemas.microsoft.com/office/drawing/2014/main" id="{1D6D26F8-CF28-3910-448C-A955FF151DCE}"/>
                </a:ext>
              </a:extLst>
            </p:cNvPr>
            <p:cNvSpPr/>
            <p:nvPr/>
          </p:nvSpPr>
          <p:spPr>
            <a:xfrm>
              <a:off x="10901409" y="893855"/>
              <a:ext cx="176047" cy="172898"/>
            </a:xfrm>
            <a:custGeom>
              <a:avLst/>
              <a:gdLst>
                <a:gd name="connsiteX0" fmla="*/ 53932 w 176047"/>
                <a:gd name="connsiteY0" fmla="*/ 111673 h 172898"/>
                <a:gd name="connsiteX1" fmla="*/ 89514 w 176047"/>
                <a:gd name="connsiteY1" fmla="*/ 33428 h 172898"/>
                <a:gd name="connsiteX2" fmla="*/ 125099 w 176047"/>
                <a:gd name="connsiteY2" fmla="*/ 111673 h 172898"/>
                <a:gd name="connsiteX3" fmla="*/ 53932 w 176047"/>
                <a:gd name="connsiteY3" fmla="*/ 111673 h 172898"/>
                <a:gd name="connsiteX4" fmla="*/ 177500 w 176047"/>
                <a:gd name="connsiteY4" fmla="*/ 168536 h 172898"/>
                <a:gd name="connsiteX5" fmla="*/ 176146 w 176047"/>
                <a:gd name="connsiteY5" fmla="*/ 164911 h 172898"/>
                <a:gd name="connsiteX6" fmla="*/ 175748 w 176047"/>
                <a:gd name="connsiteY6" fmla="*/ 164060 h 172898"/>
                <a:gd name="connsiteX7" fmla="*/ 102197 w 176047"/>
                <a:gd name="connsiteY7" fmla="*/ 4591 h 172898"/>
                <a:gd name="connsiteX8" fmla="*/ 95872 w 176047"/>
                <a:gd name="connsiteY8" fmla="*/ 511 h 172898"/>
                <a:gd name="connsiteX9" fmla="*/ 83159 w 176047"/>
                <a:gd name="connsiteY9" fmla="*/ 511 h 172898"/>
                <a:gd name="connsiteX10" fmla="*/ 76831 w 176047"/>
                <a:gd name="connsiteY10" fmla="*/ 4591 h 172898"/>
                <a:gd name="connsiteX11" fmla="*/ 3283 w 176047"/>
                <a:gd name="connsiteY11" fmla="*/ 164060 h 172898"/>
                <a:gd name="connsiteX12" fmla="*/ 2885 w 176047"/>
                <a:gd name="connsiteY12" fmla="*/ 164911 h 172898"/>
                <a:gd name="connsiteX13" fmla="*/ 1530 w 176047"/>
                <a:gd name="connsiteY13" fmla="*/ 168536 h 172898"/>
                <a:gd name="connsiteX14" fmla="*/ 1496 w 176047"/>
                <a:gd name="connsiteY14" fmla="*/ 169228 h 172898"/>
                <a:gd name="connsiteX15" fmla="*/ 1633 w 176047"/>
                <a:gd name="connsiteY15" fmla="*/ 169900 h 172898"/>
                <a:gd name="connsiteX16" fmla="*/ 6895 w 176047"/>
                <a:gd name="connsiteY16" fmla="*/ 173396 h 172898"/>
                <a:gd name="connsiteX17" fmla="*/ 7420 w 176047"/>
                <a:gd name="connsiteY17" fmla="*/ 173369 h 172898"/>
                <a:gd name="connsiteX18" fmla="*/ 20455 w 176047"/>
                <a:gd name="connsiteY18" fmla="*/ 173369 h 172898"/>
                <a:gd name="connsiteX19" fmla="*/ 27390 w 176047"/>
                <a:gd name="connsiteY19" fmla="*/ 169331 h 172898"/>
                <a:gd name="connsiteX20" fmla="*/ 43251 w 176047"/>
                <a:gd name="connsiteY20" fmla="*/ 134971 h 172898"/>
                <a:gd name="connsiteX21" fmla="*/ 135778 w 176047"/>
                <a:gd name="connsiteY21" fmla="*/ 134971 h 172898"/>
                <a:gd name="connsiteX22" fmla="*/ 151640 w 176047"/>
                <a:gd name="connsiteY22" fmla="*/ 169331 h 172898"/>
                <a:gd name="connsiteX23" fmla="*/ 158575 w 176047"/>
                <a:gd name="connsiteY23" fmla="*/ 173366 h 172898"/>
                <a:gd name="connsiteX24" fmla="*/ 171610 w 176047"/>
                <a:gd name="connsiteY24" fmla="*/ 173366 h 172898"/>
                <a:gd name="connsiteX25" fmla="*/ 172136 w 176047"/>
                <a:gd name="connsiteY25" fmla="*/ 173393 h 172898"/>
                <a:gd name="connsiteX26" fmla="*/ 177397 w 176047"/>
                <a:gd name="connsiteY26" fmla="*/ 169900 h 172898"/>
                <a:gd name="connsiteX27" fmla="*/ 177534 w 176047"/>
                <a:gd name="connsiteY27" fmla="*/ 169228 h 172898"/>
                <a:gd name="connsiteX28" fmla="*/ 177500 w 176047"/>
                <a:gd name="connsiteY28" fmla="*/ 168536 h 17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047" h="172898">
                  <a:moveTo>
                    <a:pt x="53932" y="111673"/>
                  </a:moveTo>
                  <a:cubicBezTo>
                    <a:pt x="53932" y="111673"/>
                    <a:pt x="82649" y="48562"/>
                    <a:pt x="89514" y="33428"/>
                  </a:cubicBezTo>
                  <a:cubicBezTo>
                    <a:pt x="96391" y="48562"/>
                    <a:pt x="125099" y="111673"/>
                    <a:pt x="125099" y="111673"/>
                  </a:cubicBezTo>
                  <a:lnTo>
                    <a:pt x="53932" y="111673"/>
                  </a:lnTo>
                  <a:close/>
                  <a:moveTo>
                    <a:pt x="177500" y="168536"/>
                  </a:moveTo>
                  <a:cubicBezTo>
                    <a:pt x="177221" y="167270"/>
                    <a:pt x="176765" y="166050"/>
                    <a:pt x="176146" y="164911"/>
                  </a:cubicBezTo>
                  <a:cubicBezTo>
                    <a:pt x="176015" y="164647"/>
                    <a:pt x="175888" y="164377"/>
                    <a:pt x="175748" y="164060"/>
                  </a:cubicBezTo>
                  <a:cubicBezTo>
                    <a:pt x="175748" y="164060"/>
                    <a:pt x="114296" y="30758"/>
                    <a:pt x="102197" y="4591"/>
                  </a:cubicBezTo>
                  <a:cubicBezTo>
                    <a:pt x="101121" y="2066"/>
                    <a:pt x="98616" y="450"/>
                    <a:pt x="95872" y="511"/>
                  </a:cubicBezTo>
                  <a:lnTo>
                    <a:pt x="83159" y="511"/>
                  </a:lnTo>
                  <a:cubicBezTo>
                    <a:pt x="80414" y="451"/>
                    <a:pt x="77908" y="2066"/>
                    <a:pt x="76831" y="4591"/>
                  </a:cubicBezTo>
                  <a:cubicBezTo>
                    <a:pt x="64735" y="30758"/>
                    <a:pt x="3283" y="164060"/>
                    <a:pt x="3283" y="164060"/>
                  </a:cubicBezTo>
                  <a:cubicBezTo>
                    <a:pt x="3142" y="164364"/>
                    <a:pt x="3015" y="164647"/>
                    <a:pt x="2885" y="164911"/>
                  </a:cubicBezTo>
                  <a:cubicBezTo>
                    <a:pt x="2265" y="166050"/>
                    <a:pt x="1809" y="167270"/>
                    <a:pt x="1530" y="168536"/>
                  </a:cubicBezTo>
                  <a:cubicBezTo>
                    <a:pt x="1495" y="168764"/>
                    <a:pt x="1484" y="168996"/>
                    <a:pt x="1496" y="169228"/>
                  </a:cubicBezTo>
                  <a:cubicBezTo>
                    <a:pt x="1521" y="169456"/>
                    <a:pt x="1567" y="169680"/>
                    <a:pt x="1633" y="169900"/>
                  </a:cubicBezTo>
                  <a:cubicBezTo>
                    <a:pt x="2461" y="172069"/>
                    <a:pt x="4574" y="173473"/>
                    <a:pt x="6895" y="173396"/>
                  </a:cubicBezTo>
                  <a:lnTo>
                    <a:pt x="7420" y="173369"/>
                  </a:lnTo>
                  <a:cubicBezTo>
                    <a:pt x="11901" y="173417"/>
                    <a:pt x="15403" y="173405"/>
                    <a:pt x="20455" y="173369"/>
                  </a:cubicBezTo>
                  <a:cubicBezTo>
                    <a:pt x="23401" y="173685"/>
                    <a:pt x="26211" y="172050"/>
                    <a:pt x="27390" y="169331"/>
                  </a:cubicBezTo>
                  <a:cubicBezTo>
                    <a:pt x="29791" y="164201"/>
                    <a:pt x="43251" y="134971"/>
                    <a:pt x="43251" y="134971"/>
                  </a:cubicBezTo>
                  <a:lnTo>
                    <a:pt x="135778" y="134971"/>
                  </a:lnTo>
                  <a:cubicBezTo>
                    <a:pt x="135778" y="134971"/>
                    <a:pt x="149249" y="164201"/>
                    <a:pt x="151640" y="169331"/>
                  </a:cubicBezTo>
                  <a:cubicBezTo>
                    <a:pt x="152820" y="172048"/>
                    <a:pt x="155630" y="173682"/>
                    <a:pt x="158575" y="173366"/>
                  </a:cubicBezTo>
                  <a:cubicBezTo>
                    <a:pt x="163627" y="173390"/>
                    <a:pt x="167129" y="173402"/>
                    <a:pt x="171610" y="173366"/>
                  </a:cubicBezTo>
                  <a:lnTo>
                    <a:pt x="172136" y="173393"/>
                  </a:lnTo>
                  <a:cubicBezTo>
                    <a:pt x="174455" y="173470"/>
                    <a:pt x="176568" y="172066"/>
                    <a:pt x="177397" y="169900"/>
                  </a:cubicBezTo>
                  <a:cubicBezTo>
                    <a:pt x="177464" y="169680"/>
                    <a:pt x="177510" y="169456"/>
                    <a:pt x="177534" y="169228"/>
                  </a:cubicBezTo>
                  <a:cubicBezTo>
                    <a:pt x="177546" y="168996"/>
                    <a:pt x="177536" y="168764"/>
                    <a:pt x="177500" y="168536"/>
                  </a:cubicBez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8">
              <a:extLst>
                <a:ext uri="{FF2B5EF4-FFF2-40B4-BE49-F238E27FC236}">
                  <a16:creationId xmlns:a16="http://schemas.microsoft.com/office/drawing/2014/main" id="{AAD7C328-F4BB-C78D-A4F2-BFEABE7BABD8}"/>
                </a:ext>
              </a:extLst>
            </p:cNvPr>
            <p:cNvSpPr/>
            <p:nvPr/>
          </p:nvSpPr>
          <p:spPr>
            <a:xfrm>
              <a:off x="11358733" y="946834"/>
              <a:ext cx="106604" cy="120304"/>
            </a:xfrm>
            <a:custGeom>
              <a:avLst/>
              <a:gdLst>
                <a:gd name="connsiteX0" fmla="*/ 107592 w 106604"/>
                <a:gd name="connsiteY0" fmla="*/ 114211 h 120304"/>
                <a:gd name="connsiteX1" fmla="*/ 107591 w 106604"/>
                <a:gd name="connsiteY1" fmla="*/ 114207 h 120304"/>
                <a:gd name="connsiteX2" fmla="*/ 107555 w 106604"/>
                <a:gd name="connsiteY2" fmla="*/ 114159 h 120304"/>
                <a:gd name="connsiteX3" fmla="*/ 93319 w 106604"/>
                <a:gd name="connsiteY3" fmla="*/ 94036 h 120304"/>
                <a:gd name="connsiteX4" fmla="*/ 93317 w 106604"/>
                <a:gd name="connsiteY4" fmla="*/ 94068 h 120304"/>
                <a:gd name="connsiteX5" fmla="*/ 69740 w 106604"/>
                <a:gd name="connsiteY5" fmla="*/ 60749 h 120304"/>
                <a:gd name="connsiteX6" fmla="*/ 88538 w 106604"/>
                <a:gd name="connsiteY6" fmla="*/ 34167 h 120304"/>
                <a:gd name="connsiteX7" fmla="*/ 88505 w 106604"/>
                <a:gd name="connsiteY7" fmla="*/ 34390 h 120304"/>
                <a:gd name="connsiteX8" fmla="*/ 107478 w 106604"/>
                <a:gd name="connsiteY8" fmla="*/ 7616 h 120304"/>
                <a:gd name="connsiteX9" fmla="*/ 107886 w 106604"/>
                <a:gd name="connsiteY9" fmla="*/ 7042 h 120304"/>
                <a:gd name="connsiteX10" fmla="*/ 109380 w 106604"/>
                <a:gd name="connsiteY10" fmla="*/ 3338 h 120304"/>
                <a:gd name="connsiteX11" fmla="*/ 109287 w 106604"/>
                <a:gd name="connsiteY11" fmla="*/ 2851 h 120304"/>
                <a:gd name="connsiteX12" fmla="*/ 105546 w 106604"/>
                <a:gd name="connsiteY12" fmla="*/ 635 h 120304"/>
                <a:gd name="connsiteX13" fmla="*/ 98775 w 106604"/>
                <a:gd name="connsiteY13" fmla="*/ 635 h 120304"/>
                <a:gd name="connsiteX14" fmla="*/ 98783 w 106604"/>
                <a:gd name="connsiteY14" fmla="*/ 591 h 120304"/>
                <a:gd name="connsiteX15" fmla="*/ 90166 w 106604"/>
                <a:gd name="connsiteY15" fmla="*/ 616 h 120304"/>
                <a:gd name="connsiteX16" fmla="*/ 87544 w 106604"/>
                <a:gd name="connsiteY16" fmla="*/ 600 h 120304"/>
                <a:gd name="connsiteX17" fmla="*/ 81250 w 106604"/>
                <a:gd name="connsiteY17" fmla="*/ 4152 h 120304"/>
                <a:gd name="connsiteX18" fmla="*/ 73636 w 106604"/>
                <a:gd name="connsiteY18" fmla="*/ 15322 h 120304"/>
                <a:gd name="connsiteX19" fmla="*/ 56150 w 106604"/>
                <a:gd name="connsiteY19" fmla="*/ 41029 h 120304"/>
                <a:gd name="connsiteX20" fmla="*/ 30644 w 106604"/>
                <a:gd name="connsiteY20" fmla="*/ 3964 h 120304"/>
                <a:gd name="connsiteX21" fmla="*/ 24453 w 106604"/>
                <a:gd name="connsiteY21" fmla="*/ 638 h 120304"/>
                <a:gd name="connsiteX22" fmla="*/ 18510 w 106604"/>
                <a:gd name="connsiteY22" fmla="*/ 622 h 120304"/>
                <a:gd name="connsiteX23" fmla="*/ 6611 w 106604"/>
                <a:gd name="connsiteY23" fmla="*/ 622 h 120304"/>
                <a:gd name="connsiteX24" fmla="*/ 2870 w 106604"/>
                <a:gd name="connsiteY24" fmla="*/ 2839 h 120304"/>
                <a:gd name="connsiteX25" fmla="*/ 2776 w 106604"/>
                <a:gd name="connsiteY25" fmla="*/ 3325 h 120304"/>
                <a:gd name="connsiteX26" fmla="*/ 4269 w 106604"/>
                <a:gd name="connsiteY26" fmla="*/ 7029 h 120304"/>
                <a:gd name="connsiteX27" fmla="*/ 4677 w 106604"/>
                <a:gd name="connsiteY27" fmla="*/ 7602 h 120304"/>
                <a:gd name="connsiteX28" fmla="*/ 23652 w 106604"/>
                <a:gd name="connsiteY28" fmla="*/ 34376 h 120304"/>
                <a:gd name="connsiteX29" fmla="*/ 42341 w 106604"/>
                <a:gd name="connsiteY29" fmla="*/ 60752 h 120304"/>
                <a:gd name="connsiteX30" fmla="*/ 18773 w 106604"/>
                <a:gd name="connsiteY30" fmla="*/ 94023 h 120304"/>
                <a:gd name="connsiteX31" fmla="*/ 3926 w 106604"/>
                <a:gd name="connsiteY31" fmla="*/ 115008 h 120304"/>
                <a:gd name="connsiteX32" fmla="*/ 3022 w 106604"/>
                <a:gd name="connsiteY32" fmla="*/ 118877 h 120304"/>
                <a:gd name="connsiteX33" fmla="*/ 5828 w 106604"/>
                <a:gd name="connsiteY33" fmla="*/ 120825 h 120304"/>
                <a:gd name="connsiteX34" fmla="*/ 12746 w 106604"/>
                <a:gd name="connsiteY34" fmla="*/ 120882 h 120304"/>
                <a:gd name="connsiteX35" fmla="*/ 20908 w 106604"/>
                <a:gd name="connsiteY35" fmla="*/ 120866 h 120304"/>
                <a:gd name="connsiteX36" fmla="*/ 24198 w 106604"/>
                <a:gd name="connsiteY36" fmla="*/ 120885 h 120304"/>
                <a:gd name="connsiteX37" fmla="*/ 30610 w 106604"/>
                <a:gd name="connsiteY37" fmla="*/ 117583 h 120304"/>
                <a:gd name="connsiteX38" fmla="*/ 40531 w 106604"/>
                <a:gd name="connsiteY38" fmla="*/ 103304 h 120304"/>
                <a:gd name="connsiteX39" fmla="*/ 47932 w 106604"/>
                <a:gd name="connsiteY39" fmla="*/ 92630 h 120304"/>
                <a:gd name="connsiteX40" fmla="*/ 51582 w 106604"/>
                <a:gd name="connsiteY40" fmla="*/ 87361 h 120304"/>
                <a:gd name="connsiteX41" fmla="*/ 56115 w 106604"/>
                <a:gd name="connsiteY41" fmla="*/ 80736 h 120304"/>
                <a:gd name="connsiteX42" fmla="*/ 57238 w 106604"/>
                <a:gd name="connsiteY42" fmla="*/ 82357 h 120304"/>
                <a:gd name="connsiteX43" fmla="*/ 67214 w 106604"/>
                <a:gd name="connsiteY43" fmla="*/ 96880 h 120304"/>
                <a:gd name="connsiteX44" fmla="*/ 81243 w 106604"/>
                <a:gd name="connsiteY44" fmla="*/ 117309 h 120304"/>
                <a:gd name="connsiteX45" fmla="*/ 87862 w 106604"/>
                <a:gd name="connsiteY45" fmla="*/ 120860 h 120304"/>
                <a:gd name="connsiteX46" fmla="*/ 89954 w 106604"/>
                <a:gd name="connsiteY46" fmla="*/ 120860 h 120304"/>
                <a:gd name="connsiteX47" fmla="*/ 91184 w 106604"/>
                <a:gd name="connsiteY47" fmla="*/ 120864 h 120304"/>
                <a:gd name="connsiteX48" fmla="*/ 91183 w 106604"/>
                <a:gd name="connsiteY48" fmla="*/ 120880 h 120304"/>
                <a:gd name="connsiteX49" fmla="*/ 99346 w 106604"/>
                <a:gd name="connsiteY49" fmla="*/ 120895 h 120304"/>
                <a:gd name="connsiteX50" fmla="*/ 106263 w 106604"/>
                <a:gd name="connsiteY50" fmla="*/ 120839 h 120304"/>
                <a:gd name="connsiteX51" fmla="*/ 109069 w 106604"/>
                <a:gd name="connsiteY51" fmla="*/ 118890 h 120304"/>
                <a:gd name="connsiteX52" fmla="*/ 108166 w 106604"/>
                <a:gd name="connsiteY52" fmla="*/ 115022 h 120304"/>
                <a:gd name="connsiteX53" fmla="*/ 107592 w 106604"/>
                <a:gd name="connsiteY53" fmla="*/ 114211 h 12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06604" h="120304">
                  <a:moveTo>
                    <a:pt x="107592" y="114211"/>
                  </a:moveTo>
                  <a:cubicBezTo>
                    <a:pt x="107591" y="114210"/>
                    <a:pt x="107592" y="114208"/>
                    <a:pt x="107591" y="114207"/>
                  </a:cubicBezTo>
                  <a:cubicBezTo>
                    <a:pt x="107579" y="114191"/>
                    <a:pt x="107567" y="114175"/>
                    <a:pt x="107555" y="114159"/>
                  </a:cubicBezTo>
                  <a:lnTo>
                    <a:pt x="93319" y="94036"/>
                  </a:lnTo>
                  <a:lnTo>
                    <a:pt x="93317" y="94068"/>
                  </a:lnTo>
                  <a:cubicBezTo>
                    <a:pt x="85453" y="82966"/>
                    <a:pt x="77595" y="71860"/>
                    <a:pt x="69740" y="60749"/>
                  </a:cubicBezTo>
                  <a:cubicBezTo>
                    <a:pt x="75994" y="51874"/>
                    <a:pt x="82265" y="43019"/>
                    <a:pt x="88538" y="34167"/>
                  </a:cubicBezTo>
                  <a:lnTo>
                    <a:pt x="88505" y="34390"/>
                  </a:lnTo>
                  <a:cubicBezTo>
                    <a:pt x="94819" y="25463"/>
                    <a:pt x="101144" y="16538"/>
                    <a:pt x="107478" y="7616"/>
                  </a:cubicBezTo>
                  <a:lnTo>
                    <a:pt x="107886" y="7042"/>
                  </a:lnTo>
                  <a:cubicBezTo>
                    <a:pt x="108800" y="6018"/>
                    <a:pt x="109328" y="4709"/>
                    <a:pt x="109380" y="3338"/>
                  </a:cubicBezTo>
                  <a:lnTo>
                    <a:pt x="109287" y="2851"/>
                  </a:lnTo>
                  <a:cubicBezTo>
                    <a:pt x="108660" y="1372"/>
                    <a:pt x="107144" y="474"/>
                    <a:pt x="105546" y="635"/>
                  </a:cubicBezTo>
                  <a:lnTo>
                    <a:pt x="98775" y="635"/>
                  </a:lnTo>
                  <a:lnTo>
                    <a:pt x="98783" y="591"/>
                  </a:lnTo>
                  <a:lnTo>
                    <a:pt x="90166" y="616"/>
                  </a:lnTo>
                  <a:lnTo>
                    <a:pt x="87544" y="600"/>
                  </a:lnTo>
                  <a:cubicBezTo>
                    <a:pt x="84976" y="629"/>
                    <a:pt x="82602" y="1968"/>
                    <a:pt x="81250" y="4152"/>
                  </a:cubicBezTo>
                  <a:lnTo>
                    <a:pt x="73636" y="15322"/>
                  </a:lnTo>
                  <a:cubicBezTo>
                    <a:pt x="67796" y="23882"/>
                    <a:pt x="61967" y="32452"/>
                    <a:pt x="56150" y="41029"/>
                  </a:cubicBezTo>
                  <a:cubicBezTo>
                    <a:pt x="47658" y="28646"/>
                    <a:pt x="39156" y="16291"/>
                    <a:pt x="30644" y="3964"/>
                  </a:cubicBezTo>
                  <a:cubicBezTo>
                    <a:pt x="29277" y="1877"/>
                    <a:pt x="26947" y="625"/>
                    <a:pt x="24453" y="638"/>
                  </a:cubicBezTo>
                  <a:cubicBezTo>
                    <a:pt x="22473" y="622"/>
                    <a:pt x="20493" y="622"/>
                    <a:pt x="18510" y="622"/>
                  </a:cubicBezTo>
                  <a:lnTo>
                    <a:pt x="6611" y="622"/>
                  </a:lnTo>
                  <a:cubicBezTo>
                    <a:pt x="5013" y="460"/>
                    <a:pt x="3496" y="1359"/>
                    <a:pt x="2870" y="2839"/>
                  </a:cubicBezTo>
                  <a:lnTo>
                    <a:pt x="2776" y="3325"/>
                  </a:lnTo>
                  <a:cubicBezTo>
                    <a:pt x="2828" y="4695"/>
                    <a:pt x="3355" y="6005"/>
                    <a:pt x="4269" y="7029"/>
                  </a:cubicBezTo>
                  <a:lnTo>
                    <a:pt x="4677" y="7602"/>
                  </a:lnTo>
                  <a:cubicBezTo>
                    <a:pt x="11012" y="16525"/>
                    <a:pt x="17337" y="25450"/>
                    <a:pt x="23652" y="34376"/>
                  </a:cubicBezTo>
                  <a:cubicBezTo>
                    <a:pt x="29887" y="43172"/>
                    <a:pt x="36117" y="51964"/>
                    <a:pt x="42341" y="60752"/>
                  </a:cubicBezTo>
                  <a:cubicBezTo>
                    <a:pt x="34479" y="71836"/>
                    <a:pt x="26623" y="82927"/>
                    <a:pt x="18773" y="94023"/>
                  </a:cubicBezTo>
                  <a:lnTo>
                    <a:pt x="3926" y="115008"/>
                  </a:lnTo>
                  <a:cubicBezTo>
                    <a:pt x="2901" y="116013"/>
                    <a:pt x="2549" y="117521"/>
                    <a:pt x="3022" y="118877"/>
                  </a:cubicBezTo>
                  <a:cubicBezTo>
                    <a:pt x="3470" y="120040"/>
                    <a:pt x="4581" y="120813"/>
                    <a:pt x="5828" y="120825"/>
                  </a:cubicBezTo>
                  <a:cubicBezTo>
                    <a:pt x="8132" y="120869"/>
                    <a:pt x="10435" y="120882"/>
                    <a:pt x="12746" y="120882"/>
                  </a:cubicBezTo>
                  <a:lnTo>
                    <a:pt x="20908" y="120866"/>
                  </a:lnTo>
                  <a:lnTo>
                    <a:pt x="24198" y="120885"/>
                  </a:lnTo>
                  <a:cubicBezTo>
                    <a:pt x="26755" y="120938"/>
                    <a:pt x="29168" y="119696"/>
                    <a:pt x="30610" y="117583"/>
                  </a:cubicBezTo>
                  <a:cubicBezTo>
                    <a:pt x="33935" y="112832"/>
                    <a:pt x="37242" y="108073"/>
                    <a:pt x="40531" y="103304"/>
                  </a:cubicBezTo>
                  <a:lnTo>
                    <a:pt x="47932" y="92630"/>
                  </a:lnTo>
                  <a:cubicBezTo>
                    <a:pt x="49113" y="90853"/>
                    <a:pt x="50348" y="89107"/>
                    <a:pt x="51582" y="87361"/>
                  </a:cubicBezTo>
                  <a:cubicBezTo>
                    <a:pt x="53103" y="85216"/>
                    <a:pt x="54666" y="82996"/>
                    <a:pt x="56115" y="80736"/>
                  </a:cubicBezTo>
                  <a:cubicBezTo>
                    <a:pt x="56492" y="81300"/>
                    <a:pt x="56873" y="81840"/>
                    <a:pt x="57238" y="82357"/>
                  </a:cubicBezTo>
                  <a:lnTo>
                    <a:pt x="67214" y="96880"/>
                  </a:lnTo>
                  <a:cubicBezTo>
                    <a:pt x="71890" y="103710"/>
                    <a:pt x="76567" y="110541"/>
                    <a:pt x="81243" y="117309"/>
                  </a:cubicBezTo>
                  <a:cubicBezTo>
                    <a:pt x="82681" y="119564"/>
                    <a:pt x="85189" y="120909"/>
                    <a:pt x="87862" y="120860"/>
                  </a:cubicBezTo>
                  <a:lnTo>
                    <a:pt x="89954" y="120860"/>
                  </a:lnTo>
                  <a:lnTo>
                    <a:pt x="91184" y="120864"/>
                  </a:lnTo>
                  <a:lnTo>
                    <a:pt x="91183" y="120880"/>
                  </a:lnTo>
                  <a:lnTo>
                    <a:pt x="99346" y="120895"/>
                  </a:lnTo>
                  <a:cubicBezTo>
                    <a:pt x="101655" y="120895"/>
                    <a:pt x="103960" y="120883"/>
                    <a:pt x="106263" y="120839"/>
                  </a:cubicBezTo>
                  <a:cubicBezTo>
                    <a:pt x="107509" y="120825"/>
                    <a:pt x="108622" y="120054"/>
                    <a:pt x="109069" y="118890"/>
                  </a:cubicBezTo>
                  <a:cubicBezTo>
                    <a:pt x="109543" y="117534"/>
                    <a:pt x="109191" y="116027"/>
                    <a:pt x="108166" y="115022"/>
                  </a:cubicBezTo>
                  <a:lnTo>
                    <a:pt x="107592" y="114211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11">
              <a:extLst>
                <a:ext uri="{FF2B5EF4-FFF2-40B4-BE49-F238E27FC236}">
                  <a16:creationId xmlns:a16="http://schemas.microsoft.com/office/drawing/2014/main" id="{AA89CC02-9C5E-A8A1-5BA8-3DFC72319F66}"/>
                </a:ext>
              </a:extLst>
            </p:cNvPr>
            <p:cNvSpPr/>
            <p:nvPr/>
          </p:nvSpPr>
          <p:spPr>
            <a:xfrm>
              <a:off x="10565819" y="1021706"/>
              <a:ext cx="110287" cy="110873"/>
            </a:xfrm>
            <a:custGeom>
              <a:avLst/>
              <a:gdLst>
                <a:gd name="connsiteX0" fmla="*/ 28658 w 110287"/>
                <a:gd name="connsiteY0" fmla="*/ 32885 h 110873"/>
                <a:gd name="connsiteX1" fmla="*/ 8454 w 110287"/>
                <a:gd name="connsiteY1" fmla="*/ 67878 h 110873"/>
                <a:gd name="connsiteX2" fmla="*/ 371 w 110287"/>
                <a:gd name="connsiteY2" fmla="*/ 81877 h 110873"/>
                <a:gd name="connsiteX3" fmla="*/ 93405 w 110287"/>
                <a:gd name="connsiteY3" fmla="*/ 111677 h 110873"/>
                <a:gd name="connsiteX4" fmla="*/ 93408 w 110287"/>
                <a:gd name="connsiteY4" fmla="*/ 111677 h 110873"/>
                <a:gd name="connsiteX5" fmla="*/ 110659 w 110287"/>
                <a:gd name="connsiteY5" fmla="*/ 110750 h 110873"/>
                <a:gd name="connsiteX6" fmla="*/ 47180 w 110287"/>
                <a:gd name="connsiteY6" fmla="*/ 804 h 110873"/>
                <a:gd name="connsiteX7" fmla="*/ 28658 w 110287"/>
                <a:gd name="connsiteY7" fmla="*/ 32885 h 11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0287" h="110873">
                  <a:moveTo>
                    <a:pt x="28658" y="32885"/>
                  </a:moveTo>
                  <a:lnTo>
                    <a:pt x="8454" y="67878"/>
                  </a:lnTo>
                  <a:lnTo>
                    <a:pt x="371" y="81877"/>
                  </a:lnTo>
                  <a:cubicBezTo>
                    <a:pt x="26591" y="100634"/>
                    <a:pt x="58708" y="111677"/>
                    <a:pt x="93405" y="111677"/>
                  </a:cubicBezTo>
                  <a:lnTo>
                    <a:pt x="93408" y="111677"/>
                  </a:lnTo>
                  <a:cubicBezTo>
                    <a:pt x="99237" y="111677"/>
                    <a:pt x="104990" y="111357"/>
                    <a:pt x="110659" y="110750"/>
                  </a:cubicBezTo>
                  <a:lnTo>
                    <a:pt x="47180" y="804"/>
                  </a:lnTo>
                  <a:lnTo>
                    <a:pt x="28658" y="32885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9092502A-AE50-CAA4-CAD7-61889FBD3137}"/>
                </a:ext>
              </a:extLst>
            </p:cNvPr>
            <p:cNvSpPr/>
            <p:nvPr/>
          </p:nvSpPr>
          <p:spPr>
            <a:xfrm>
              <a:off x="10498770" y="812407"/>
              <a:ext cx="320171" cy="306607"/>
            </a:xfrm>
            <a:custGeom>
              <a:avLst/>
              <a:gdLst>
                <a:gd name="connsiteX0" fmla="*/ 133267 w 320171"/>
                <a:gd name="connsiteY0" fmla="*/ 82401 h 306607"/>
                <a:gd name="connsiteX1" fmla="*/ 160574 w 320171"/>
                <a:gd name="connsiteY1" fmla="*/ 35105 h 306607"/>
                <a:gd name="connsiteX2" fmla="*/ 187879 w 320171"/>
                <a:gd name="connsiteY2" fmla="*/ 82401 h 306607"/>
                <a:gd name="connsiteX3" fmla="*/ 160574 w 320171"/>
                <a:gd name="connsiteY3" fmla="*/ 129695 h 306607"/>
                <a:gd name="connsiteX4" fmla="*/ 133267 w 320171"/>
                <a:gd name="connsiteY4" fmla="*/ 82401 h 306607"/>
                <a:gd name="connsiteX5" fmla="*/ 204378 w 320171"/>
                <a:gd name="connsiteY5" fmla="*/ 205569 h 306607"/>
                <a:gd name="connsiteX6" fmla="*/ 179494 w 320171"/>
                <a:gd name="connsiteY6" fmla="*/ 162469 h 306607"/>
                <a:gd name="connsiteX7" fmla="*/ 206801 w 320171"/>
                <a:gd name="connsiteY7" fmla="*/ 115175 h 306607"/>
                <a:gd name="connsiteX8" fmla="*/ 257177 w 320171"/>
                <a:gd name="connsiteY8" fmla="*/ 202426 h 306607"/>
                <a:gd name="connsiteX9" fmla="*/ 288540 w 320171"/>
                <a:gd name="connsiteY9" fmla="*/ 256746 h 306607"/>
                <a:gd name="connsiteX10" fmla="*/ 320658 w 320171"/>
                <a:gd name="connsiteY10" fmla="*/ 160553 h 306607"/>
                <a:gd name="connsiteX11" fmla="*/ 320658 w 320171"/>
                <a:gd name="connsiteY11" fmla="*/ 160550 h 306607"/>
                <a:gd name="connsiteX12" fmla="*/ 160573 w 320171"/>
                <a:gd name="connsiteY12" fmla="*/ 465 h 306607"/>
                <a:gd name="connsiteX13" fmla="*/ 487 w 320171"/>
                <a:gd name="connsiteY13" fmla="*/ 160550 h 306607"/>
                <a:gd name="connsiteX14" fmla="*/ 32606 w 320171"/>
                <a:gd name="connsiteY14" fmla="*/ 256747 h 306607"/>
                <a:gd name="connsiteX15" fmla="*/ 63970 w 320171"/>
                <a:gd name="connsiteY15" fmla="*/ 202426 h 306607"/>
                <a:gd name="connsiteX16" fmla="*/ 114344 w 320171"/>
                <a:gd name="connsiteY16" fmla="*/ 115175 h 306607"/>
                <a:gd name="connsiteX17" fmla="*/ 141649 w 320171"/>
                <a:gd name="connsiteY17" fmla="*/ 162469 h 306607"/>
                <a:gd name="connsiteX18" fmla="*/ 141651 w 320171"/>
                <a:gd name="connsiteY18" fmla="*/ 162469 h 306607"/>
                <a:gd name="connsiteX19" fmla="*/ 225139 w 320171"/>
                <a:gd name="connsiteY19" fmla="*/ 307073 h 306607"/>
                <a:gd name="connsiteX20" fmla="*/ 253609 w 320171"/>
                <a:gd name="connsiteY20" fmla="*/ 290838 h 306607"/>
                <a:gd name="connsiteX21" fmla="*/ 204378 w 320171"/>
                <a:gd name="connsiteY21" fmla="*/ 205569 h 30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20171" h="306607">
                  <a:moveTo>
                    <a:pt x="133267" y="82401"/>
                  </a:moveTo>
                  <a:lnTo>
                    <a:pt x="160574" y="35105"/>
                  </a:lnTo>
                  <a:lnTo>
                    <a:pt x="187879" y="82401"/>
                  </a:lnTo>
                  <a:lnTo>
                    <a:pt x="160574" y="129695"/>
                  </a:lnTo>
                  <a:lnTo>
                    <a:pt x="133267" y="82401"/>
                  </a:lnTo>
                  <a:close/>
                  <a:moveTo>
                    <a:pt x="204378" y="205569"/>
                  </a:moveTo>
                  <a:lnTo>
                    <a:pt x="179494" y="162469"/>
                  </a:lnTo>
                  <a:lnTo>
                    <a:pt x="206801" y="115175"/>
                  </a:lnTo>
                  <a:lnTo>
                    <a:pt x="257177" y="202426"/>
                  </a:lnTo>
                  <a:lnTo>
                    <a:pt x="288540" y="256746"/>
                  </a:lnTo>
                  <a:cubicBezTo>
                    <a:pt x="308703" y="229967"/>
                    <a:pt x="320658" y="196657"/>
                    <a:pt x="320658" y="160553"/>
                  </a:cubicBezTo>
                  <a:lnTo>
                    <a:pt x="320658" y="160550"/>
                  </a:lnTo>
                  <a:cubicBezTo>
                    <a:pt x="320658" y="72138"/>
                    <a:pt x="248985" y="465"/>
                    <a:pt x="160573" y="465"/>
                  </a:cubicBezTo>
                  <a:cubicBezTo>
                    <a:pt x="72159" y="465"/>
                    <a:pt x="487" y="72138"/>
                    <a:pt x="487" y="160550"/>
                  </a:cubicBezTo>
                  <a:cubicBezTo>
                    <a:pt x="487" y="196656"/>
                    <a:pt x="12442" y="229967"/>
                    <a:pt x="32606" y="256747"/>
                  </a:cubicBezTo>
                  <a:lnTo>
                    <a:pt x="63970" y="202426"/>
                  </a:lnTo>
                  <a:lnTo>
                    <a:pt x="114344" y="115175"/>
                  </a:lnTo>
                  <a:lnTo>
                    <a:pt x="141649" y="162469"/>
                  </a:lnTo>
                  <a:lnTo>
                    <a:pt x="141651" y="162469"/>
                  </a:lnTo>
                  <a:lnTo>
                    <a:pt x="225139" y="307073"/>
                  </a:lnTo>
                  <a:cubicBezTo>
                    <a:pt x="235216" y="302625"/>
                    <a:pt x="244751" y="297176"/>
                    <a:pt x="253609" y="290838"/>
                  </a:cubicBezTo>
                  <a:lnTo>
                    <a:pt x="204378" y="205569"/>
                  </a:lnTo>
                  <a:close/>
                </a:path>
              </a:pathLst>
            </a:custGeom>
            <a:grpFill/>
            <a:ln w="1033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46154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D7BC0-2DB3-2032-C32F-36D8B4FDC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E1341EC-40C6-9C77-3689-925FD0543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3696" y="4783208"/>
            <a:ext cx="3859346" cy="7632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chemeClr val="accent2"/>
                </a:solidFill>
                <a:latin typeface="Arial"/>
                <a:cs typeface="Arial"/>
              </a:rPr>
              <a:t>May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4CC31A-D496-25E0-3E25-A1DE0A5D6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696" y="2203704"/>
            <a:ext cx="6005380" cy="22951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>
                <a:solidFill>
                  <a:schemeClr val="accent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509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Apexon 1">
      <a:dk1>
        <a:srgbClr val="000000"/>
      </a:dk1>
      <a:lt1>
        <a:srgbClr val="FFFFFF"/>
      </a:lt1>
      <a:dk2>
        <a:srgbClr val="172440"/>
      </a:dk2>
      <a:lt2>
        <a:srgbClr val="E8E8E8"/>
      </a:lt2>
      <a:accent1>
        <a:srgbClr val="172440"/>
      </a:accent1>
      <a:accent2>
        <a:srgbClr val="75A2ED"/>
      </a:accent2>
      <a:accent3>
        <a:srgbClr val="FFCA5E"/>
      </a:accent3>
      <a:accent4>
        <a:srgbClr val="004B8D"/>
      </a:accent4>
      <a:accent5>
        <a:srgbClr val="575754"/>
      </a:accent5>
      <a:accent6>
        <a:srgbClr val="E54A24"/>
      </a:accent6>
      <a:hlink>
        <a:srgbClr val="14D1F0"/>
      </a:hlink>
      <a:folHlink>
        <a:srgbClr val="20B2AA"/>
      </a:folHlink>
    </a:clrScheme>
    <a:fontScheme name="Apex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exon PPT Template_2025.pptx" id="{014DB0CE-CF66-43BB-AD92-AA6A68338F07}" vid="{DFFAE561-DC73-47F7-BE70-7A8088EF0A6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66BA4FBC070B4F9EF303D0BED33BC3" ma:contentTypeVersion="7" ma:contentTypeDescription="Create a new document." ma:contentTypeScope="" ma:versionID="f0ce39d9683c10db9bd36d53ecad45ae">
  <xsd:schema xmlns:xsd="http://www.w3.org/2001/XMLSchema" xmlns:xs="http://www.w3.org/2001/XMLSchema" xmlns:p="http://schemas.microsoft.com/office/2006/metadata/properties" xmlns:ns2="47051c81-2fbd-489f-9d64-bbae6ca67d93" targetNamespace="http://schemas.microsoft.com/office/2006/metadata/properties" ma:root="true" ma:fieldsID="63e6c2f19404bfaf0a7bf08a51137ebc" ns2:_="">
    <xsd:import namespace="47051c81-2fbd-489f-9d64-bbae6ca67d9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51c81-2fbd-489f-9d64-bbae6ca67d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6CF36C5-A932-43EB-BA66-343E1EA13B1F}"/>
</file>

<file path=customXml/itemProps2.xml><?xml version="1.0" encoding="utf-8"?>
<ds:datastoreItem xmlns:ds="http://schemas.openxmlformats.org/officeDocument/2006/customXml" ds:itemID="{C11EFA43-093E-4577-99F4-B66E9B8AA8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82CA38-7944-4155-9404-B519D1EB335A}">
  <ds:schemaRefs>
    <ds:schemaRef ds:uri="1dbd75ec-b95b-456d-9c45-4b92c73428fd"/>
    <ds:schemaRef ds:uri="ad20b158-15c5-4e9a-9a34-d6e58494ee3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3363</Words>
  <Application>Microsoft Office PowerPoint</Application>
  <PresentationFormat>Widescreen</PresentationFormat>
  <Paragraphs>848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Inter</vt:lpstr>
      <vt:lpstr>Montserrat</vt:lpstr>
      <vt:lpstr>Segoe UI</vt:lpstr>
      <vt:lpstr>Office Theme</vt:lpstr>
      <vt:lpstr>1_Office Theme</vt:lpstr>
      <vt:lpstr>TRT PoC proposal for Mastercard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Arvind Singh Jadaun</cp:lastModifiedBy>
  <cp:revision>3</cp:revision>
  <dcterms:created xsi:type="dcterms:W3CDTF">2026-05-11T11:25:13Z</dcterms:created>
  <dcterms:modified xsi:type="dcterms:W3CDTF">2026-10-26T11:26:51Z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0x010100F366BA4FBC070B4F9EF303D0BED33BC3</vt:lpwstr>
  </property>
  <property fmtid="{D5CDD505-2E9C-101B-9397-08002B2CF9AE}" pid="3" name="MediaServiceImageTags">
    <vt:lpwstr/>
  </property>
</Properties>
</file>